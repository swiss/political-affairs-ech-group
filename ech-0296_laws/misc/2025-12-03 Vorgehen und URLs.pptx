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10_73E124A2.xml" ContentType="application/vnd.ms-powerpoint.comments+xml"/>
  <Override PartName="/ppt/comments/modernComment_106_CE91B771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27_5EE87138.xml" ContentType="application/vnd.ms-powerpoint.comments+xml"/>
  <Override PartName="/ppt/comments/modernComment_123_E38CB4DF.xml" ContentType="application/vnd.ms-powerpoint.comments+xml"/>
  <Override PartName="/ppt/notesSlides/notesSlide4.xml" ContentType="application/vnd.openxmlformats-officedocument.presentationml.notesSlide+xml"/>
  <Override PartName="/ppt/comments/modernComment_138_3EE69199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28_16173EE9.xml" ContentType="application/vnd.ms-powerpoint.comments+xml"/>
  <Override PartName="/ppt/notesSlides/notesSlide8.xml" ContentType="application/vnd.openxmlformats-officedocument.presentationml.notesSlide+xml"/>
  <Override PartName="/ppt/comments/modernComment_134_6F95C754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modernComment_13A_93B49DD7.xml" ContentType="application/vnd.ms-powerpoint.comments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72" r:id="rId5"/>
    <p:sldId id="262" r:id="rId6"/>
    <p:sldId id="259" r:id="rId7"/>
    <p:sldId id="265" r:id="rId8"/>
    <p:sldId id="261" r:id="rId9"/>
    <p:sldId id="268" r:id="rId10"/>
    <p:sldId id="276" r:id="rId11"/>
    <p:sldId id="275" r:id="rId12"/>
    <p:sldId id="321" r:id="rId13"/>
    <p:sldId id="322" r:id="rId14"/>
    <p:sldId id="260" r:id="rId15"/>
    <p:sldId id="269" r:id="rId16"/>
    <p:sldId id="263" r:id="rId17"/>
    <p:sldId id="271" r:id="rId18"/>
    <p:sldId id="267" r:id="rId19"/>
    <p:sldId id="270" r:id="rId20"/>
    <p:sldId id="273" r:id="rId21"/>
    <p:sldId id="274" r:id="rId22"/>
    <p:sldId id="278" r:id="rId23"/>
    <p:sldId id="285" r:id="rId24"/>
    <p:sldId id="305" r:id="rId25"/>
    <p:sldId id="302" r:id="rId26"/>
    <p:sldId id="332" r:id="rId27"/>
    <p:sldId id="281" r:id="rId28"/>
    <p:sldId id="282" r:id="rId29"/>
    <p:sldId id="283" r:id="rId30"/>
    <p:sldId id="303" r:id="rId31"/>
    <p:sldId id="304" r:id="rId32"/>
    <p:sldId id="277" r:id="rId33"/>
    <p:sldId id="328" r:id="rId34"/>
    <p:sldId id="329" r:id="rId35"/>
    <p:sldId id="331" r:id="rId36"/>
    <p:sldId id="330" r:id="rId37"/>
    <p:sldId id="279" r:id="rId38"/>
    <p:sldId id="286" r:id="rId39"/>
    <p:sldId id="326" r:id="rId40"/>
    <p:sldId id="324" r:id="rId41"/>
    <p:sldId id="289" r:id="rId42"/>
    <p:sldId id="295" r:id="rId43"/>
    <p:sldId id="291" r:id="rId44"/>
    <p:sldId id="294" r:id="rId45"/>
    <p:sldId id="292" r:id="rId46"/>
    <p:sldId id="299" r:id="rId47"/>
    <p:sldId id="312" r:id="rId48"/>
    <p:sldId id="319" r:id="rId49"/>
    <p:sldId id="318" r:id="rId50"/>
    <p:sldId id="307" r:id="rId51"/>
    <p:sldId id="310" r:id="rId52"/>
    <p:sldId id="296" r:id="rId53"/>
    <p:sldId id="327" r:id="rId54"/>
    <p:sldId id="298" r:id="rId55"/>
    <p:sldId id="320" r:id="rId56"/>
    <p:sldId id="308" r:id="rId57"/>
    <p:sldId id="297" r:id="rId58"/>
    <p:sldId id="300" r:id="rId59"/>
    <p:sldId id="293" r:id="rId60"/>
    <p:sldId id="313" r:id="rId61"/>
    <p:sldId id="314" r:id="rId62"/>
    <p:sldId id="309" r:id="rId63"/>
    <p:sldId id="311" r:id="rId64"/>
    <p:sldId id="325" r:id="rId65"/>
    <p:sldId id="301" r:id="rId66"/>
    <p:sldId id="317" r:id="rId67"/>
    <p:sldId id="315" r:id="rId68"/>
    <p:sldId id="316" r:id="rId69"/>
    <p:sldId id="323" r:id="rId70"/>
    <p:sldId id="284" r:id="rId71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5E6D608-4515-559E-CC8D-810749FBC7E9}" name="Martin" initials="MBG" userId="Martin" providerId="None"/>
  <p188:author id="{EDF292FB-9B88-1505-DBAB-923E900319F0}" name="Martin Gajdos" initials="MG" userId="1bda1dfa5796232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976"/>
    <p:restoredTop sz="94584"/>
  </p:normalViewPr>
  <p:slideViewPr>
    <p:cSldViewPr snapToGrid="0">
      <p:cViewPr>
        <p:scale>
          <a:sx n="63" d="100"/>
          <a:sy n="63" d="100"/>
        </p:scale>
        <p:origin x="-168" y="1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8/10/relationships/authors" Target="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omments/modernComment_13A_93B49DD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3F89042-8B03-DA47-BA85-9A50CAA9DDA1}" authorId="{EDF292FB-9B88-1505-DBAB-923E900319F0}" created="2025-12-06T01:41:50.81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78087639" sldId="314"/>
      <ac:spMk id="3" creationId="{A819D2FD-AA85-9D49-6227-4EADB6EF1834}"/>
      <ac:txMk cp="161" len="13">
        <ac:context len="596" hash="2583069931"/>
      </ac:txMk>
    </ac:txMkLst>
    <p188:pos x="8149683" y="1408229"/>
    <p188:txBody>
      <a:bodyPr/>
      <a:lstStyle/>
      <a:p>
        <a:r>
          <a:rPr lang="en-CH"/>
          <a:t>not a publication?</a:t>
        </a:r>
      </a:p>
    </p188:txBody>
  </p188:cm>
</p188:cmLst>
</file>

<file path=ppt/comments/modernComment_106_CE91B77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A64B5EB-69E4-3443-B45C-6C98B5D9FA56}" authorId="{65E6D608-4515-559E-CC8D-810749FBC7E9}" created="2026-03-31T13:12:22.86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65656177" sldId="262"/>
      <ac:spMk id="8" creationId="{0BB9F98E-1A8F-AD31-3088-AAD5011BCA24}"/>
      <ac:txMk cp="0" len="32">
        <ac:context len="267" hash="2247054450"/>
      </ac:txMk>
    </ac:txMkLst>
    <p188:pos x="9037320" y="969826"/>
    <p188:replyLst>
      <p188:reply id="{2921417A-29C4-9240-B47D-6D602AA2EC10}" authorId="{65E6D608-4515-559E-CC8D-810749FBC7E9}" created="2026-03-31T13:15:16.111">
        <p188:txBody>
          <a:bodyPr/>
          <a:lstStyle/>
          <a:p>
            <a:r>
              <a:rPr lang="en-CH"/>
              <a:t>in strukturierter Form</a:t>
            </a:r>
          </a:p>
        </p188:txBody>
      </p188:reply>
      <p188:reply id="{2ABFDD66-4485-CF4A-8E57-DA8EE94500DE}" authorId="{65E6D608-4515-559E-CC8D-810749FBC7E9}" created="2026-03-31T13:15:36.369">
        <p188:txBody>
          <a:bodyPr/>
          <a:lstStyle/>
          <a:p>
            <a:r>
              <a:rPr lang="en-CH"/>
              <a:t>macht Gioma Fumasoli</a:t>
            </a:r>
          </a:p>
        </p188:txBody>
      </p188:reply>
    </p188:replyLst>
    <p188:txBody>
      <a:bodyPr/>
      <a:lstStyle/>
      <a:p>
        <a:r>
          <a:rPr lang="en-CH"/>
          <a:t>Was sind die Inhalte der Dokumente?</a:t>
        </a:r>
      </a:p>
    </p188:txBody>
  </p188:cm>
  <p188:cm id="{913D1CE1-9D49-DE4D-9765-4114CA9CC35D}" authorId="{65E6D608-4515-559E-CC8D-810749FBC7E9}" created="2026-03-31T13:12:39.98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65656177" sldId="262"/>
      <ac:spMk id="8" creationId="{0BB9F98E-1A8F-AD31-3088-AAD5011BCA24}"/>
      <ac:txMk cp="176" len="36">
        <ac:context len="267" hash="2247054450"/>
      </ac:txMk>
    </ac:txMkLst>
    <p188:pos x="9324703" y="2929255"/>
    <p188:txBody>
      <a:bodyPr/>
      <a:lstStyle/>
      <a:p>
        <a:r>
          <a:rPr lang="en-CH"/>
          <a:t>Was sagen die Texte aus? </a:t>
        </a:r>
      </a:p>
    </p188:txBody>
  </p188:cm>
</p188:cmLst>
</file>

<file path=ppt/comments/modernComment_110_73E124A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D308807-3C4E-EA43-A69C-5C2DC5259B31}" authorId="{65E6D608-4515-559E-CC8D-810749FBC7E9}" created="2026-03-31T13:11:55.19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44134818" sldId="272"/>
      <ac:spMk id="8" creationId="{B0465777-1DEF-83F3-F5D7-048B5C4F5695}"/>
      <ac:txMk cp="0" len="41">
        <ac:context len="484" hash="1317253004"/>
      </ac:txMk>
    </ac:txMkLst>
    <p188:pos x="9507583" y="969826"/>
    <p188:replyLst>
      <p188:reply id="{36083201-33E9-A343-BAE8-CDA361908AEF}" authorId="{65E6D608-4515-559E-CC8D-810749FBC7E9}" created="2026-03-31T13:16:59.251">
        <p188:txBody>
          <a:bodyPr/>
          <a:lstStyle/>
          <a:p>
            <a:r>
              <a:rPr lang="en-CH"/>
              <a:t>ELI</a:t>
            </a:r>
          </a:p>
        </p188:txBody>
      </p188:reply>
    </p188:replyLst>
    <p188:txBody>
      <a:bodyPr/>
      <a:lstStyle/>
      <a:p>
        <a:r>
          <a:rPr lang="en-CH"/>
          <a:t>Wie verweisen wir auf ein Gesetz?</a:t>
        </a:r>
      </a:p>
    </p188:txBody>
  </p188:cm>
  <p188:cm id="{D2342373-99C7-D54E-A222-4595761EC694}" authorId="{65E6D608-4515-559E-CC8D-810749FBC7E9}" created="2026-03-31T13:12:09.72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44134818" sldId="272"/>
      <ac:spMk id="8" creationId="{B0465777-1DEF-83F3-F5D7-048B5C4F5695}"/>
      <ac:txMk cp="177" len="27">
        <ac:context len="484" hash="1317253004"/>
      </ac:txMk>
    </ac:txMkLst>
    <p188:pos x="7522029" y="2380615"/>
    <p188:replyLst>
      <p188:reply id="{AAF1786D-8C48-574E-8E20-4ADABAA78BB5}" authorId="{65E6D608-4515-559E-CC8D-810749FBC7E9}" created="2026-03-31T13:16:53.190">
        <p188:txBody>
          <a:bodyPr/>
          <a:lstStyle/>
          <a:p>
            <a:r>
              <a:rPr lang="en-CH"/>
              <a:t>Jolux und ELI-DL</a:t>
            </a:r>
          </a:p>
        </p188:txBody>
      </p188:reply>
    </p188:replyLst>
    <p188:txBody>
      <a:bodyPr/>
      <a:lstStyle/>
      <a:p>
        <a:r>
          <a:rPr lang="en-CH"/>
          <a:t>Wo sind die Dokumente?</a:t>
        </a:r>
      </a:p>
    </p188:txBody>
  </p188:cm>
</p188:cmLst>
</file>

<file path=ppt/comments/modernComment_123_E38CB4D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68094-E91B-D945-9896-3ABE442A0371}" authorId="{EDF292FB-9B88-1505-DBAB-923E900319F0}" created="2025-12-05T08:58:45.5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17649375" sldId="291"/>
      <ac:spMk id="8" creationId="{343C0588-62CD-3ACD-4B92-406AB7DD5EEB}"/>
      <ac:txMk cp="168" len="73">
        <ac:context len="242" hash="2037950145"/>
      </ac:txMk>
    </ac:txMkLst>
    <p188:pos x="8367796" y="3072504"/>
    <p188:txBody>
      <a:bodyPr/>
      <a:lstStyle/>
      <a:p>
        <a:r>
          <a:rPr lang="en-CH"/>
          <a:t>Beispiel neu: nicht dokumentierte Funktion. Funktioniert nur wenn man das genaue Datum der Veröffentlichung kennt. Alle anderen YYMMDD führen zur aktuellsten Version</a:t>
        </a:r>
      </a:p>
    </p188:txBody>
  </p188:cm>
  <p188:cm id="{402DD77D-B8C7-774D-B1BD-0734D87CBDD0}" authorId="{EDF292FB-9B88-1505-DBAB-923E900319F0}" created="2025-12-05T23:55:51.44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17649375" sldId="291"/>
      <ac:spMk id="8" creationId="{343C0588-62CD-3ACD-4B92-406AB7DD5EEB}"/>
      <ac:txMk cp="168" len="73">
        <ac:context len="242" hash="2037950145"/>
      </ac:txMk>
    </ac:txMkLst>
    <p188:pos x="4726262" y="2369634"/>
    <p188:txBody>
      <a:bodyPr/>
      <a:lstStyle/>
      <a:p>
        <a:r>
          <a:rPr lang="en-CH"/>
          <a:t>noch nicht dokumentiert </a:t>
        </a:r>
      </a:p>
    </p188:txBody>
  </p188:cm>
</p188:cmLst>
</file>

<file path=ppt/comments/modernComment_127_5EE8713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A2F8B4-706A-E041-B31E-C4C522070412}" authorId="{EDF292FB-9B88-1505-DBAB-923E900319F0}" created="2025-12-05T22:12:46.0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92291640" sldId="295"/>
      <ac:spMk id="7" creationId="{46E275B5-9390-4CE7-2A1B-5CACCB73B02C}"/>
    </ac:deMkLst>
    <p188:txBody>
      <a:bodyPr/>
      <a:lstStyle/>
      <a:p>
        <a:r>
          <a:rPr lang="en-CH"/>
          <a:t>Gibt es so nicht, oder übersehe ich etwas?
Siehe Beispiele unter https://fedlex.data.admin.ch/de-CH/home/convention:
"From 1848 to 1874 the volume is indicated with Roman numbers, from 1874 to 1947 the volume is indicated with Arabic numbers.
Examples:
From 1848 to 1874:
https://fedlex.data.admin.ch/eli/oc/VII/342_337_325
From 1874 to 1947:
https://fedlex.data.admin.ch/eli/oc/III/183_182_182"</a:t>
        </a:r>
      </a:p>
    </p188:txBody>
  </p188:cm>
</p188:cmLst>
</file>

<file path=ppt/comments/modernComment_128_16173EE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2A912AE-34AB-234A-998F-31E0E5FC8568}" authorId="{EDF292FB-9B88-1505-DBAB-923E900319F0}" created="2025-12-05T15:12:32.47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0622185" sldId="296"/>
      <ac:spMk id="3" creationId="{325A6326-DF06-DC1B-6722-17C11EC5C0B1}"/>
    </ac:deMkLst>
    <p188:txBody>
      <a:bodyPr/>
      <a:lstStyle/>
      <a:p>
        <a:r>
          <a:rPr lang="en-CH"/>
          <a:t>Siehe Remark unter https://fedlex.data.admin.ch/de-CH/home/convention:
From 1848 to 1874 the volume is indicated with Roman numbers, from 1874 to 1947 the volume is indicated with Arabic numbers.
Examples:
From 1848 to 1874:
https://fedlex.data.admin.ch/eli/oc/VII/342_337_325
From 1874 to 1947:
https://fedlex.data.admin.ch/eli/oc/III/183_182_182</a:t>
        </a:r>
      </a:p>
    </p188:txBody>
  </p188:cm>
</p188:cmLst>
</file>

<file path=ppt/comments/modernComment_134_6F95C75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EB6DD8-62D1-CE43-8953-5F5426691DCB}" authorId="{EDF292FB-9B88-1505-DBAB-923E900319F0}" created="2025-12-08T08:46:03.33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72086868" sldId="308"/>
      <ac:spMk id="4" creationId="{98860B1B-C2E8-751E-3538-31C52D7F2967}"/>
    </ac:deMkLst>
    <p188:replyLst>
      <p188:reply id="{69BC7D36-0D98-5843-850F-F32F66D2A917}" authorId="{EDF292FB-9B88-1505-DBAB-923E900319F0}" created="2025-12-08T08:46:44.580">
        <p188:txBody>
          <a:bodyPr/>
          <a:lstStyle/>
          <a:p>
            <a:r>
              <a:rPr lang="en-CH"/>
              <a:t>was bedeutet "app"?</a:t>
            </a:r>
          </a:p>
        </p188:txBody>
      </p188:reply>
    </p188:replyLst>
    <p188:txBody>
      <a:bodyPr/>
      <a:lstStyle/>
      <a:p>
        <a:r>
          <a:rPr lang="en-CH"/>
          <a:t>Annex als Beispiel aufgeführt</a:t>
        </a:r>
      </a:p>
    </p188:txBody>
  </p188:cm>
</p188:cmLst>
</file>

<file path=ppt/comments/modernComment_138_3EE6919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7EDFF33-FDD1-CD43-A665-4CD2E5247983}" authorId="{EDF292FB-9B88-1505-DBAB-923E900319F0}" created="2025-12-08T07:50:38.78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055297945" sldId="312"/>
      <ac:spMk id="3" creationId="{C000BB73-761E-B74C-D08D-DF223E533813}"/>
      <ac:txMk cp="114" len="62">
        <ac:context len="249" hash="3005663056"/>
      </ac:txMk>
    </ac:txMkLst>
    <p188:pos x="3209693" y="1397077"/>
    <p188:txBody>
      <a:bodyPr/>
      <a:lstStyle/>
      <a:p>
        <a:r>
          <a:rPr lang="en-CH"/>
          <a:t>is this also correct? treaty/{year}/{treaty number}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79DD3-FCF5-A349-8C5D-C03206EA3074}" type="datetimeFigureOut">
              <a:rPr lang="en-CH" smtClean="0"/>
              <a:t>11.05.2026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51CAB-1166-6741-9FCE-1F90CBA4617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88187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27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00930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34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35020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0E072-6A82-4019-C6D8-5350C6815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E58CBB-8935-EAA1-35A0-91708761B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12836-D77F-60CC-9709-9C8C058F4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0964B-43B0-195F-35B3-151C64209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36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38742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1B8FC-734A-7C08-FD34-1A10ED30E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A824B-AB3A-2A74-242B-0CB62884C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6347D-9CD4-9AE2-E003-92C1B6562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CFA49-6E80-EBB7-9B52-D8EE01049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47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58721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76FE1-AC03-E95B-121E-566D65E16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B1CF4-E5C0-883F-8A40-5D0B6D529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3E13A-42D8-3E95-3EA6-C8ADA8ED5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12792-C764-F6A1-90F4-F0E553370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48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60618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6CE84-5C7E-D6C7-D718-5940DE397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3A9851-5176-3782-DBD3-5BB42EFE4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2C5C3-852E-6582-8BAC-50E448FDE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1A355-3596-423D-296A-FD5684E00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49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76715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50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04414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F7B14-7099-EB06-B6D7-72A011C0F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6EBC0-B6F5-B228-7A73-7C728E1BA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813D5-DB11-0005-A8EE-7C8B7747C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7D973-7453-3A9A-E32E-BB5353274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56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81704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15ADD-C059-6F38-0E58-06A1A6D2B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51739-B3B3-0F75-9E47-51095BFDB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716996-AE6C-F36F-BA57-45DB6A235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0E0D6-7914-30BD-CE80-C26E1ED06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60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67225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DE1F8-E841-EFC5-60C2-0AC0D7C40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306D3-3077-2281-8418-03549B538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0B045-F619-8224-B2E6-35B681AD4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2ED44-AD1D-5700-9D3E-324AFB37D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61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348923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232D3-BDDE-D7B0-FA02-F51A95469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DA2F3-64ED-5CC5-5E2F-2EB544208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437AF-95E5-13CD-C7DC-EFF04893E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EDD45-DB65-5A64-9E28-8EC6EF911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51CAB-1166-6741-9FCE-1F90CBA46179}" type="slidenum">
              <a:rPr lang="en-CH" smtClean="0"/>
              <a:t>63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92946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876A9-3EC9-39A3-ED88-DAE2D67C8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3F474-09CA-FC5E-DBAD-89E0749ECD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DEFD4-AC13-68BD-D023-370DB6C57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11.05.2026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F5BA9-583A-64BB-40F0-4CA0700CE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B5428-0459-0397-B4CD-C586C7CA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41735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75567-1BFD-A46D-8828-7455C2CF1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AB2AD-26FB-D90D-5FCB-FBBE8DAE2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C3254-B29C-C681-8544-306048FF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11.05.2026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CB5AB-C592-1776-0D58-5B65CB220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CC81C-9D3D-D09B-5DF2-4BB9082C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63885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EE54A-D0BD-C8A7-52D9-705F78004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14488-E017-707D-09E7-8523E1D31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F1174-D332-A2E0-489A-34D68C8C5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11.05.2026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2CA0B-CFA3-88EA-4B4E-AE0F36EB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675AA-A27F-ECF3-8F25-3CA89F5B2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36048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C653-D82E-386C-DA60-09CD1D7C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B250E-6F9E-1DD2-603B-2AFB772E1C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120C8E-802F-EC4E-ECF3-495D1613C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FCF44-EF82-2C28-BD89-A26A912F3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11.05.2026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281B1-B45A-5FA4-DCFE-DE5C42CA2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E9931-7282-7FEF-C23D-34CB1CDF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0472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03F52-D5D8-B3F1-24DE-8BE889A75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DF008-83E2-DA25-8917-5EA180308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B96243-8C23-8521-F64E-7C7B05844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1995A3-01C3-1B6B-7F5D-38DB3F8AF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807B-DECD-EEBC-FEDD-D1F854912F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8B1068-F026-029E-E4D4-57190CAE6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11.05.2026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84D825-3916-BBED-3EA6-03C2ED8AD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C38E0C-4078-A248-9AC8-D2FA08FEB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40809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63F7C-F53E-3181-C83D-36CE17701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7ABC3C-27A2-37CB-BCF3-3654503AB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11.05.2026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34811-4DCC-6141-4669-23AA47E4C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D4BB34-DA15-C40C-3D52-1E9DB0886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85149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7C44A-C338-A212-40CC-598DFE3A5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11.05.2026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828C1B-54DF-94AE-EBB4-E86FE6E8C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3352C-C7E1-2466-505E-9CB9467E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91092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0C89-2CCC-EF6C-7265-9869979F2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D1A45-DB89-4A5B-10F2-DB048342D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B40AD-7E2C-653B-F187-BB3DF194A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D54C5-808A-B8AC-2FDF-75CE62990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11.05.2026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4BC78-EDC5-C303-F557-A658B8DD3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39700-A533-3B07-443F-D5CBFE545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4702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D7408-F05E-64CD-147D-6459B1A5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394D45-737A-DC9B-5EE1-DF56397166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F8BC61-DC7C-DF37-EC26-A56B374C7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1ED6D-B9FB-6DE7-0182-5519E96C0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11.05.2026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908E6-4B4F-4009-3A03-AE7080F21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B6F2A-F84A-E15F-DDD6-9E7F87D1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05064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73D38-3E9F-2B8D-C96A-82C080AAC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62767-2972-B1AB-1AE4-B511EEAC1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D5C97-D762-A18E-C5B6-3F8AD9766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11.05.2026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8AACA-064F-9A24-5F73-89B7FFBF8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456B6-41E5-6022-DDD3-7DB4419B6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624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53A865-1BDC-8AC7-69DE-4595EA185C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E2663-ACBA-CAB3-2013-42C547467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0A09A-3CFA-378E-4C04-ED6A61FF2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11.05.2026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BE94C-87D5-78AC-518D-0B21AB665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C9E62-FE9B-80FC-9492-D6042443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28705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640D5D-DCC1-8E52-4537-E74D8D3EB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BF54D-2768-42A5-78AC-E4ED90357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8C3F3-18A1-C8D8-7124-9669527F0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C59E8-D88B-9347-A847-90ED74936EE3}" type="datetimeFigureOut">
              <a:rPr lang="en-CH" smtClean="0"/>
              <a:t>11.05.2026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A6200-1FBB-BFBC-AD51-4010A71F91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4A22A-A10B-F73B-B990-9BDF8D083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36201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doc-crm.org/frbroo/" TargetMode="External"/><Relationship Id="rId2" Type="http://schemas.microsoft.com/office/2018/10/relationships/comments" Target="../comments/modernComment_110_73E124A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idoc-crm.org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6_CE91B77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op.europa.eu/documents/2050822/2138819/ELI+-+A+Technical+Implementation+Guide.pdf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hyperlink" Target="https://docs.oasis-open.org/legaldocml/akn-nc/v1.0/os/akn-nc-v1.0-os.html#_Toc53169229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bger.li/OR_41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de/docs/Learn_web_development/Howto/Web_mechanics/What_is_a_URL" TargetMode="External"/><Relationship Id="rId2" Type="http://schemas.openxmlformats.org/officeDocument/2006/relationships/hyperlink" Target="https://developers.google.com/search/docs/crawling-indexing/url-structure?hl=d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Clean_URL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arpspire.com/posts/url-design/" TargetMode="External"/><Relationship Id="rId2" Type="http://schemas.openxmlformats.org/officeDocument/2006/relationships/hyperlink" Target="https://blog.jim-nielsen.com/2023/examples-of-great-url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lexpounds.com/blog/2018/12/29/four-cool-urls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redditlaqueristas.json" TargetMode="External"/><Relationship Id="rId2" Type="http://schemas.openxmlformats.org/officeDocument/2006/relationships/hyperlink" Target="https://github.com/django/django/compare/4.2.7...mai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git/git/blob/master/README.md?plain=1#L18-L20" TargetMode="External"/><Relationship Id="rId4" Type="http://schemas.openxmlformats.org/officeDocument/2006/relationships/hyperlink" Target="https://traintimes.org.uk/LBG/brighton/13:30/tomorrow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setz.li/" TargetMode="External"/><Relationship Id="rId2" Type="http://schemas.openxmlformats.org/officeDocument/2006/relationships/hyperlink" Target="https://zhlex.ch/-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zhlaw.ch/" TargetMode="External"/><Relationship Id="rId4" Type="http://schemas.openxmlformats.org/officeDocument/2006/relationships/hyperlink" Target="https://bdlf.fr.ch/app/de/texts_of_law/33.11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fedlex.data.admin.ch/eli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fedlex.data.admin.ch/eli/fga/1994/2_1_1_1" TargetMode="External"/><Relationship Id="rId2" Type="http://schemas.openxmlformats.org/officeDocument/2006/relationships/hyperlink" Target="https://www.fedlex.admin.ch/eli/fga/2020/759/d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edlex.data.admin.ch/eli/fga/1994/1_569__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fedlex.data.admin.ch/eli/oc/2020/759" TargetMode="External"/><Relationship Id="rId2" Type="http://schemas.microsoft.com/office/2018/10/relationships/comments" Target="../comments/modernComment_127_5EE871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edlex.admin.ch/eli/cc/2020/759/de" TargetMode="External"/><Relationship Id="rId2" Type="http://schemas.microsoft.com/office/2018/10/relationships/comments" Target="../comments/modernComment_123_E38CB4DF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fedlex.admin.ch/eli/cc/2022/568/de?version=20250105" TargetMode="External"/><Relationship Id="rId4" Type="http://schemas.openxmlformats.org/officeDocument/2006/relationships/hyperlink" Target="https://fedlex.data.admin.ch/eli/cc/2015/659/20151101" TargetMode="Externa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fedlex.data.admin.ch/eli/cc/1929/0029_cc%20/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8_3EE69199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edlex.data.admin.ch/eli/treaty/2018/1072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hyperlink" Target="https://fedlex.data.admin.ch/eli/collection/fga" TargetMode="External"/><Relationship Id="rId3" Type="http://schemas.openxmlformats.org/officeDocument/2006/relationships/hyperlink" Target="https://www.fedlex.admin.ch/de/oc/index" TargetMode="External"/><Relationship Id="rId7" Type="http://schemas.openxmlformats.org/officeDocument/2006/relationships/hyperlink" Target="https://www.fedlex.admin.ch/de/oc/index/2010/6/23" TargetMode="External"/><Relationship Id="rId2" Type="http://schemas.openxmlformats.org/officeDocument/2006/relationships/hyperlink" Target="https://fedlex.data.admin.ch/eli/collection/o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edlex.data.admin.ch/eli/collection/oc/2010/23" TargetMode="External"/><Relationship Id="rId5" Type="http://schemas.openxmlformats.org/officeDocument/2006/relationships/hyperlink" Target="https://www.fedlex.admin.ch/de/oc/index/2010/6" TargetMode="External"/><Relationship Id="rId4" Type="http://schemas.openxmlformats.org/officeDocument/2006/relationships/hyperlink" Target="https://www.fedlex.admin.ch/de/oc/index/2010" TargetMode="External"/><Relationship Id="rId9" Type="http://schemas.openxmlformats.org/officeDocument/2006/relationships/hyperlink" Target="https://www.fedlex.admin.ch/de/fga/index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8_16173EE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.admin.ch/sites/default/files/2018-08/V%C3%9CPF%20Erl%C3%A4uternder%20Bericht%20DE_0.pdf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4_6F95C75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edlex.data.admin.ch/eli/oc/2021/137/art_1" TargetMode="External"/><Relationship Id="rId4" Type="http://schemas.openxmlformats.org/officeDocument/2006/relationships/hyperlink" Target="https://fedlex.data.admin.ch/eli/oc/2017/663/annex/2" TargetMode="Externa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edlex.admin.ch/filestore/fedlex.data.admin.ch/eli/dl/proj/2024/65/cons_1/doc_1/de/pdf-a/fedlex-data-admin-ch-eli-dl-proj-2024-65-cons_1-doc_1-de-pdf-a.pdf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fedlex.data.admin.ch/eli/dl/proj/%7byear%7d/%7blegislative_process_identifier%7d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A_93B49DD7.xml"/><Relationship Id="rId7" Type="http://schemas.openxmlformats.org/officeDocument/2006/relationships/hyperlink" Target="https://fedlex.data.admin.ch/eli/dl/proj/6020/34/cons_1/doc_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edlex.data.admin.ch/eli/dl/proj/6020/34/cons_1/doc_1" TargetMode="External"/><Relationship Id="rId5" Type="http://schemas.openxmlformats.org/officeDocument/2006/relationships/hyperlink" Target="https://fedlex.data.admin.ch/eli/dl/proj/6020/6/cons_1/cons-open" TargetMode="External"/><Relationship Id="rId4" Type="http://schemas.openxmlformats.org/officeDocument/2006/relationships/hyperlink" Target="https://fedlex.data.admin.ch/eli/dl/proj/6020/6/cons_1" TargetMode="Externa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edlex.admin.ch/de/cc/explanations-cc" TargetMode="External"/><Relationship Id="rId7" Type="http://schemas.openxmlformats.org/officeDocument/2006/relationships/hyperlink" Target="https://fedlex.data.admin.ch/vocabulary/subdivision-type" TargetMode="External"/><Relationship Id="rId2" Type="http://schemas.openxmlformats.org/officeDocument/2006/relationships/hyperlink" Target="https://www.fedlex.admin.ch/de/oc/explanations-o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edlex.data.admin.ch/de-CH/home/convention" TargetMode="External"/><Relationship Id="rId5" Type="http://schemas.openxmlformats.org/officeDocument/2006/relationships/hyperlink" Target="https://www.fedlex.admin.ch/de/sector-specific-agreements/notice-to-users" TargetMode="External"/><Relationship Id="rId4" Type="http://schemas.openxmlformats.org/officeDocument/2006/relationships/hyperlink" Target="https://www.fedlex.admin.ch/de/oc/systematic-record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25BC9-1EE1-B56E-24F0-7CA101A831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 dirty="0"/>
              <a:t>eCH Politische Geschäfte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FCAF8-B9E3-0042-64B9-042BF7A8B4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H" dirty="0"/>
              <a:t>Erlasse und Gesetzestexte</a:t>
            </a:r>
          </a:p>
          <a:p>
            <a:r>
              <a:rPr lang="en-CH" dirty="0"/>
              <a:t>Vorgehen &amp; Identifier </a:t>
            </a:r>
            <a:r>
              <a:rPr lang="en-CH"/>
              <a:t>Primer (URL</a:t>
            </a:r>
            <a:r>
              <a:rPr lang="en-CH" dirty="0"/>
              <a:t>)</a:t>
            </a:r>
          </a:p>
          <a:p>
            <a:r>
              <a:rPr lang="en-CH" dirty="0"/>
              <a:t>03.12.2025</a:t>
            </a:r>
          </a:p>
        </p:txBody>
      </p:sp>
    </p:spTree>
    <p:extLst>
      <p:ext uri="{BB962C8B-B14F-4D97-AF65-F5344CB8AC3E}">
        <p14:creationId xmlns:p14="http://schemas.microsoft.com/office/powerpoint/2010/main" val="2383093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B9C61-C9B2-EF6D-80ED-CA43CB6BD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14D0A-51A5-1599-0BF5-BEF543663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68825" algn="l"/>
                <a:tab pos="4970463" algn="l"/>
              </a:tabLst>
            </a:pPr>
            <a:r>
              <a:rPr lang="en-CH" dirty="0"/>
              <a:t>Vorgehen 	5	-10’</a:t>
            </a:r>
          </a:p>
          <a:p>
            <a:pPr>
              <a:tabLst>
                <a:tab pos="4568825" algn="l"/>
                <a:tab pos="4970463" algn="l"/>
              </a:tabLst>
            </a:pPr>
            <a:r>
              <a:rPr lang="en-CH" dirty="0"/>
              <a:t>Identifier </a:t>
            </a:r>
            <a:r>
              <a:rPr lang="en-CH"/>
              <a:t>Primer (URL</a:t>
            </a:r>
            <a:r>
              <a:rPr lang="en-CH" dirty="0"/>
              <a:t>) 	40	-45’</a:t>
            </a:r>
          </a:p>
          <a:p>
            <a:pPr>
              <a:tabLst>
                <a:tab pos="4568825" algn="l"/>
                <a:tab pos="4970463" algn="l"/>
              </a:tabLst>
            </a:pPr>
            <a:r>
              <a:rPr lang="en-CH" dirty="0"/>
              <a:t>Fragen und Anregungen	5	-15’</a:t>
            </a:r>
          </a:p>
        </p:txBody>
      </p:sp>
    </p:spTree>
    <p:extLst>
      <p:ext uri="{BB962C8B-B14F-4D97-AF65-F5344CB8AC3E}">
        <p14:creationId xmlns:p14="http://schemas.microsoft.com/office/powerpoint/2010/main" val="359622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E0713-5453-FA2A-E448-38E155F06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05775-77EE-3B05-3C54-0E6D78422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Vorgehen - Überblick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CD4C850-57D1-8E13-EEA6-C43CBBD847B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b="1" dirty="0"/>
              <a:t>IDENTIFIER			</a:t>
            </a:r>
            <a:r>
              <a:rPr lang="en-GB" b="1" dirty="0" err="1"/>
              <a:t>Einheitlicher</a:t>
            </a:r>
            <a:r>
              <a:rPr lang="en-GB" b="1" dirty="0"/>
              <a:t> Aufbau der URL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CATALOG			</a:t>
            </a:r>
            <a:r>
              <a:rPr lang="en-GB" b="1" dirty="0" err="1"/>
              <a:t>Interoperabilität</a:t>
            </a:r>
            <a:endParaRPr lang="en-GB" b="1" dirty="0"/>
          </a:p>
          <a:p>
            <a:pPr marL="514350" indent="-514350">
              <a:buFont typeface="+mj-lt"/>
              <a:buAutoNum type="arabicPeriod" startAt="3"/>
            </a:pPr>
            <a:r>
              <a:rPr lang="en-GB" b="1" dirty="0"/>
              <a:t>CONTENT			</a:t>
            </a:r>
            <a:r>
              <a:rPr lang="en-GB" b="1" dirty="0" err="1"/>
              <a:t>Elemente</a:t>
            </a:r>
            <a:r>
              <a:rPr lang="en-GB" b="1" dirty="0"/>
              <a:t> des </a:t>
            </a:r>
            <a:r>
              <a:rPr lang="en-GB" b="1" dirty="0" err="1"/>
              <a:t>Dokuments</a:t>
            </a:r>
            <a:endParaRPr lang="en-GB" dirty="0"/>
          </a:p>
          <a:p>
            <a:pPr marL="514350" indent="-514350">
              <a:buFont typeface="+mj-lt"/>
              <a:buAutoNum type="arabicPeriod" startAt="4"/>
            </a:pPr>
            <a:r>
              <a:rPr lang="en-GB" b="1" dirty="0"/>
              <a:t>SEMANTIC 			</a:t>
            </a:r>
            <a:r>
              <a:rPr lang="en-GB" b="1" dirty="0" err="1"/>
              <a:t>Semantische</a:t>
            </a:r>
            <a:r>
              <a:rPr lang="en-GB" b="1" dirty="0"/>
              <a:t> </a:t>
            </a:r>
            <a:r>
              <a:rPr lang="en-GB" b="1" dirty="0" err="1"/>
              <a:t>Beschreibung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032478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505AA-E113-026B-DDDB-3C7E4AD06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79F8-0236-B324-376C-261416DA5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Vorgehen – Details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CF959-40A9-5716-15FD-00B269BC7759}"/>
              </a:ext>
            </a:extLst>
          </p:cNvPr>
          <p:cNvSpPr txBox="1"/>
          <p:nvPr/>
        </p:nvSpPr>
        <p:spPr>
          <a:xfrm>
            <a:off x="838200" y="6275953"/>
            <a:ext cx="10848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0" i="1" dirty="0">
                <a:solidFill>
                  <a:srgbClr val="242626"/>
                </a:solidFill>
                <a:effectLst/>
                <a:latin typeface="Roboto" panose="02000000000000000000" pitchFamily="2" charset="0"/>
              </a:rPr>
              <a:t>* ELI ontology for draft </a:t>
            </a:r>
            <a:r>
              <a:rPr lang="en-GB" b="0" i="1">
                <a:solidFill>
                  <a:srgbClr val="242626"/>
                </a:solidFill>
                <a:effectLst/>
                <a:latin typeface="Roboto" panose="02000000000000000000" pitchFamily="2" charset="0"/>
              </a:rPr>
              <a:t>legislation (ELI-DL</a:t>
            </a:r>
            <a:r>
              <a:rPr lang="en-GB" b="0" i="1" dirty="0">
                <a:solidFill>
                  <a:srgbClr val="242626"/>
                </a:solidFill>
                <a:effectLst/>
                <a:latin typeface="Roboto" panose="02000000000000000000" pitchFamily="2" charset="0"/>
              </a:rPr>
              <a:t>) is an extension of the </a:t>
            </a:r>
            <a:r>
              <a:rPr lang="en-GB" b="0" i="1" u="sng" dirty="0">
                <a:solidFill>
                  <a:srgbClr val="0A4A8F"/>
                </a:solidFill>
                <a:effectLst/>
                <a:latin typeface="Roboto" panose="02000000000000000000" pitchFamily="2" charset="0"/>
                <a:hlinkClick r:id="rId3"/>
              </a:rPr>
              <a:t>FRBRoo</a:t>
            </a:r>
            <a:r>
              <a:rPr lang="en-GB" b="0" i="1" dirty="0">
                <a:solidFill>
                  <a:srgbClr val="242626"/>
                </a:solidFill>
                <a:effectLst/>
                <a:latin typeface="Roboto" panose="02000000000000000000" pitchFamily="2" charset="0"/>
              </a:rPr>
              <a:t> and </a:t>
            </a:r>
            <a:r>
              <a:rPr lang="en-GB" b="0" i="1" u="sng" dirty="0">
                <a:solidFill>
                  <a:srgbClr val="0A4A8F"/>
                </a:solidFill>
                <a:effectLst/>
                <a:latin typeface="Roboto" panose="02000000000000000000" pitchFamily="2" charset="0"/>
                <a:hlinkClick r:id="rId4"/>
              </a:rPr>
              <a:t>CIDOC-CRM</a:t>
            </a:r>
            <a:r>
              <a:rPr lang="en-GB" b="0" i="1" dirty="0">
                <a:solidFill>
                  <a:srgbClr val="242626"/>
                </a:solidFill>
                <a:effectLst/>
                <a:latin typeface="Roboto" panose="02000000000000000000" pitchFamily="2" charset="0"/>
              </a:rPr>
              <a:t> ontologies.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465777-1DEF-83F3-F5D7-048B5C4F569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b="1" dirty="0"/>
              <a:t>IDENTIFIER			</a:t>
            </a:r>
            <a:r>
              <a:rPr lang="en-GB" b="1" dirty="0" err="1"/>
              <a:t>Einheitlicher</a:t>
            </a:r>
            <a:r>
              <a:rPr lang="en-GB" b="1" dirty="0"/>
              <a:t> Aufbau der URL</a:t>
            </a:r>
          </a:p>
          <a:p>
            <a:pPr lvl="1"/>
            <a:r>
              <a:rPr lang="en-GB" dirty="0"/>
              <a:t>ELI </a:t>
            </a:r>
            <a:r>
              <a:rPr lang="en-GB" dirty="0" err="1"/>
              <a:t>kompatibel</a:t>
            </a:r>
            <a:r>
              <a:rPr lang="en-GB" dirty="0"/>
              <a:t> (</a:t>
            </a:r>
            <a:r>
              <a:rPr lang="en-GB" dirty="0" err="1"/>
              <a:t>siehe</a:t>
            </a:r>
            <a:r>
              <a:rPr lang="en-GB" dirty="0"/>
              <a:t> URI HTTP Template in “ELI Implementation Guide”)</a:t>
            </a:r>
          </a:p>
          <a:p>
            <a:pPr lvl="1"/>
            <a:r>
              <a:rPr lang="en-GB" dirty="0" err="1"/>
              <a:t>Möglicherweise</a:t>
            </a:r>
            <a:r>
              <a:rPr lang="en-GB" dirty="0"/>
              <a:t> </a:t>
            </a:r>
            <a:r>
              <a:rPr lang="en-GB" dirty="0" err="1"/>
              <a:t>mehrere</a:t>
            </a:r>
            <a:r>
              <a:rPr lang="en-GB" dirty="0"/>
              <a:t> </a:t>
            </a:r>
            <a:r>
              <a:rPr lang="en-GB" dirty="0" err="1"/>
              <a:t>Varianten</a:t>
            </a:r>
            <a:r>
              <a:rPr lang="en-GB" dirty="0"/>
              <a:t> (</a:t>
            </a:r>
            <a:r>
              <a:rPr lang="en-GB" dirty="0" err="1"/>
              <a:t>z.B.</a:t>
            </a:r>
            <a:r>
              <a:rPr lang="en-GB" dirty="0"/>
              <a:t> ZH, Bund, </a:t>
            </a:r>
            <a:r>
              <a:rPr lang="en-GB" dirty="0" err="1"/>
              <a:t>harmonisiert</a:t>
            </a:r>
            <a:r>
              <a:rPr lang="en-GB" dirty="0"/>
              <a:t>)</a:t>
            </a:r>
          </a:p>
          <a:p>
            <a:pPr marL="457200" lvl="1" indent="0">
              <a:buNone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CATALOG			</a:t>
            </a:r>
            <a:r>
              <a:rPr lang="en-GB" b="1" dirty="0" err="1"/>
              <a:t>Interoperabilität</a:t>
            </a:r>
            <a:endParaRPr lang="en-GB" b="1" dirty="0"/>
          </a:p>
          <a:p>
            <a:pPr lvl="1"/>
            <a:r>
              <a:rPr lang="en-GB" dirty="0" err="1"/>
              <a:t>angelehnt</a:t>
            </a:r>
            <a:r>
              <a:rPr lang="en-GB" dirty="0"/>
              <a:t>  </a:t>
            </a:r>
            <a:r>
              <a:rPr lang="en-GB" dirty="0" err="1"/>
              <a:t>Jolux</a:t>
            </a:r>
            <a:r>
              <a:rPr lang="en-GB" dirty="0"/>
              <a:t> </a:t>
            </a:r>
            <a:r>
              <a:rPr lang="en-GB" dirty="0" err="1"/>
              <a:t>Datenmodell</a:t>
            </a:r>
            <a:r>
              <a:rPr lang="en-GB" dirty="0"/>
              <a:t> (</a:t>
            </a:r>
            <a:r>
              <a:rPr lang="en-GB" dirty="0" err="1"/>
              <a:t>gemeinsame</a:t>
            </a:r>
            <a:r>
              <a:rPr lang="en-GB" dirty="0"/>
              <a:t> </a:t>
            </a:r>
            <a:r>
              <a:rPr lang="en-GB" dirty="0" err="1"/>
              <a:t>Entwicklung</a:t>
            </a:r>
            <a:r>
              <a:rPr lang="en-GB" dirty="0"/>
              <a:t> CH &amp; LU)</a:t>
            </a:r>
          </a:p>
          <a:p>
            <a:pPr lvl="1"/>
            <a:r>
              <a:rPr lang="en-GB" dirty="0"/>
              <a:t>ELI-DL Extension für </a:t>
            </a:r>
            <a:r>
              <a:rPr lang="en-GB" dirty="0" err="1"/>
              <a:t>Gesetzgebungsprojekte</a:t>
            </a:r>
            <a:r>
              <a:rPr lang="en-GB" dirty="0"/>
              <a:t> (EU)* ?</a:t>
            </a:r>
          </a:p>
          <a:p>
            <a:pPr lvl="1"/>
            <a:r>
              <a:rPr lang="en-GB" dirty="0"/>
              <a:t>FRBR </a:t>
            </a:r>
            <a:r>
              <a:rPr lang="en-GB" dirty="0" err="1"/>
              <a:t>Dokumente</a:t>
            </a:r>
            <a:endParaRPr lang="en-GB" dirty="0"/>
          </a:p>
          <a:p>
            <a:pPr lvl="1"/>
            <a:r>
              <a:rPr lang="en-GB" dirty="0" err="1"/>
              <a:t>Struktur</a:t>
            </a:r>
            <a:r>
              <a:rPr lang="en-GB" dirty="0"/>
              <a:t> der </a:t>
            </a:r>
            <a:r>
              <a:rPr lang="en-GB" dirty="0" err="1"/>
              <a:t>Metadaten</a:t>
            </a:r>
            <a:r>
              <a:rPr lang="en-GB" dirty="0"/>
              <a:t> (s. AKN: oft </a:t>
            </a:r>
            <a:r>
              <a:rPr lang="en-GB" dirty="0" err="1"/>
              <a:t>aus</a:t>
            </a:r>
            <a:r>
              <a:rPr lang="en-GB" dirty="0"/>
              <a:t> </a:t>
            </a:r>
            <a:r>
              <a:rPr lang="en-GB" dirty="0" err="1"/>
              <a:t>Dokumenten</a:t>
            </a:r>
            <a:r>
              <a:rPr lang="en-GB" dirty="0"/>
              <a:t> </a:t>
            </a:r>
            <a:r>
              <a:rPr lang="en-GB" dirty="0" err="1"/>
              <a:t>erzeugt</a:t>
            </a:r>
            <a:r>
              <a:rPr lang="en-GB" dirty="0"/>
              <a:t>)</a:t>
            </a:r>
          </a:p>
          <a:p>
            <a:pPr lvl="1"/>
            <a:r>
              <a:rPr lang="en-GB" dirty="0" err="1"/>
              <a:t>Beispiele</a:t>
            </a:r>
            <a:r>
              <a:rPr lang="en-GB" dirty="0"/>
              <a:t>: </a:t>
            </a:r>
            <a:r>
              <a:rPr lang="en-GB" dirty="0" err="1"/>
              <a:t>Gültig</a:t>
            </a:r>
            <a:r>
              <a:rPr lang="en-GB" dirty="0"/>
              <a:t>-ab (</a:t>
            </a:r>
            <a:r>
              <a:rPr lang="en-GB" dirty="0" err="1"/>
              <a:t>Inkrafttreten</a:t>
            </a:r>
            <a:r>
              <a:rPr lang="en-GB" dirty="0"/>
              <a:t>), </a:t>
            </a:r>
            <a:r>
              <a:rPr lang="en-GB" dirty="0" err="1"/>
              <a:t>Beziehungen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anderen</a:t>
            </a:r>
            <a:r>
              <a:rPr lang="en-GB" dirty="0"/>
              <a:t> </a:t>
            </a:r>
            <a:r>
              <a:rPr lang="en-GB" dirty="0" err="1"/>
              <a:t>Dokumenten</a:t>
            </a:r>
            <a:r>
              <a:rPr lang="en-GB" dirty="0"/>
              <a:t> (s. </a:t>
            </a:r>
            <a:r>
              <a:rPr lang="en-GB" dirty="0" err="1"/>
              <a:t>auch</a:t>
            </a:r>
            <a:r>
              <a:rPr lang="en-GB" dirty="0"/>
              <a:t> AKN/FRBR)</a:t>
            </a:r>
          </a:p>
        </p:txBody>
      </p:sp>
    </p:spTree>
    <p:extLst>
      <p:ext uri="{BB962C8B-B14F-4D97-AF65-F5344CB8AC3E}">
        <p14:creationId xmlns:p14="http://schemas.microsoft.com/office/powerpoint/2010/main" val="19441348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00C87-187E-743E-D500-DD4D6F5F8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59FBD-BD05-0C28-6A93-91B48E143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Vorgehen – Details (Fortsetzung)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BB9F98E-1A8F-AD31-3088-AAD5011BCA2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3"/>
            </a:pPr>
            <a:r>
              <a:rPr lang="en-GB" b="1" dirty="0"/>
              <a:t>CONTENT			</a:t>
            </a:r>
            <a:r>
              <a:rPr lang="en-GB" b="1" dirty="0" err="1"/>
              <a:t>Elemente</a:t>
            </a:r>
            <a:r>
              <a:rPr lang="en-GB" b="1" dirty="0"/>
              <a:t> des </a:t>
            </a:r>
            <a:r>
              <a:rPr lang="en-GB" b="1" dirty="0" err="1"/>
              <a:t>Dokuments</a:t>
            </a:r>
            <a:endParaRPr lang="en-GB" b="1" dirty="0"/>
          </a:p>
          <a:p>
            <a:pPr lvl="1"/>
            <a:r>
              <a:rPr lang="en-GB" dirty="0"/>
              <a:t>FRBR </a:t>
            </a:r>
            <a:r>
              <a:rPr lang="en-GB" dirty="0" err="1"/>
              <a:t>Ontologie</a:t>
            </a:r>
            <a:r>
              <a:rPr lang="en-GB" dirty="0"/>
              <a:t> und AKN Standard</a:t>
            </a:r>
          </a:p>
          <a:p>
            <a:pPr lvl="1"/>
            <a:r>
              <a:rPr lang="en-GB" dirty="0"/>
              <a:t>Header: </a:t>
            </a:r>
            <a:r>
              <a:rPr lang="en-GB" dirty="0" err="1"/>
              <a:t>Struktur</a:t>
            </a:r>
            <a:r>
              <a:rPr lang="en-GB" dirty="0"/>
              <a:t> und </a:t>
            </a:r>
            <a:r>
              <a:rPr lang="en-GB" dirty="0" err="1"/>
              <a:t>Beschreibung</a:t>
            </a:r>
            <a:r>
              <a:rPr lang="en-GB" dirty="0"/>
              <a:t> des </a:t>
            </a:r>
            <a:r>
              <a:rPr lang="en-GB" dirty="0" err="1"/>
              <a:t>Dokuments</a:t>
            </a:r>
            <a:endParaRPr lang="en-GB" dirty="0"/>
          </a:p>
          <a:p>
            <a:pPr lvl="1"/>
            <a:r>
              <a:rPr lang="en-GB" dirty="0" err="1"/>
              <a:t>Beispiele</a:t>
            </a:r>
            <a:r>
              <a:rPr lang="en-GB" dirty="0"/>
              <a:t>: Titel, Artikel, </a:t>
            </a:r>
            <a:r>
              <a:rPr lang="en-GB" dirty="0" err="1"/>
              <a:t>Absatz</a:t>
            </a:r>
            <a:r>
              <a:rPr lang="en-GB" dirty="0"/>
              <a:t>, IDs der </a:t>
            </a:r>
            <a:r>
              <a:rPr lang="en-GB" dirty="0" err="1"/>
              <a:t>einzelnen</a:t>
            </a:r>
            <a:r>
              <a:rPr lang="en-GB" dirty="0"/>
              <a:t> </a:t>
            </a:r>
            <a:r>
              <a:rPr lang="en-GB" dirty="0" err="1"/>
              <a:t>Elemente</a:t>
            </a:r>
            <a:endParaRPr lang="en-GB" dirty="0"/>
          </a:p>
          <a:p>
            <a:pPr lvl="1"/>
            <a:endParaRPr lang="en-GB" dirty="0"/>
          </a:p>
          <a:p>
            <a:pPr marL="514350" indent="-514350">
              <a:buFont typeface="+mj-lt"/>
              <a:buAutoNum type="arabicPeriod" startAt="4"/>
            </a:pPr>
            <a:r>
              <a:rPr lang="en-GB" b="1" dirty="0"/>
              <a:t>SEMANTIC 			</a:t>
            </a:r>
            <a:r>
              <a:rPr lang="en-GB" b="1" dirty="0" err="1"/>
              <a:t>Semantische</a:t>
            </a:r>
            <a:r>
              <a:rPr lang="en-GB" b="1" dirty="0"/>
              <a:t> </a:t>
            </a:r>
            <a:r>
              <a:rPr lang="en-GB" b="1" dirty="0" err="1"/>
              <a:t>Beschreibung</a:t>
            </a:r>
            <a:endParaRPr lang="en-GB" b="1" dirty="0"/>
          </a:p>
          <a:p>
            <a:pPr lvl="1"/>
            <a:r>
              <a:rPr lang="en-GB" dirty="0" err="1"/>
              <a:t>Inhalt</a:t>
            </a:r>
            <a:r>
              <a:rPr lang="en-GB" dirty="0"/>
              <a:t>: Was </a:t>
            </a:r>
            <a:r>
              <a:rPr lang="en-GB" dirty="0" err="1"/>
              <a:t>sagen</a:t>
            </a:r>
            <a:r>
              <a:rPr lang="en-GB" dirty="0"/>
              <a:t> die Texte </a:t>
            </a:r>
            <a:r>
              <a:rPr lang="en-GB" dirty="0" err="1"/>
              <a:t>aus</a:t>
            </a:r>
            <a:r>
              <a:rPr lang="en-GB" dirty="0"/>
              <a:t>? </a:t>
            </a:r>
          </a:p>
          <a:p>
            <a:pPr lvl="1"/>
            <a:r>
              <a:rPr lang="en-GB" dirty="0" err="1"/>
              <a:t>Maschinenlesbarkeit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56561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BF047-F8CC-DCE4-AA24-CDAF5F661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- Basics</a:t>
            </a:r>
          </a:p>
        </p:txBody>
      </p:sp>
      <p:pic>
        <p:nvPicPr>
          <p:cNvPr id="2052" name="Picture 4" descr="vollständige URL">
            <a:extLst>
              <a:ext uri="{FF2B5EF4-FFF2-40B4-BE49-F238E27FC236}">
                <a16:creationId xmlns:a16="http://schemas.microsoft.com/office/drawing/2014/main" id="{DFBADF32-2484-4A5C-8572-2035C57AC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88" y="1690688"/>
            <a:ext cx="10515600" cy="101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02FDA8-815A-E173-24BE-C77ED180A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6647"/>
            <a:ext cx="10515600" cy="3470315"/>
          </a:xfrm>
        </p:spPr>
        <p:txBody>
          <a:bodyPr/>
          <a:lstStyle/>
          <a:p>
            <a:r>
              <a:rPr lang="en-CH" dirty="0"/>
              <a:t>URI ≈ URL</a:t>
            </a:r>
          </a:p>
          <a:p>
            <a:r>
              <a:rPr lang="en-CH" dirty="0"/>
              <a:t>RFC und DOI</a:t>
            </a:r>
          </a:p>
          <a:p>
            <a:r>
              <a:rPr lang="en-CH" dirty="0"/>
              <a:t>Absolute vs. relative URI</a:t>
            </a:r>
          </a:p>
          <a:p>
            <a:r>
              <a:rPr lang="en-CH" dirty="0"/>
              <a:t>Path vs. File/</a:t>
            </a:r>
            <a:r>
              <a:rPr lang="en-CH"/>
              <a:t>format (e</a:t>
            </a:r>
            <a:r>
              <a:rPr lang="en-CH" dirty="0"/>
              <a:t>.g. /myfile vs. myfile.html)</a:t>
            </a:r>
          </a:p>
          <a:p>
            <a:r>
              <a:rPr lang="en-CH" dirty="0"/>
              <a:t>Resolve &amp; Redirect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E581A4-CAFB-E40C-FFE2-A5088AED65C9}"/>
              </a:ext>
            </a:extLst>
          </p:cNvPr>
          <p:cNvCxnSpPr>
            <a:cxnSpLocks/>
          </p:cNvCxnSpPr>
          <p:nvPr/>
        </p:nvCxnSpPr>
        <p:spPr>
          <a:xfrm>
            <a:off x="4045058" y="1177871"/>
            <a:ext cx="727358" cy="594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123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C19E7-1C72-591E-B90A-1CD98BF65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14728-2C94-E6E9-70F0-7E498D17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Advanced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6FF7473-C4FF-FC1D-D6EC-7B94DC089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de-CH" dirty="0"/>
              <a:t>DOI</a:t>
            </a:r>
          </a:p>
          <a:p>
            <a:r>
              <a:rPr lang="de-CH" dirty="0"/>
              <a:t>URL </a:t>
            </a:r>
            <a:r>
              <a:rPr lang="de-CH" dirty="0" err="1"/>
              <a:t>as</a:t>
            </a:r>
            <a:r>
              <a:rPr lang="de-CH" dirty="0"/>
              <a:t> UI</a:t>
            </a:r>
          </a:p>
          <a:p>
            <a:r>
              <a:rPr lang="de-CH" dirty="0"/>
              <a:t>URL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state</a:t>
            </a:r>
            <a:endParaRPr lang="de-CH" dirty="0"/>
          </a:p>
          <a:p>
            <a:r>
              <a:rPr lang="en-CH" dirty="0"/>
              <a:t>HATEOAS</a:t>
            </a:r>
          </a:p>
          <a:p>
            <a:r>
              <a:rPr lang="en-GB" dirty="0"/>
              <a:t>O</a:t>
            </a:r>
            <a:r>
              <a:rPr lang="en-CH" dirty="0"/>
              <a:t>ptional parameters</a:t>
            </a:r>
            <a:endParaRPr lang="en-GB" dirty="0"/>
          </a:p>
          <a:p>
            <a:pPr lvl="1"/>
            <a:r>
              <a:rPr lang="en-GB" dirty="0"/>
              <a:t>Parameters / Query / </a:t>
            </a:r>
            <a:r>
              <a:rPr lang="en-GB"/>
              <a:t>Search (?)</a:t>
            </a:r>
            <a:endParaRPr lang="en-GB" dirty="0"/>
          </a:p>
          <a:p>
            <a:pPr lvl="1"/>
            <a:r>
              <a:rPr lang="en-GB" dirty="0"/>
              <a:t>Fragment / </a:t>
            </a:r>
            <a:r>
              <a:rPr lang="en-GB"/>
              <a:t>Anchor (#)</a:t>
            </a:r>
            <a:endParaRPr lang="en-GB" dirty="0"/>
          </a:p>
          <a:p>
            <a:pPr lvl="1"/>
            <a:r>
              <a:rPr lang="en-GB"/>
              <a:t>Slug (user-friendliness</a:t>
            </a:r>
            <a:r>
              <a:rPr lang="en-GB" dirty="0"/>
              <a:t>; parameter vs. path)</a:t>
            </a:r>
          </a:p>
          <a:p>
            <a:pPr lvl="2"/>
            <a:r>
              <a:rPr lang="en-GB" dirty="0"/>
              <a:t>e.g. /questions/16245767/</a:t>
            </a:r>
            <a:r>
              <a:rPr lang="en-GB" dirty="0">
                <a:highlight>
                  <a:srgbClr val="FFFF00"/>
                </a:highlight>
              </a:rPr>
              <a:t>creating-a-blob-from-a-base64-string-in-javascript</a:t>
            </a:r>
            <a:r>
              <a:rPr lang="en-GB" dirty="0"/>
              <a:t>/</a:t>
            </a:r>
          </a:p>
          <a:p>
            <a:endParaRPr lang="en-GB" dirty="0"/>
          </a:p>
          <a:p>
            <a:pPr lvl="1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308103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752EF-23C2-1FD5-2053-28EF7DBF9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9FE22-874C-1F68-793E-201731C3D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ELI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9DD29-55AC-B5DB-16B7-6B477EF13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ELI: </a:t>
            </a:r>
            <a:r>
              <a:rPr lang="en-GB" dirty="0">
                <a:hlinkClick r:id="rId2"/>
              </a:rPr>
              <a:t>URI template for European Union legislation</a:t>
            </a:r>
            <a:r>
              <a:rPr lang="en-GB" dirty="0"/>
              <a:t> </a:t>
            </a:r>
          </a:p>
          <a:p>
            <a:pPr lvl="1"/>
            <a:r>
              <a:rPr lang="en-GB" dirty="0" err="1"/>
              <a:t>eli</a:t>
            </a:r>
            <a:r>
              <a:rPr lang="en-GB" dirty="0"/>
              <a:t>/{</a:t>
            </a:r>
            <a:r>
              <a:rPr lang="en-GB" dirty="0" err="1"/>
              <a:t>typedoc</a:t>
            </a:r>
            <a:r>
              <a:rPr lang="en-GB" dirty="0"/>
              <a:t>}/{year}/{</a:t>
            </a:r>
            <a:r>
              <a:rPr lang="en-GB" dirty="0" err="1"/>
              <a:t>naturalnumber</a:t>
            </a:r>
            <a:r>
              <a:rPr lang="en-GB" dirty="0"/>
              <a:t>}/</a:t>
            </a:r>
            <a:r>
              <a:rPr lang="en-GB" b="1" dirty="0" err="1"/>
              <a:t>oj</a:t>
            </a:r>
            <a:endParaRPr lang="en-GB" b="1" dirty="0"/>
          </a:p>
          <a:p>
            <a:endParaRPr lang="en-GB" dirty="0"/>
          </a:p>
          <a:p>
            <a:r>
              <a:rPr lang="en-GB" dirty="0"/>
              <a:t>LU: </a:t>
            </a:r>
            <a:r>
              <a:rPr lang="en-GB" dirty="0" err="1"/>
              <a:t>Jolux</a:t>
            </a:r>
            <a:r>
              <a:rPr lang="en-GB" dirty="0"/>
              <a:t> ELI implementation</a:t>
            </a:r>
          </a:p>
          <a:p>
            <a:pPr lvl="1"/>
            <a:r>
              <a:rPr lang="en-GB" dirty="0" err="1"/>
              <a:t>eli</a:t>
            </a:r>
            <a:r>
              <a:rPr lang="en-GB" dirty="0"/>
              <a:t>/</a:t>
            </a:r>
            <a:r>
              <a:rPr lang="en-GB" b="1" dirty="0" err="1"/>
              <a:t>etat</a:t>
            </a:r>
            <a:r>
              <a:rPr lang="en-GB" b="1" dirty="0"/>
              <a:t>/leg/</a:t>
            </a:r>
            <a:r>
              <a:rPr lang="en-GB" b="1" dirty="0" err="1"/>
              <a:t>loi</a:t>
            </a:r>
            <a:r>
              <a:rPr lang="en-GB" dirty="0"/>
              <a:t>/{YYYY}/(MM)/{DD}/{</a:t>
            </a:r>
            <a:r>
              <a:rPr lang="en-GB" dirty="0" err="1"/>
              <a:t>naturalnumber</a:t>
            </a:r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CH: </a:t>
            </a:r>
            <a:r>
              <a:rPr lang="en-GB" dirty="0" err="1"/>
              <a:t>Fedlex</a:t>
            </a:r>
            <a:r>
              <a:rPr lang="en-GB" dirty="0"/>
              <a:t> ELI implementation</a:t>
            </a:r>
          </a:p>
          <a:p>
            <a:pPr lvl="1"/>
            <a:r>
              <a:rPr lang="en-GB" dirty="0" err="1"/>
              <a:t>eli</a:t>
            </a:r>
            <a:r>
              <a:rPr lang="en-GB" dirty="0"/>
              <a:t>/{journal}/{YYYY}/{</a:t>
            </a:r>
            <a:r>
              <a:rPr lang="en-GB" dirty="0" err="1"/>
              <a:t>naturalnumber</a:t>
            </a:r>
            <a:r>
              <a:rPr lang="en-GB" dirty="0"/>
              <a:t>}</a:t>
            </a:r>
            <a:br>
              <a:rPr lang="en-GB" dirty="0"/>
            </a:br>
            <a:endParaRPr lang="en-GB" dirty="0"/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217678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85A94-3BBC-CDE0-1607-1786EB120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6221C-CCD2-A27C-7D6B-2EDBA450B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ELI Components</a:t>
            </a:r>
          </a:p>
        </p:txBody>
      </p:sp>
      <p:pic>
        <p:nvPicPr>
          <p:cNvPr id="6" name="Grafik 34">
            <a:extLst>
              <a:ext uri="{FF2B5EF4-FFF2-40B4-BE49-F238E27FC236}">
                <a16:creationId xmlns:a16="http://schemas.microsoft.com/office/drawing/2014/main" id="{F8AA719F-8AD9-B767-D84F-2EAFAB3270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40" b="61078"/>
          <a:stretch>
            <a:fillRect/>
          </a:stretch>
        </p:blipFill>
        <p:spPr bwMode="auto">
          <a:xfrm>
            <a:off x="1661475" y="1690689"/>
            <a:ext cx="8869049" cy="19979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106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3D532-2254-4157-6700-9B41D7294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A097-8EA9-F4FD-6D07-D5B751BFA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ELI Components</a:t>
            </a:r>
          </a:p>
        </p:txBody>
      </p:sp>
      <p:pic>
        <p:nvPicPr>
          <p:cNvPr id="6" name="Grafik 34">
            <a:extLst>
              <a:ext uri="{FF2B5EF4-FFF2-40B4-BE49-F238E27FC236}">
                <a16:creationId xmlns:a16="http://schemas.microsoft.com/office/drawing/2014/main" id="{6782E9C4-5B36-7241-08CB-5CD910C5E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44" b="26914"/>
          <a:stretch>
            <a:fillRect/>
          </a:stretch>
        </p:blipFill>
        <p:spPr bwMode="auto">
          <a:xfrm>
            <a:off x="1661475" y="1690688"/>
            <a:ext cx="8869049" cy="32546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45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6B8B-242B-A9BE-8EAF-742FB6D42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C15CD-BD87-EAB7-8708-46042A8D6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ELI Components</a:t>
            </a:r>
          </a:p>
        </p:txBody>
      </p:sp>
      <p:pic>
        <p:nvPicPr>
          <p:cNvPr id="6" name="Grafik 34">
            <a:extLst>
              <a:ext uri="{FF2B5EF4-FFF2-40B4-BE49-F238E27FC236}">
                <a16:creationId xmlns:a16="http://schemas.microsoft.com/office/drawing/2014/main" id="{DB873BAA-3D18-2D2B-D822-6D61A5CDB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774" b="3038"/>
          <a:stretch>
            <a:fillRect/>
          </a:stretch>
        </p:blipFill>
        <p:spPr bwMode="auto">
          <a:xfrm>
            <a:off x="1661475" y="1690689"/>
            <a:ext cx="8869049" cy="2292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4395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587DD-13B3-3411-4068-5C5BDDA7C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859D-5F1E-6802-B7DB-865CA7629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ELI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958BF-896B-B1CF-6F97-635861B43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Template: </a:t>
            </a:r>
          </a:p>
          <a:p>
            <a:r>
              <a:rPr lang="de-CH" dirty="0"/>
              <a:t>«</a:t>
            </a:r>
            <a:r>
              <a:rPr lang="de-CH" dirty="0" err="1"/>
              <a:t>Jurisdiction</a:t>
            </a:r>
            <a:r>
              <a:rPr lang="de-CH" dirty="0"/>
              <a:t>»: </a:t>
            </a:r>
            <a:r>
              <a:rPr lang="de-CH" dirty="0">
                <a:highlight>
                  <a:srgbClr val="FFFF00"/>
                </a:highlight>
              </a:rPr>
              <a:t>{</a:t>
            </a:r>
            <a:r>
              <a:rPr lang="de-CH" dirty="0" err="1">
                <a:highlight>
                  <a:srgbClr val="FFFF00"/>
                </a:highlight>
              </a:rPr>
              <a:t>jurisdiction</a:t>
            </a:r>
            <a:r>
              <a:rPr lang="de-CH" dirty="0">
                <a:highlight>
                  <a:srgbClr val="FFFF00"/>
                </a:highlight>
              </a:rPr>
              <a:t>}</a:t>
            </a:r>
            <a:r>
              <a:rPr lang="de-CH" dirty="0"/>
              <a:t>/{</a:t>
            </a:r>
            <a:r>
              <a:rPr lang="de-CH" dirty="0" err="1"/>
              <a:t>agent</a:t>
            </a:r>
            <a:r>
              <a:rPr lang="de-CH" dirty="0"/>
              <a:t>}/{</a:t>
            </a:r>
            <a:r>
              <a:rPr lang="de-CH" dirty="0" err="1"/>
              <a:t>subagent</a:t>
            </a:r>
            <a:r>
              <a:rPr lang="de-CH" dirty="0"/>
              <a:t>}</a:t>
            </a:r>
          </a:p>
          <a:p>
            <a:r>
              <a:rPr lang="de-CH" dirty="0"/>
              <a:t>«Reference»: </a:t>
            </a:r>
            <a:r>
              <a:rPr lang="de-CH" dirty="0">
                <a:highlight>
                  <a:srgbClr val="FFFF00"/>
                </a:highlight>
              </a:rPr>
              <a:t>{</a:t>
            </a:r>
            <a:r>
              <a:rPr lang="de-CH" dirty="0" err="1">
                <a:highlight>
                  <a:srgbClr val="FFFF00"/>
                </a:highlight>
              </a:rPr>
              <a:t>year</a:t>
            </a:r>
            <a:r>
              <a:rPr lang="de-CH" dirty="0">
                <a:highlight>
                  <a:srgbClr val="FFFF00"/>
                </a:highlight>
              </a:rPr>
              <a:t>}/{</a:t>
            </a:r>
            <a:r>
              <a:rPr lang="de-CH" dirty="0" err="1">
                <a:highlight>
                  <a:srgbClr val="FFFF00"/>
                </a:highlight>
              </a:rPr>
              <a:t>month</a:t>
            </a:r>
            <a:r>
              <a:rPr lang="de-CH" dirty="0">
                <a:highlight>
                  <a:srgbClr val="FFFF00"/>
                </a:highlight>
              </a:rPr>
              <a:t>}</a:t>
            </a:r>
            <a:r>
              <a:rPr lang="de-CH" dirty="0"/>
              <a:t>/{</a:t>
            </a:r>
            <a:r>
              <a:rPr lang="de-CH" dirty="0" err="1"/>
              <a:t>day</a:t>
            </a:r>
            <a:r>
              <a:rPr lang="de-CH" dirty="0"/>
              <a:t>}/{type}/{</a:t>
            </a:r>
            <a:r>
              <a:rPr lang="de-CH" dirty="0" err="1"/>
              <a:t>subtype</a:t>
            </a:r>
            <a:r>
              <a:rPr lang="de-CH" dirty="0"/>
              <a:t>}/{</a:t>
            </a:r>
            <a:r>
              <a:rPr lang="de-CH" dirty="0" err="1"/>
              <a:t>domain</a:t>
            </a:r>
            <a:r>
              <a:rPr lang="de-CH" dirty="0"/>
              <a:t>}/{</a:t>
            </a:r>
            <a:r>
              <a:rPr lang="de-CH" dirty="0" err="1"/>
              <a:t>naturalidentifier</a:t>
            </a:r>
            <a:r>
              <a:rPr lang="de-CH" dirty="0"/>
              <a:t>}</a:t>
            </a:r>
          </a:p>
          <a:p>
            <a:endParaRPr lang="en-GB" b="1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699429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DD9B0-9908-DE76-AFF2-ECEEE1D6E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F646-ED3C-ABE2-5EF8-0AF59870E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1D03D-BF38-6694-5983-E1799DDB2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Publication Office of the European Union:</a:t>
            </a:r>
          </a:p>
          <a:p>
            <a:pPr lvl="1"/>
            <a:r>
              <a:rPr lang="en-GB" dirty="0" err="1"/>
              <a:t>eli</a:t>
            </a:r>
            <a:r>
              <a:rPr lang="en-GB" dirty="0"/>
              <a:t>/{</a:t>
            </a:r>
            <a:r>
              <a:rPr lang="en-GB" dirty="0" err="1"/>
              <a:t>typedoc</a:t>
            </a:r>
            <a:r>
              <a:rPr lang="en-GB" dirty="0"/>
              <a:t>}/{year}/{</a:t>
            </a:r>
            <a:r>
              <a:rPr lang="en-GB" dirty="0" err="1"/>
              <a:t>naturalnumber</a:t>
            </a:r>
            <a:r>
              <a:rPr lang="en-GB" dirty="0"/>
              <a:t>}/</a:t>
            </a:r>
            <a:r>
              <a:rPr lang="en-GB" b="1" dirty="0" err="1"/>
              <a:t>oj</a:t>
            </a:r>
            <a:endParaRPr lang="en-GB" b="1" dirty="0"/>
          </a:p>
          <a:p>
            <a:pPr lvl="1"/>
            <a:r>
              <a:rPr lang="en-GB" dirty="0" err="1"/>
              <a:t>eli</a:t>
            </a:r>
            <a:r>
              <a:rPr lang="en-GB" dirty="0"/>
              <a:t>/{</a:t>
            </a:r>
            <a:r>
              <a:rPr lang="en-GB" dirty="0" err="1"/>
              <a:t>typedoc</a:t>
            </a:r>
            <a:r>
              <a:rPr lang="en-GB" dirty="0"/>
              <a:t>}/{year}/{natural_ number}/</a:t>
            </a:r>
            <a:r>
              <a:rPr lang="en-GB" dirty="0">
                <a:highlight>
                  <a:srgbClr val="FFFF00"/>
                </a:highlight>
              </a:rPr>
              <a:t>corrigendum</a:t>
            </a:r>
            <a:r>
              <a:rPr lang="en-GB" dirty="0"/>
              <a:t>/{</a:t>
            </a:r>
            <a:r>
              <a:rPr lang="en-GB" dirty="0" err="1"/>
              <a:t>publication_date</a:t>
            </a:r>
            <a:r>
              <a:rPr lang="en-GB" dirty="0"/>
              <a:t>}/</a:t>
            </a:r>
            <a:r>
              <a:rPr lang="en-GB" dirty="0" err="1"/>
              <a:t>oj</a:t>
            </a:r>
            <a:r>
              <a:rPr lang="en-GB" dirty="0"/>
              <a:t>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// corrigendum</a:t>
            </a:r>
            <a:endParaRPr lang="en-GB" b="1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GB" dirty="0" err="1"/>
              <a:t>eli</a:t>
            </a:r>
            <a:r>
              <a:rPr lang="en-GB" dirty="0"/>
              <a:t>/{</a:t>
            </a:r>
            <a:r>
              <a:rPr lang="en-GB" dirty="0" err="1"/>
              <a:t>typedoc</a:t>
            </a:r>
            <a:r>
              <a:rPr lang="en-GB" dirty="0"/>
              <a:t>}/{year}/{</a:t>
            </a:r>
            <a:r>
              <a:rPr lang="en-GB" dirty="0" err="1"/>
              <a:t>natural_number</a:t>
            </a:r>
            <a:r>
              <a:rPr lang="en-GB" dirty="0"/>
              <a:t>}/</a:t>
            </a:r>
            <a:r>
              <a:rPr lang="en-GB" dirty="0">
                <a:highlight>
                  <a:srgbClr val="FFFF00"/>
                </a:highlight>
              </a:rPr>
              <a:t>{point in time}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// point in time (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vgl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. AKN)</a:t>
            </a:r>
            <a:endParaRPr lang="en-GB" b="1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286770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96465-8F01-CC6C-C614-3472F7800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AKN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DC3F3-BA2F-2B0A-DE1E-1A48344D3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</a:t>
            </a:r>
            <a:r>
              <a:rPr lang="en-CH" dirty="0"/>
              <a:t>ibt URL Schema vor, jedoch nicht bindend </a:t>
            </a:r>
          </a:p>
          <a:p>
            <a:pPr lvl="1"/>
            <a:r>
              <a:rPr lang="en-CH" dirty="0">
                <a:hlinkClick r:id="rId2"/>
              </a:rPr>
              <a:t>FENC – “functionally equivalent naming convention</a:t>
            </a:r>
            <a:r>
              <a:rPr lang="en-CH" dirty="0"/>
              <a:t>”</a:t>
            </a:r>
          </a:p>
          <a:p>
            <a:r>
              <a:rPr lang="en-CH" dirty="0"/>
              <a:t>FRBR Modell</a:t>
            </a:r>
          </a:p>
          <a:p>
            <a:r>
              <a:rPr lang="en-GB" dirty="0"/>
              <a:t>Sehr </a:t>
            </a:r>
            <a:r>
              <a:rPr lang="en-GB" dirty="0" err="1"/>
              <a:t>komplex</a:t>
            </a:r>
            <a:r>
              <a:rPr lang="en-GB" dirty="0"/>
              <a:t>, a</a:t>
            </a:r>
            <a:r>
              <a:rPr lang="en-CH" dirty="0"/>
              <a:t>usgeklügeltes Konzept zur Darstellung von </a:t>
            </a:r>
            <a:r>
              <a:rPr lang="en-GB" dirty="0" err="1"/>
              <a:t>Grunderlass</a:t>
            </a:r>
            <a:r>
              <a:rPr lang="en-GB" dirty="0"/>
              <a:t> </a:t>
            </a:r>
            <a:r>
              <a:rPr lang="en-GB" dirty="0" err="1"/>
              <a:t>inkl</a:t>
            </a:r>
            <a:r>
              <a:rPr lang="en-GB" dirty="0"/>
              <a:t>. </a:t>
            </a:r>
            <a:r>
              <a:rPr lang="en-GB" dirty="0" err="1"/>
              <a:t>konsolidierte</a:t>
            </a:r>
            <a:r>
              <a:rPr lang="en-GB" dirty="0"/>
              <a:t> </a:t>
            </a:r>
            <a:r>
              <a:rPr lang="en-GB" dirty="0" err="1"/>
              <a:t>Fassungen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err="1"/>
              <a:t>Versionen</a:t>
            </a:r>
            <a:r>
              <a:rPr lang="en-GB"/>
              <a:t> (Point </a:t>
            </a:r>
            <a:r>
              <a:rPr lang="en-GB" dirty="0"/>
              <a:t>in Time)</a:t>
            </a:r>
            <a:endParaRPr lang="en-CH" dirty="0"/>
          </a:p>
          <a:p>
            <a:endParaRPr lang="en-CH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CA1FDCE-DC03-87B3-9B87-45D3CCDA95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642523"/>
              </p:ext>
            </p:extLst>
          </p:nvPr>
        </p:nvGraphicFramePr>
        <p:xfrm>
          <a:off x="1010402" y="4534545"/>
          <a:ext cx="2218733" cy="1401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3" imgW="965200" imgH="609600" progId="Word.Document.12">
                  <p:embed/>
                </p:oleObj>
              </mc:Choice>
              <mc:Fallback>
                <p:oleObj name="Document" showAsIcon="1" r:id="rId3" imgW="965200" imgH="6096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0402" y="4534545"/>
                        <a:ext cx="2218733" cy="1401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3771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CD569-2265-715A-41F0-D6ABC57D0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C366B-2EFD-C719-972A-4F539950A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Andere Identifier / Components?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70034-A568-649A-81B7-E1B79F523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Bsp. </a:t>
            </a:r>
            <a:r>
              <a:rPr lang="en-CH" dirty="0">
                <a:hlinkClick r:id="rId2"/>
              </a:rPr>
              <a:t>Art. 41 OR</a:t>
            </a:r>
            <a:endParaRPr lang="en-CH" dirty="0"/>
          </a:p>
          <a:p>
            <a:endParaRPr lang="en-CH" dirty="0"/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887390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F7AD2-E8E8-F8CF-EA0A-398BA84BE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8013E-9010-51D1-EA40-68C342453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C3025-1D50-A07F-CAE7-AE142BA80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H" b="1" dirty="0"/>
              <a:t>Basics</a:t>
            </a:r>
          </a:p>
          <a:p>
            <a:r>
              <a:rPr lang="en-GB" dirty="0">
                <a:hlinkClick r:id="rId2"/>
              </a:rPr>
              <a:t>https://developers.google.com/search/docs/crawling-indexing/url-structure?hl=de</a:t>
            </a:r>
            <a:br>
              <a:rPr lang="en-GB" dirty="0"/>
            </a:br>
            <a:r>
              <a:rPr lang="en-GB" dirty="0"/>
              <a:t>- Best </a:t>
            </a:r>
            <a:r>
              <a:rPr lang="en-GB"/>
              <a:t>Practices (Google</a:t>
            </a:r>
            <a:r>
              <a:rPr lang="en-GB" dirty="0"/>
              <a:t>)</a:t>
            </a:r>
          </a:p>
          <a:p>
            <a:r>
              <a:rPr lang="en-GB" dirty="0">
                <a:hlinkClick r:id="rId3"/>
              </a:rPr>
              <a:t>https://developer.mozilla.org/de/docs/Learn_web_development/Howto/Web_mechanics/What_is_a_URL</a:t>
            </a:r>
            <a:br>
              <a:rPr lang="en-GB" dirty="0"/>
            </a:br>
            <a:r>
              <a:rPr lang="en-GB" dirty="0"/>
              <a:t>- URL </a:t>
            </a:r>
            <a:r>
              <a:rPr lang="en-GB"/>
              <a:t>Guidance (MDN</a:t>
            </a:r>
            <a:r>
              <a:rPr lang="en-GB" dirty="0"/>
              <a:t>)</a:t>
            </a:r>
          </a:p>
          <a:p>
            <a:r>
              <a:rPr lang="en-GB" dirty="0">
                <a:hlinkClick r:id="rId4"/>
              </a:rPr>
              <a:t>https://en.wikipedia.org/wiki/Clean_URL</a:t>
            </a:r>
            <a:br>
              <a:rPr lang="en-GB" dirty="0"/>
            </a:br>
            <a:r>
              <a:rPr lang="en-GB" dirty="0"/>
              <a:t>- Clean / Semantic </a:t>
            </a:r>
            <a:r>
              <a:rPr lang="en-GB"/>
              <a:t>URLs (Wikipedia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2347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79622-446C-C7B2-E7DA-640023603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D3E28-5377-F396-C3FC-355055C95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FF0BF-476F-0DB5-8719-8BCB68ED7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H" b="1" dirty="0"/>
              <a:t>Advanced</a:t>
            </a:r>
          </a:p>
          <a:p>
            <a:r>
              <a:rPr lang="en-GB" dirty="0">
                <a:hlinkClick r:id="rId2"/>
              </a:rPr>
              <a:t>https://blog.jim-nielsen.com/2023/examples-of-great-urls/</a:t>
            </a:r>
            <a:br>
              <a:rPr lang="en-GB" dirty="0"/>
            </a:br>
            <a:r>
              <a:rPr lang="en-GB" dirty="0"/>
              <a:t>-</a:t>
            </a:r>
            <a:r>
              <a:rPr lang="en-CH" dirty="0"/>
              <a:t> Jim Nielsen</a:t>
            </a:r>
            <a:endParaRPr lang="en-GB" dirty="0"/>
          </a:p>
          <a:p>
            <a:r>
              <a:rPr lang="en-GB" dirty="0">
                <a:hlinkClick r:id="rId3"/>
              </a:rPr>
              <a:t>https://warpspire.com/posts/url-design/</a:t>
            </a:r>
            <a:br>
              <a:rPr lang="en-GB" dirty="0"/>
            </a:br>
            <a:r>
              <a:rPr lang="en-GB" dirty="0"/>
              <a:t>- URL Design</a:t>
            </a:r>
          </a:p>
          <a:p>
            <a:r>
              <a:rPr lang="en-GB" dirty="0">
                <a:hlinkClick r:id="rId4"/>
              </a:rPr>
              <a:t>https://alexpounds.com/blog/2018/12/29/four-cool-urls</a:t>
            </a:r>
            <a:br>
              <a:rPr lang="en-GB" dirty="0"/>
            </a:br>
            <a:r>
              <a:rPr lang="en-GB" dirty="0"/>
              <a:t>- </a:t>
            </a:r>
            <a:r>
              <a:rPr lang="en-GB" dirty="0" err="1"/>
              <a:t>Interessante</a:t>
            </a:r>
            <a:r>
              <a:rPr lang="en-GB" dirty="0"/>
              <a:t> </a:t>
            </a:r>
            <a:r>
              <a:rPr lang="en-GB" dirty="0" err="1"/>
              <a:t>Beispiele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3775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0B179-64FE-9659-23EA-76187C933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74A96-AC14-67D7-A139-D870BB61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References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F352250-3A35-E911-9F3F-69B7E296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b="1" dirty="0"/>
              <a:t>URL as UI</a:t>
            </a:r>
          </a:p>
          <a:p>
            <a:r>
              <a:rPr lang="en-GB" u="sng" dirty="0">
                <a:hlinkClick r:id="rId2"/>
              </a:rPr>
              <a:t>https://github.com/django/django/compare/4.2.7</a:t>
            </a:r>
            <a:r>
              <a:rPr lang="en-GB" u="sng" dirty="0">
                <a:highlight>
                  <a:srgbClr val="FFFF00"/>
                </a:highlight>
                <a:hlinkClick r:id="rId2"/>
              </a:rPr>
              <a:t>...</a:t>
            </a:r>
            <a:r>
              <a:rPr lang="en-GB" u="sng" dirty="0">
                <a:hlinkClick r:id="rId2"/>
              </a:rPr>
              <a:t>main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- Compare two versions of a repository</a:t>
            </a:r>
          </a:p>
          <a:p>
            <a:r>
              <a:rPr lang="en-GB" dirty="0">
                <a:hlinkClick r:id="rId3"/>
              </a:rPr>
              <a:t>https://www.reddit.com/r/redditlaqueristas</a:t>
            </a:r>
            <a:r>
              <a:rPr lang="en-GB" dirty="0">
                <a:highlight>
                  <a:srgbClr val="FFFF00"/>
                </a:highlight>
                <a:hlinkClick r:id="rId3"/>
              </a:rPr>
              <a:t>.json</a:t>
            </a:r>
            <a:r>
              <a:rPr lang="en-GB" dirty="0">
                <a:highlight>
                  <a:srgbClr val="FFFF00"/>
                </a:highlight>
              </a:rPr>
              <a:t> </a:t>
            </a:r>
            <a:br>
              <a:rPr lang="en-GB" dirty="0">
                <a:highlight>
                  <a:srgbClr val="FFFF00"/>
                </a:highlight>
              </a:rPr>
            </a:br>
            <a:r>
              <a:rPr lang="en-GB" dirty="0"/>
              <a:t>- JSON view of a forum</a:t>
            </a:r>
          </a:p>
          <a:p>
            <a:r>
              <a:rPr lang="en-GB" dirty="0">
                <a:hlinkClick r:id="rId4"/>
              </a:rPr>
              <a:t>https://traintimes.org.uk/</a:t>
            </a:r>
            <a:r>
              <a:rPr lang="en-GB" dirty="0">
                <a:highlight>
                  <a:srgbClr val="FFFF00"/>
                </a:highlight>
                <a:hlinkClick r:id="rId4"/>
              </a:rPr>
              <a:t>LBG/brighton/13:30/tomorrow</a:t>
            </a:r>
            <a:r>
              <a:rPr lang="en-CH" dirty="0">
                <a:highlight>
                  <a:srgbClr val="FFFF00"/>
                </a:highlight>
              </a:rPr>
              <a:t> </a:t>
            </a:r>
            <a:br>
              <a:rPr lang="en-CH" dirty="0">
                <a:highlight>
                  <a:srgbClr val="FFFF00"/>
                </a:highlight>
              </a:rPr>
            </a:br>
            <a:r>
              <a:rPr lang="en-CH" dirty="0"/>
              <a:t>- Parameters of train rides as from, to, time of departure, day</a:t>
            </a:r>
          </a:p>
          <a:p>
            <a:pPr fontAlgn="base"/>
            <a:r>
              <a:rPr lang="en-GB" dirty="0">
                <a:hlinkClick r:id="rId5"/>
              </a:rPr>
              <a:t>https://github.com/git/git/blob/master/README.md?plain=1#</a:t>
            </a:r>
            <a:r>
              <a:rPr lang="en-GB" dirty="0">
                <a:highlight>
                  <a:srgbClr val="FFFF00"/>
                </a:highlight>
                <a:hlinkClick r:id="rId5"/>
              </a:rPr>
              <a:t>L18-L20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- Reference to and highlight multiple lines of </a:t>
            </a:r>
            <a:r>
              <a:rPr lang="en-GB"/>
              <a:t>code (’?</a:t>
            </a:r>
            <a:r>
              <a:rPr lang="en-GB" dirty="0"/>
              <a:t>plain=1’ = .md)</a:t>
            </a:r>
            <a:endParaRPr lang="en-CH" dirty="0"/>
          </a:p>
          <a:p>
            <a:pPr fontAlgn="base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1880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0930D-F049-7277-6364-E3DB5AD37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6BA02-5FF3-47F2-0059-FC345CE13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References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A065CA2-D039-DEDB-511F-8884EB63B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H" b="1" dirty="0"/>
              <a:t>Legal Domain</a:t>
            </a:r>
            <a:endParaRPr lang="en-GB" dirty="0"/>
          </a:p>
          <a:p>
            <a:r>
              <a:rPr lang="en-GB" dirty="0">
                <a:hlinkClick r:id="rId2"/>
              </a:rPr>
              <a:t>https://fedlex.admin.ch/</a:t>
            </a:r>
            <a:r>
              <a:rPr lang="en-GB" dirty="0"/>
              <a:t> 		(</a:t>
            </a:r>
            <a:r>
              <a:rPr lang="en-GB" dirty="0" err="1"/>
              <a:t>offiziell</a:t>
            </a:r>
            <a:r>
              <a:rPr lang="en-GB" dirty="0"/>
              <a:t>) </a:t>
            </a:r>
            <a:br>
              <a:rPr lang="en-GB" dirty="0"/>
            </a:br>
            <a:r>
              <a:rPr lang="en-GB" dirty="0"/>
              <a:t>- </a:t>
            </a:r>
            <a:r>
              <a:rPr lang="en-GB" dirty="0" err="1"/>
              <a:t>Rechtssammlung</a:t>
            </a:r>
            <a:r>
              <a:rPr lang="en-GB" dirty="0"/>
              <a:t> Bund</a:t>
            </a:r>
            <a:endParaRPr lang="en-GB" dirty="0">
              <a:hlinkClick r:id="rId3"/>
            </a:endParaRPr>
          </a:p>
          <a:p>
            <a:r>
              <a:rPr lang="en-GB" dirty="0">
                <a:hlinkClick r:id="rId2"/>
              </a:rPr>
              <a:t>https://zhlex.ch/</a:t>
            </a:r>
            <a:r>
              <a:rPr lang="en-GB" dirty="0"/>
              <a:t> 				(</a:t>
            </a:r>
            <a:r>
              <a:rPr lang="en-GB" dirty="0" err="1"/>
              <a:t>offiziell</a:t>
            </a:r>
            <a:r>
              <a:rPr lang="en-GB" dirty="0"/>
              <a:t>) </a:t>
            </a:r>
            <a:br>
              <a:rPr lang="en-GB" dirty="0"/>
            </a:br>
            <a:r>
              <a:rPr lang="en-GB" dirty="0"/>
              <a:t>- </a:t>
            </a:r>
            <a:r>
              <a:rPr lang="en-GB" dirty="0" err="1"/>
              <a:t>Rechtssamlung</a:t>
            </a:r>
            <a:r>
              <a:rPr lang="en-GB" dirty="0"/>
              <a:t> Kanton ZH</a:t>
            </a:r>
            <a:endParaRPr lang="en-GB" dirty="0">
              <a:hlinkClick r:id="rId3"/>
            </a:endParaRPr>
          </a:p>
          <a:p>
            <a:r>
              <a:rPr lang="en-GB" dirty="0">
                <a:hlinkClick r:id="rId3"/>
              </a:rPr>
              <a:t>https://bger.li/OR_41</a:t>
            </a:r>
            <a:r>
              <a:rPr lang="en-GB" dirty="0"/>
              <a:t> 			(</a:t>
            </a:r>
            <a:r>
              <a:rPr lang="en-GB" dirty="0" err="1"/>
              <a:t>privat</a:t>
            </a:r>
            <a:r>
              <a:rPr lang="en-GB" dirty="0"/>
              <a:t>) </a:t>
            </a:r>
            <a:br>
              <a:rPr lang="en-GB" dirty="0"/>
            </a:br>
            <a:r>
              <a:rPr lang="en-GB" dirty="0"/>
              <a:t>-&gt; </a:t>
            </a:r>
            <a:r>
              <a:rPr lang="en-GB" dirty="0" err="1"/>
              <a:t>über</a:t>
            </a:r>
            <a:r>
              <a:rPr lang="en-GB" dirty="0"/>
              <a:t> URL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Fundstelle</a:t>
            </a:r>
            <a:r>
              <a:rPr lang="en-GB" dirty="0"/>
              <a:t> </a:t>
            </a:r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dirty="0" err="1"/>
              <a:t>Gesetzestext</a:t>
            </a:r>
            <a:endParaRPr lang="en-GB" dirty="0">
              <a:hlinkClick r:id="rId3"/>
            </a:endParaRPr>
          </a:p>
          <a:p>
            <a:r>
              <a:rPr lang="en-GB" dirty="0">
                <a:hlinkClick r:id="rId3"/>
              </a:rPr>
              <a:t>https://gsetz.li</a:t>
            </a:r>
            <a:r>
              <a:rPr lang="en-GB" dirty="0"/>
              <a:t>  				(</a:t>
            </a:r>
            <a:r>
              <a:rPr lang="en-GB" dirty="0" err="1"/>
              <a:t>privat</a:t>
            </a:r>
            <a:r>
              <a:rPr lang="en-GB" dirty="0"/>
              <a:t>) </a:t>
            </a:r>
            <a:br>
              <a:rPr lang="en-GB" dirty="0"/>
            </a:br>
            <a:r>
              <a:rPr lang="en-GB" dirty="0"/>
              <a:t>-&gt; </a:t>
            </a:r>
            <a:r>
              <a:rPr lang="en-GB" dirty="0" err="1"/>
              <a:t>über</a:t>
            </a:r>
            <a:r>
              <a:rPr lang="en-GB" dirty="0"/>
              <a:t> das UI </a:t>
            </a:r>
            <a:r>
              <a:rPr lang="en-GB" dirty="0" err="1"/>
              <a:t>zum</a:t>
            </a:r>
            <a:r>
              <a:rPr lang="en-GB" dirty="0"/>
              <a:t> </a:t>
            </a:r>
            <a:r>
              <a:rPr lang="en-GB" dirty="0" err="1"/>
              <a:t>Gesetzestext</a:t>
            </a:r>
            <a:r>
              <a:rPr lang="en-GB" dirty="0"/>
              <a:t>, </a:t>
            </a:r>
            <a:r>
              <a:rPr lang="en-GB" dirty="0" err="1"/>
              <a:t>z.B.</a:t>
            </a:r>
            <a:r>
              <a:rPr lang="en-GB" dirty="0"/>
              <a:t> FR-</a:t>
            </a:r>
            <a:r>
              <a:rPr lang="en-GB" dirty="0">
                <a:hlinkClick r:id="rId4"/>
              </a:rPr>
              <a:t>KOBV</a:t>
            </a:r>
            <a:r>
              <a:rPr lang="en-GB" dirty="0"/>
              <a:t> (</a:t>
            </a:r>
            <a:r>
              <a:rPr lang="en-GB" dirty="0" err="1"/>
              <a:t>siehe</a:t>
            </a:r>
            <a:r>
              <a:rPr lang="en-GB" dirty="0"/>
              <a:t> /about)</a:t>
            </a:r>
            <a:endParaRPr lang="en-CH" dirty="0"/>
          </a:p>
          <a:p>
            <a:r>
              <a:rPr lang="en-GB" dirty="0">
                <a:hlinkClick r:id="rId5"/>
              </a:rPr>
              <a:t>https://www.zhlaw.ch/</a:t>
            </a:r>
            <a:r>
              <a:rPr lang="en-GB" dirty="0"/>
              <a:t> 			(</a:t>
            </a:r>
            <a:r>
              <a:rPr lang="en-GB" dirty="0" err="1"/>
              <a:t>privat</a:t>
            </a:r>
            <a:r>
              <a:rPr lang="en-GB" dirty="0"/>
              <a:t>) </a:t>
            </a:r>
            <a:br>
              <a:rPr lang="en-GB" dirty="0"/>
            </a:br>
            <a:r>
              <a:rPr lang="en-GB" dirty="0"/>
              <a:t>- </a:t>
            </a:r>
            <a:r>
              <a:rPr lang="en-GB" dirty="0" err="1"/>
              <a:t>Rechtssamlung</a:t>
            </a:r>
            <a:r>
              <a:rPr lang="en-GB" dirty="0"/>
              <a:t> Kanton ZH</a:t>
            </a:r>
          </a:p>
        </p:txBody>
      </p:sp>
    </p:spTree>
    <p:extLst>
      <p:ext uri="{BB962C8B-B14F-4D97-AF65-F5344CB8AC3E}">
        <p14:creationId xmlns:p14="http://schemas.microsoft.com/office/powerpoint/2010/main" val="2033015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FD17C-A71E-8D2B-D0B3-71B0C480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77B35-2748-8E5E-B385-379200AC93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 dirty="0"/>
              <a:t>eCH Politische Geschäfte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8CF091-0F67-212D-6FA4-3A624068D7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H" dirty="0"/>
              <a:t>Erlasse und Gesetzestexte</a:t>
            </a:r>
          </a:p>
          <a:p>
            <a:r>
              <a:rPr lang="en-CH"/>
              <a:t>Identifier (URL</a:t>
            </a:r>
            <a:r>
              <a:rPr lang="en-CH" dirty="0"/>
              <a:t>)</a:t>
            </a:r>
          </a:p>
          <a:p>
            <a:r>
              <a:rPr lang="en-CH" dirty="0">
                <a:highlight>
                  <a:srgbClr val="FFFF00"/>
                </a:highlight>
              </a:rPr>
              <a:t>xx.xx.xxxx</a:t>
            </a:r>
          </a:p>
        </p:txBody>
      </p:sp>
    </p:spTree>
    <p:extLst>
      <p:ext uri="{BB962C8B-B14F-4D97-AF65-F5344CB8AC3E}">
        <p14:creationId xmlns:p14="http://schemas.microsoft.com/office/powerpoint/2010/main" val="821157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98F20-93C5-6D27-947F-6BE7B58C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0A24-B0B1-D770-4934-AD3DABA1A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1C818-A194-3591-1E08-86E48F50C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68825" algn="l"/>
                <a:tab pos="4970463" algn="l"/>
              </a:tabLst>
            </a:pPr>
            <a:r>
              <a:rPr lang="en-CH" dirty="0"/>
              <a:t>Publikation 	5	-10’</a:t>
            </a:r>
          </a:p>
          <a:p>
            <a:pPr>
              <a:tabLst>
                <a:tab pos="4568825" algn="l"/>
                <a:tab pos="4970463" algn="l"/>
              </a:tabLst>
            </a:pPr>
            <a:r>
              <a:rPr lang="en-CH" dirty="0"/>
              <a:t>Zitierregeln 	40	-45’</a:t>
            </a:r>
          </a:p>
          <a:p>
            <a:pPr>
              <a:tabLst>
                <a:tab pos="4568825" algn="l"/>
                <a:tab pos="4970463" algn="l"/>
              </a:tabLst>
            </a:pPr>
            <a:r>
              <a:rPr lang="en-CH" dirty="0"/>
              <a:t>Fragen und Anregungen	5	-15’</a:t>
            </a:r>
          </a:p>
        </p:txBody>
      </p:sp>
    </p:spTree>
    <p:extLst>
      <p:ext uri="{BB962C8B-B14F-4D97-AF65-F5344CB8AC3E}">
        <p14:creationId xmlns:p14="http://schemas.microsoft.com/office/powerpoint/2010/main" val="1292622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928EC-1088-F4A4-03DA-25F8E5E48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4ED96-8B9C-6431-6089-6D1D9D42F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Publikation</a:t>
            </a:r>
            <a:r>
              <a:rPr lang="en-CH" baseline="30000" dirty="0"/>
              <a:t>1</a:t>
            </a:r>
            <a:endParaRPr lang="en-CH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950E57-CCCD-0AA3-5F39-41679BFBE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GB" b="1" dirty="0"/>
              <a:t>AS </a:t>
            </a:r>
            <a:r>
              <a:rPr lang="en-GB" dirty="0"/>
              <a:t>(Art. 11 </a:t>
            </a:r>
            <a:r>
              <a:rPr lang="en-GB" dirty="0" err="1"/>
              <a:t>PublG</a:t>
            </a:r>
            <a:r>
              <a:rPr lang="en-GB" dirty="0"/>
              <a:t>) */**/***</a:t>
            </a:r>
          </a:p>
          <a:p>
            <a:pPr lvl="1"/>
            <a:r>
              <a:rPr lang="en-GB" dirty="0" err="1"/>
              <a:t>neue</a:t>
            </a:r>
            <a:r>
              <a:rPr lang="en-GB" dirty="0"/>
              <a:t> normative Texte, und </a:t>
            </a:r>
            <a:r>
              <a:rPr lang="en-GB" dirty="0" err="1"/>
              <a:t>ihre</a:t>
            </a:r>
            <a:r>
              <a:rPr lang="en-GB" dirty="0"/>
              <a:t> </a:t>
            </a:r>
            <a:r>
              <a:rPr lang="en-GB" dirty="0" err="1"/>
              <a:t>Änderungen</a:t>
            </a:r>
            <a:r>
              <a:rPr lang="en-GB" dirty="0"/>
              <a:t> (Art. 2–4 </a:t>
            </a:r>
            <a:r>
              <a:rPr lang="en-GB" dirty="0" err="1"/>
              <a:t>PublG</a:t>
            </a:r>
            <a:r>
              <a:rPr lang="en-GB" dirty="0"/>
              <a:t>), </a:t>
            </a:r>
            <a:r>
              <a:rPr lang="en-GB" dirty="0" err="1"/>
              <a:t>chronologisch</a:t>
            </a:r>
            <a:endParaRPr lang="en-GB" dirty="0">
              <a:solidFill>
                <a:prstClr val="black"/>
              </a:solidFill>
              <a:latin typeface="Aptos" panose="02110004020202020204"/>
            </a:endParaRPr>
          </a:p>
          <a:p>
            <a:pPr lvl="1"/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massg</a:t>
            </a:r>
            <a:r>
              <a:rPr lang="en-GB" dirty="0" err="1"/>
              <a:t>eblich</a:t>
            </a:r>
            <a:r>
              <a:rPr lang="en-GB" dirty="0"/>
              <a:t> für die </a:t>
            </a:r>
            <a:r>
              <a:rPr lang="en-GB" dirty="0" err="1"/>
              <a:t>Entstehung</a:t>
            </a:r>
            <a:r>
              <a:rPr lang="en-GB" dirty="0"/>
              <a:t> von </a:t>
            </a:r>
            <a:r>
              <a:rPr lang="en-GB" dirty="0" err="1"/>
              <a:t>Rechtspflichten</a:t>
            </a:r>
            <a:r>
              <a:rPr lang="en-GB" dirty="0"/>
              <a:t> (positive </a:t>
            </a:r>
            <a:r>
              <a:rPr lang="en-GB" dirty="0" err="1"/>
              <a:t>Rechtskraft</a:t>
            </a:r>
            <a:r>
              <a:rPr lang="en-GB" dirty="0"/>
              <a:t>)</a:t>
            </a:r>
          </a:p>
          <a:p>
            <a:r>
              <a:rPr lang="en-GB" b="1" dirty="0"/>
              <a:t>SR</a:t>
            </a:r>
            <a:r>
              <a:rPr lang="en-GB" dirty="0"/>
              <a:t>*</a:t>
            </a:r>
          </a:p>
          <a:p>
            <a:pPr lvl="1"/>
            <a:r>
              <a:rPr lang="en-GB" dirty="0" err="1"/>
              <a:t>tatsächlicher</a:t>
            </a:r>
            <a:r>
              <a:rPr lang="en-GB" dirty="0"/>
              <a:t> Stand des </a:t>
            </a:r>
            <a:r>
              <a:rPr lang="en-GB" dirty="0" err="1"/>
              <a:t>Rechts</a:t>
            </a:r>
            <a:r>
              <a:rPr lang="en-GB" dirty="0"/>
              <a:t> (=in Kraft) </a:t>
            </a:r>
            <a:r>
              <a:rPr lang="en-GB" dirty="0" err="1"/>
              <a:t>inkl</a:t>
            </a:r>
            <a:r>
              <a:rPr lang="en-GB" dirty="0"/>
              <a:t>. </a:t>
            </a:r>
            <a:r>
              <a:rPr lang="en-GB" dirty="0" err="1"/>
              <a:t>Staatsverträge</a:t>
            </a:r>
            <a:r>
              <a:rPr lang="en-GB" dirty="0"/>
              <a:t>, </a:t>
            </a:r>
            <a:r>
              <a:rPr lang="en-GB" dirty="0" err="1"/>
              <a:t>systematisch</a:t>
            </a:r>
            <a:endParaRPr lang="en-GB" dirty="0"/>
          </a:p>
          <a:p>
            <a:pPr lvl="1"/>
            <a:r>
              <a:rPr lang="en-GB" dirty="0" err="1"/>
              <a:t>bereinigt</a:t>
            </a:r>
            <a:r>
              <a:rPr lang="en-GB" dirty="0"/>
              <a:t> und </a:t>
            </a:r>
            <a:r>
              <a:rPr lang="en-GB" dirty="0" err="1"/>
              <a:t>nach</a:t>
            </a:r>
            <a:r>
              <a:rPr lang="en-GB" dirty="0"/>
              <a:t> </a:t>
            </a:r>
            <a:r>
              <a:rPr lang="en-GB" dirty="0" err="1"/>
              <a:t>Sachgebieten</a:t>
            </a:r>
            <a:r>
              <a:rPr lang="en-GB" dirty="0"/>
              <a:t> </a:t>
            </a:r>
            <a:r>
              <a:rPr lang="en-GB" dirty="0" err="1"/>
              <a:t>geordnet</a:t>
            </a:r>
            <a:r>
              <a:rPr lang="en-GB" dirty="0"/>
              <a:t> </a:t>
            </a:r>
          </a:p>
          <a:p>
            <a:pPr lvl="1"/>
            <a:r>
              <a:rPr lang="en-GB" dirty="0" err="1"/>
              <a:t>reine</a:t>
            </a:r>
            <a:r>
              <a:rPr lang="en-GB" dirty="0"/>
              <a:t> </a:t>
            </a:r>
            <a:r>
              <a:rPr lang="en-GB" dirty="0" err="1"/>
              <a:t>Informationsquelle</a:t>
            </a:r>
            <a:r>
              <a:rPr lang="en-GB" dirty="0"/>
              <a:t>, </a:t>
            </a:r>
            <a:r>
              <a:rPr lang="en-GB" dirty="0" err="1"/>
              <a:t>insb</a:t>
            </a:r>
            <a:r>
              <a:rPr lang="en-GB" dirty="0"/>
              <a:t>. </a:t>
            </a:r>
            <a:r>
              <a:rPr lang="en-GB" dirty="0" err="1"/>
              <a:t>keine</a:t>
            </a:r>
            <a:r>
              <a:rPr lang="en-GB" dirty="0"/>
              <a:t> negative </a:t>
            </a:r>
            <a:r>
              <a:rPr lang="en-GB" dirty="0" err="1"/>
              <a:t>Rechtskraft</a:t>
            </a:r>
            <a:endParaRPr lang="en-GB" dirty="0"/>
          </a:p>
          <a:p>
            <a:pPr lvl="1"/>
            <a:r>
              <a:rPr lang="en-GB" dirty="0"/>
              <a:t>“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Ausnahme</a:t>
            </a:r>
            <a:r>
              <a:rPr lang="en-GB" dirty="0"/>
              <a:t> der nicht </a:t>
            </a:r>
            <a:r>
              <a:rPr lang="en-GB" dirty="0" err="1"/>
              <a:t>rechtsetzenden</a:t>
            </a:r>
            <a:r>
              <a:rPr lang="en-GB" dirty="0"/>
              <a:t> </a:t>
            </a:r>
            <a:r>
              <a:rPr lang="en-GB" dirty="0" err="1"/>
              <a:t>Bundesbeschlüsse</a:t>
            </a:r>
            <a:r>
              <a:rPr lang="en-GB" dirty="0"/>
              <a:t> </a:t>
            </a:r>
            <a:r>
              <a:rPr lang="en-GB" dirty="0" err="1"/>
              <a:t>über</a:t>
            </a:r>
            <a:r>
              <a:rPr lang="en-GB" dirty="0"/>
              <a:t> die </a:t>
            </a:r>
            <a:r>
              <a:rPr lang="en-GB" dirty="0" err="1"/>
              <a:t>Genehmigung</a:t>
            </a:r>
            <a:r>
              <a:rPr lang="en-GB" dirty="0"/>
              <a:t> von </a:t>
            </a:r>
            <a:r>
              <a:rPr lang="en-GB" dirty="0" err="1"/>
              <a:t>völkerrechtlichen</a:t>
            </a:r>
            <a:r>
              <a:rPr lang="en-GB" dirty="0"/>
              <a:t> </a:t>
            </a:r>
            <a:r>
              <a:rPr lang="en-GB" dirty="0" err="1"/>
              <a:t>Verträgen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von </a:t>
            </a:r>
            <a:r>
              <a:rPr lang="en-GB" dirty="0" err="1"/>
              <a:t>Beschlüssen</a:t>
            </a:r>
            <a:r>
              <a:rPr lang="en-GB" dirty="0"/>
              <a:t> des </a:t>
            </a:r>
            <a:r>
              <a:rPr lang="en-GB" dirty="0" err="1"/>
              <a:t>internationalen</a:t>
            </a:r>
            <a:r>
              <a:rPr lang="en-GB" dirty="0"/>
              <a:t> </a:t>
            </a:r>
            <a:r>
              <a:rPr lang="en-GB" dirty="0" err="1"/>
              <a:t>Rechts</a:t>
            </a:r>
            <a:r>
              <a:rPr lang="en-GB" dirty="0"/>
              <a:t>, </a:t>
            </a:r>
            <a:r>
              <a:rPr lang="en-GB" dirty="0" err="1"/>
              <a:t>sowie</a:t>
            </a:r>
            <a:r>
              <a:rPr lang="en-GB" dirty="0"/>
              <a:t> der </a:t>
            </a:r>
            <a:r>
              <a:rPr lang="en-GB" dirty="0" err="1"/>
              <a:t>Kantonsverfassungen</a:t>
            </a:r>
            <a:r>
              <a:rPr lang="en-GB" dirty="0"/>
              <a:t>”</a:t>
            </a:r>
          </a:p>
          <a:p>
            <a:pPr lvl="1"/>
            <a:r>
              <a:rPr lang="en-GB" dirty="0" err="1"/>
              <a:t>ersetzt</a:t>
            </a:r>
            <a:r>
              <a:rPr lang="en-GB" dirty="0"/>
              <a:t> die </a:t>
            </a:r>
            <a:r>
              <a:rPr lang="en-GB" dirty="0" err="1"/>
              <a:t>Bereinigte</a:t>
            </a:r>
            <a:r>
              <a:rPr lang="en-GB" dirty="0"/>
              <a:t> </a:t>
            </a:r>
            <a:r>
              <a:rPr lang="en-GB" dirty="0" err="1"/>
              <a:t>Sammlung</a:t>
            </a:r>
            <a:r>
              <a:rPr lang="en-GB" dirty="0"/>
              <a:t> (BS) (1848 bis 1947)</a:t>
            </a:r>
          </a:p>
          <a:p>
            <a:r>
              <a:rPr lang="en-GB" b="1" dirty="0" err="1"/>
              <a:t>BBl</a:t>
            </a:r>
            <a:r>
              <a:rPr lang="en-GB" b="1" dirty="0"/>
              <a:t> </a:t>
            </a:r>
            <a:r>
              <a:rPr lang="en-GB" dirty="0"/>
              <a:t>(Art. 13 </a:t>
            </a:r>
            <a:r>
              <a:rPr lang="en-GB" dirty="0" err="1"/>
              <a:t>PublG</a:t>
            </a:r>
            <a:r>
              <a:rPr lang="en-GB" dirty="0"/>
              <a:t>)</a:t>
            </a:r>
          </a:p>
          <a:p>
            <a:pPr lvl="1"/>
            <a:r>
              <a:rPr lang="en-GB" dirty="0" err="1"/>
              <a:t>Botschaften</a:t>
            </a:r>
            <a:r>
              <a:rPr lang="en-GB" dirty="0"/>
              <a:t> und </a:t>
            </a:r>
            <a:r>
              <a:rPr lang="en-GB" dirty="0" err="1"/>
              <a:t>Entwürfe</a:t>
            </a:r>
            <a:r>
              <a:rPr lang="en-GB" dirty="0"/>
              <a:t> des </a:t>
            </a:r>
            <a:r>
              <a:rPr lang="en-GB" dirty="0" err="1"/>
              <a:t>Bundesrates</a:t>
            </a:r>
            <a:r>
              <a:rPr lang="en-GB" dirty="0"/>
              <a:t> und der </a:t>
            </a:r>
            <a:r>
              <a:rPr lang="en-GB" dirty="0" err="1"/>
              <a:t>Kommissionen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Erlassen</a:t>
            </a:r>
            <a:r>
              <a:rPr lang="en-GB" dirty="0"/>
              <a:t> der </a:t>
            </a:r>
            <a:r>
              <a:rPr lang="en-GB" dirty="0" err="1"/>
              <a:t>Bundesversammlung</a:t>
            </a:r>
            <a:r>
              <a:rPr lang="en-GB" dirty="0"/>
              <a:t> </a:t>
            </a:r>
            <a:r>
              <a:rPr lang="en-GB" dirty="0" err="1"/>
              <a:t>sowie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die neu </a:t>
            </a:r>
            <a:r>
              <a:rPr lang="en-GB" dirty="0" err="1"/>
              <a:t>verabschiedeten</a:t>
            </a:r>
            <a:r>
              <a:rPr lang="en-GB" dirty="0"/>
              <a:t> </a:t>
            </a:r>
            <a:r>
              <a:rPr lang="en-GB" dirty="0" err="1"/>
              <a:t>Bundesgesetze</a:t>
            </a:r>
            <a:r>
              <a:rPr lang="en-GB" dirty="0"/>
              <a:t> </a:t>
            </a:r>
            <a:r>
              <a:rPr lang="en-GB" dirty="0" err="1"/>
              <a:t>jeweils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</a:t>
            </a:r>
            <a:r>
              <a:rPr lang="en-GB" dirty="0" err="1"/>
              <a:t>Hinweis</a:t>
            </a:r>
            <a:r>
              <a:rPr lang="en-GB" dirty="0"/>
              <a:t> auf die </a:t>
            </a:r>
            <a:r>
              <a:rPr lang="en-GB" dirty="0" err="1"/>
              <a:t>Referendumsfrist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E5E58-7CE1-90B8-F9D8-521DB3A2C130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aseline="30000" dirty="0"/>
              <a:t>1 </a:t>
            </a:r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5325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DE63-0317-7BEB-F898-A192A618C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93E76E-309A-2ABC-7619-5743A9E69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International</a:t>
            </a:r>
          </a:p>
          <a:p>
            <a:pPr lvl="1"/>
            <a:r>
              <a:rPr lang="en-GB" dirty="0" err="1"/>
              <a:t>Völkerrechtliche</a:t>
            </a:r>
            <a:r>
              <a:rPr lang="en-GB" dirty="0"/>
              <a:t> </a:t>
            </a:r>
            <a:r>
              <a:rPr lang="en-GB" dirty="0" err="1"/>
              <a:t>Verträge</a:t>
            </a:r>
            <a:endParaRPr lang="en-GB" dirty="0"/>
          </a:p>
          <a:p>
            <a:pPr lvl="1"/>
            <a:r>
              <a:rPr lang="en-GB" dirty="0" err="1"/>
              <a:t>Beschlüsse</a:t>
            </a:r>
            <a:r>
              <a:rPr lang="en-GB" dirty="0"/>
              <a:t> des </a:t>
            </a:r>
            <a:r>
              <a:rPr lang="en-GB" dirty="0" err="1"/>
              <a:t>internationalen</a:t>
            </a:r>
            <a:r>
              <a:rPr lang="en-GB" dirty="0"/>
              <a:t> </a:t>
            </a:r>
            <a:r>
              <a:rPr lang="en-GB" dirty="0" err="1"/>
              <a:t>Rechts</a:t>
            </a:r>
            <a:endParaRPr lang="en-GB" dirty="0"/>
          </a:p>
          <a:p>
            <a:pPr lvl="1"/>
            <a:r>
              <a:rPr lang="en-GB" dirty="0" err="1"/>
              <a:t>Rechtsakte</a:t>
            </a:r>
            <a:r>
              <a:rPr lang="en-GB" dirty="0"/>
              <a:t> der EU (</a:t>
            </a:r>
            <a:r>
              <a:rPr lang="en-GB" dirty="0" err="1"/>
              <a:t>bilaterale</a:t>
            </a:r>
            <a:r>
              <a:rPr lang="en-GB" dirty="0"/>
              <a:t> </a:t>
            </a:r>
            <a:r>
              <a:rPr lang="en-GB" dirty="0" err="1"/>
              <a:t>Verträge</a:t>
            </a:r>
            <a:r>
              <a:rPr lang="en-GB" dirty="0"/>
              <a:t> 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 err="1"/>
              <a:t>sektorielle</a:t>
            </a:r>
            <a:r>
              <a:rPr lang="en-GB" dirty="0"/>
              <a:t> </a:t>
            </a:r>
            <a:r>
              <a:rPr lang="en-GB" dirty="0" err="1"/>
              <a:t>Abkommen</a:t>
            </a:r>
            <a:r>
              <a:rPr lang="en-GB" dirty="0"/>
              <a:t>)</a:t>
            </a:r>
          </a:p>
          <a:p>
            <a:r>
              <a:rPr lang="en-GB" dirty="0"/>
              <a:t>Bund</a:t>
            </a:r>
          </a:p>
          <a:p>
            <a:pPr lvl="1"/>
            <a:r>
              <a:rPr lang="en-GB" dirty="0" err="1"/>
              <a:t>Verfassung</a:t>
            </a:r>
            <a:endParaRPr lang="en-GB" dirty="0"/>
          </a:p>
          <a:p>
            <a:pPr lvl="1"/>
            <a:r>
              <a:rPr lang="en-GB" dirty="0" err="1"/>
              <a:t>Gesetze</a:t>
            </a:r>
            <a:endParaRPr lang="en-GB" dirty="0"/>
          </a:p>
          <a:p>
            <a:pPr lvl="1"/>
            <a:r>
              <a:rPr lang="en-GB" dirty="0" err="1"/>
              <a:t>Verordnungen</a:t>
            </a:r>
            <a:endParaRPr lang="en-GB" dirty="0"/>
          </a:p>
          <a:p>
            <a:pPr lvl="2"/>
            <a:r>
              <a:rPr lang="en-GB" dirty="0"/>
              <a:t>der </a:t>
            </a:r>
            <a:r>
              <a:rPr lang="en-GB" dirty="0" err="1"/>
              <a:t>Bundesversammlung</a:t>
            </a:r>
            <a:endParaRPr lang="en-GB" dirty="0"/>
          </a:p>
          <a:p>
            <a:pPr lvl="2"/>
            <a:r>
              <a:rPr lang="en-GB" dirty="0"/>
              <a:t>des </a:t>
            </a:r>
            <a:r>
              <a:rPr lang="en-GB" dirty="0" err="1"/>
              <a:t>Bundesrats</a:t>
            </a:r>
            <a:endParaRPr lang="en-GB" dirty="0"/>
          </a:p>
          <a:p>
            <a:r>
              <a:rPr lang="en-GB" dirty="0" err="1"/>
              <a:t>Kantone</a:t>
            </a:r>
            <a:endParaRPr lang="en-GB" dirty="0"/>
          </a:p>
          <a:p>
            <a:pPr lvl="1"/>
            <a:r>
              <a:rPr lang="en-GB" dirty="0" err="1"/>
              <a:t>Verfassungen</a:t>
            </a:r>
            <a:endParaRPr lang="en-GB" dirty="0"/>
          </a:p>
          <a:p>
            <a:pPr lvl="1"/>
            <a:r>
              <a:rPr lang="en-GB" dirty="0" err="1"/>
              <a:t>Verträge</a:t>
            </a:r>
            <a:r>
              <a:rPr lang="en-GB" dirty="0"/>
              <a:t> </a:t>
            </a:r>
            <a:r>
              <a:rPr lang="en-GB" dirty="0" err="1"/>
              <a:t>zwischen</a:t>
            </a:r>
            <a:r>
              <a:rPr lang="en-GB" dirty="0"/>
              <a:t> Bund und </a:t>
            </a:r>
            <a:r>
              <a:rPr lang="en-GB" dirty="0" err="1"/>
              <a:t>Kantonen</a:t>
            </a:r>
            <a:endParaRPr lang="en-GB" dirty="0"/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C4E2D3-7406-3F32-CF21-47F5BFD3A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Publikation – Erlasse/Texte</a:t>
            </a:r>
          </a:p>
        </p:txBody>
      </p:sp>
    </p:spTree>
    <p:extLst>
      <p:ext uri="{BB962C8B-B14F-4D97-AF65-F5344CB8AC3E}">
        <p14:creationId xmlns:p14="http://schemas.microsoft.com/office/powerpoint/2010/main" val="3884635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551EA-EC8D-B39A-976E-3CCCCDE0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05BE68-FE43-4B30-4EA5-6BB4C14F4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Das Register der </a:t>
            </a:r>
            <a:r>
              <a:rPr lang="en-GB" b="1" dirty="0" err="1"/>
              <a:t>Sektoriellen</a:t>
            </a:r>
            <a:r>
              <a:rPr lang="en-GB" b="1" dirty="0"/>
              <a:t> </a:t>
            </a:r>
            <a:r>
              <a:rPr lang="en-GB" b="1" dirty="0" err="1"/>
              <a:t>Abkommen</a:t>
            </a:r>
            <a:r>
              <a:rPr lang="en-GB" dirty="0"/>
              <a:t> </a:t>
            </a:r>
            <a:r>
              <a:rPr lang="en-GB" dirty="0" err="1"/>
              <a:t>listet</a:t>
            </a:r>
            <a:r>
              <a:rPr lang="en-GB" dirty="0"/>
              <a:t> / </a:t>
            </a:r>
            <a:r>
              <a:rPr lang="en-GB" dirty="0" err="1"/>
              <a:t>umfasst</a:t>
            </a:r>
            <a:r>
              <a:rPr lang="en-GB" dirty="0"/>
              <a:t> </a:t>
            </a:r>
            <a:r>
              <a:rPr lang="en-GB" dirty="0" err="1"/>
              <a:t>diejenigen</a:t>
            </a:r>
            <a:r>
              <a:rPr lang="en-GB" dirty="0"/>
              <a:t> </a:t>
            </a:r>
            <a:r>
              <a:rPr lang="en-GB" dirty="0" err="1"/>
              <a:t>Akte</a:t>
            </a:r>
            <a:r>
              <a:rPr lang="en-GB" dirty="0"/>
              <a:t> des EU-</a:t>
            </a:r>
            <a:r>
              <a:rPr lang="en-GB" dirty="0" err="1"/>
              <a:t>Rechts</a:t>
            </a:r>
            <a:r>
              <a:rPr lang="en-GB" dirty="0"/>
              <a:t> auf, auf die die </a:t>
            </a:r>
            <a:r>
              <a:rPr lang="en-GB" dirty="0" err="1"/>
              <a:t>bilateralen</a:t>
            </a:r>
            <a:r>
              <a:rPr lang="en-GB" dirty="0"/>
              <a:t> </a:t>
            </a:r>
            <a:r>
              <a:rPr lang="en-GB" dirty="0" err="1"/>
              <a:t>Abkommen</a:t>
            </a:r>
            <a:r>
              <a:rPr lang="en-GB" dirty="0"/>
              <a:t> </a:t>
            </a:r>
            <a:r>
              <a:rPr lang="en-GB" dirty="0" err="1"/>
              <a:t>verweisen</a:t>
            </a:r>
            <a:r>
              <a:rPr lang="en-GB" dirty="0"/>
              <a:t> / auf die Schweiz </a:t>
            </a:r>
            <a:r>
              <a:rPr lang="en-GB" dirty="0" err="1"/>
              <a:t>anwendbar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.</a:t>
            </a:r>
          </a:p>
          <a:p>
            <a:r>
              <a:rPr lang="en-GB" dirty="0" err="1"/>
              <a:t>Aufgelistet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hierbei</a:t>
            </a:r>
            <a:r>
              <a:rPr lang="en-GB" dirty="0"/>
              <a:t> </a:t>
            </a:r>
            <a:r>
              <a:rPr lang="en-GB" dirty="0" err="1"/>
              <a:t>jeweils</a:t>
            </a:r>
            <a:r>
              <a:rPr lang="en-GB" dirty="0"/>
              <a:t> die </a:t>
            </a:r>
            <a:r>
              <a:rPr lang="en-GB" b="1" dirty="0" err="1"/>
              <a:t>Basisrechtsakte</a:t>
            </a:r>
            <a:r>
              <a:rPr lang="en-GB" dirty="0"/>
              <a:t> und </a:t>
            </a:r>
            <a:r>
              <a:rPr lang="en-GB" dirty="0" err="1"/>
              <a:t>im</a:t>
            </a:r>
            <a:r>
              <a:rPr lang="en-GB" dirty="0"/>
              <a:t> Anschluss </a:t>
            </a:r>
            <a:r>
              <a:rPr lang="en-GB" dirty="0" err="1"/>
              <a:t>daran</a:t>
            </a:r>
            <a:r>
              <a:rPr lang="en-GB" dirty="0"/>
              <a:t> </a:t>
            </a:r>
            <a:r>
              <a:rPr lang="en-GB" dirty="0" err="1"/>
              <a:t>sämtliche</a:t>
            </a:r>
            <a:r>
              <a:rPr lang="en-GB" dirty="0"/>
              <a:t> </a:t>
            </a:r>
            <a:r>
              <a:rPr lang="en-GB" b="1" dirty="0" err="1"/>
              <a:t>Änderungen</a:t>
            </a:r>
            <a:r>
              <a:rPr lang="en-GB" dirty="0"/>
              <a:t>, </a:t>
            </a:r>
            <a:r>
              <a:rPr lang="en-GB" dirty="0" err="1"/>
              <a:t>soweit</a:t>
            </a:r>
            <a:r>
              <a:rPr lang="en-GB" dirty="0"/>
              <a:t> </a:t>
            </a:r>
            <a:r>
              <a:rPr lang="en-GB" dirty="0" err="1"/>
              <a:t>sie</a:t>
            </a:r>
            <a:r>
              <a:rPr lang="en-GB" dirty="0"/>
              <a:t> für die Schweiz </a:t>
            </a:r>
            <a:r>
              <a:rPr lang="en-GB" dirty="0" err="1"/>
              <a:t>massgebend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. </a:t>
            </a:r>
          </a:p>
          <a:p>
            <a:endParaRPr lang="en-GB" dirty="0"/>
          </a:p>
          <a:p>
            <a:pPr>
              <a:buFont typeface="Symbol" pitchFamily="2" charset="2"/>
              <a:buChar char="Þ"/>
            </a:pPr>
            <a:r>
              <a:rPr lang="en-GB" dirty="0"/>
              <a:t>Die </a:t>
            </a:r>
            <a:r>
              <a:rPr lang="en-GB" dirty="0" err="1"/>
              <a:t>oder</a:t>
            </a:r>
            <a:r>
              <a:rPr lang="en-GB" dirty="0"/>
              <a:t> der </a:t>
            </a:r>
            <a:r>
              <a:rPr lang="en-GB" dirty="0" err="1"/>
              <a:t>Rechtsuchende</a:t>
            </a:r>
            <a:r>
              <a:rPr lang="en-GB" dirty="0"/>
              <a:t> muss den </a:t>
            </a:r>
            <a:r>
              <a:rPr lang="en-GB" dirty="0" err="1"/>
              <a:t>aktuellen</a:t>
            </a:r>
            <a:r>
              <a:rPr lang="en-GB" dirty="0"/>
              <a:t> Stand </a:t>
            </a:r>
            <a:r>
              <a:rPr lang="en-GB" dirty="0" err="1"/>
              <a:t>eines</a:t>
            </a:r>
            <a:r>
              <a:rPr lang="en-GB" dirty="0"/>
              <a:t> </a:t>
            </a:r>
            <a:r>
              <a:rPr lang="en-GB" dirty="0" err="1"/>
              <a:t>Rechtsakts</a:t>
            </a:r>
            <a:r>
              <a:rPr lang="en-GB" dirty="0"/>
              <a:t> </a:t>
            </a:r>
            <a:r>
              <a:rPr lang="en-GB" dirty="0" err="1"/>
              <a:t>selbst</a:t>
            </a:r>
            <a:r>
              <a:rPr lang="en-GB" dirty="0"/>
              <a:t> </a:t>
            </a:r>
            <a:r>
              <a:rPr lang="en-GB" dirty="0" err="1"/>
              <a:t>eruieren</a:t>
            </a:r>
            <a:r>
              <a:rPr lang="en-GB" dirty="0"/>
              <a:t>, </a:t>
            </a:r>
            <a:r>
              <a:rPr lang="en-GB" dirty="0" err="1"/>
              <a:t>indem</a:t>
            </a:r>
            <a:r>
              <a:rPr lang="en-GB" dirty="0"/>
              <a:t> </a:t>
            </a:r>
            <a:r>
              <a:rPr lang="en-GB" dirty="0" err="1"/>
              <a:t>sie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er </a:t>
            </a:r>
            <a:r>
              <a:rPr lang="en-GB" dirty="0" err="1"/>
              <a:t>vom</a:t>
            </a:r>
            <a:r>
              <a:rPr lang="en-GB" dirty="0"/>
              <a:t> </a:t>
            </a:r>
            <a:r>
              <a:rPr lang="en-GB" dirty="0" err="1"/>
              <a:t>Basisrechtsakt</a:t>
            </a:r>
            <a:r>
              <a:rPr lang="en-GB" dirty="0"/>
              <a:t> </a:t>
            </a:r>
            <a:r>
              <a:rPr lang="en-GB" dirty="0" err="1"/>
              <a:t>sämtliche</a:t>
            </a:r>
            <a:r>
              <a:rPr lang="en-GB" dirty="0"/>
              <a:t> </a:t>
            </a:r>
            <a:r>
              <a:rPr lang="en-GB" dirty="0" err="1"/>
              <a:t>aktuellen</a:t>
            </a:r>
            <a:r>
              <a:rPr lang="en-GB" dirty="0"/>
              <a:t> </a:t>
            </a:r>
            <a:r>
              <a:rPr lang="en-GB" dirty="0" err="1"/>
              <a:t>Änderungsakte</a:t>
            </a:r>
            <a:r>
              <a:rPr lang="en-GB" dirty="0"/>
              <a:t> in den </a:t>
            </a:r>
            <a:r>
              <a:rPr lang="en-GB" dirty="0" err="1"/>
              <a:t>Rechtsakt</a:t>
            </a:r>
            <a:r>
              <a:rPr lang="en-GB" dirty="0"/>
              <a:t> </a:t>
            </a:r>
            <a:r>
              <a:rPr lang="en-GB" dirty="0" err="1"/>
              <a:t>integriert</a:t>
            </a:r>
            <a:r>
              <a:rPr lang="en-GB" dirty="0"/>
              <a:t>. 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37164-4362-21F9-8E00-90D4491A2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Publikation – </a:t>
            </a:r>
            <a:r>
              <a:rPr lang="de-CH" dirty="0"/>
              <a:t>Sektorielle Abkommen</a:t>
            </a:r>
            <a:r>
              <a:rPr lang="de-CH" baseline="30000" dirty="0"/>
              <a:t>5</a:t>
            </a:r>
            <a:r>
              <a:rPr lang="en-CH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D3CC75-249C-D8CB-F889-E46F80DA1316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aseline="30000" dirty="0"/>
              <a:t>5 </a:t>
            </a:r>
            <a:r>
              <a:rPr lang="en-GB" dirty="0"/>
              <a:t>https://</a:t>
            </a:r>
            <a:r>
              <a:rPr lang="en-GB" dirty="0" err="1"/>
              <a:t>www.fedlex.admin.ch</a:t>
            </a:r>
            <a:r>
              <a:rPr lang="en-GB" dirty="0"/>
              <a:t>/de/sector-specific-agreements/notice-to-users</a:t>
            </a:r>
          </a:p>
        </p:txBody>
      </p:sp>
    </p:spTree>
    <p:extLst>
      <p:ext uri="{BB962C8B-B14F-4D97-AF65-F5344CB8AC3E}">
        <p14:creationId xmlns:p14="http://schemas.microsoft.com/office/powerpoint/2010/main" val="33611682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6A6D-7689-FD36-F986-242870BB0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E966E22-AC79-9664-E1A4-30ED0640E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b="1" dirty="0" err="1"/>
              <a:t>Bereinigung</a:t>
            </a:r>
            <a:r>
              <a:rPr lang="en-GB" b="1" dirty="0"/>
              <a:t> (Definition)</a:t>
            </a:r>
            <a:r>
              <a:rPr lang="en-GB" dirty="0"/>
              <a:t>: </a:t>
            </a:r>
            <a:r>
              <a:rPr lang="en-GB" dirty="0" err="1"/>
              <a:t>Laufende</a:t>
            </a:r>
            <a:r>
              <a:rPr lang="en-GB" dirty="0"/>
              <a:t> </a:t>
            </a:r>
            <a:r>
              <a:rPr lang="en-GB" dirty="0" err="1"/>
              <a:t>Nachführung</a:t>
            </a:r>
            <a:r>
              <a:rPr lang="en-GB" dirty="0"/>
              <a:t> (Art. 34 Abs. 3 </a:t>
            </a:r>
            <a:r>
              <a:rPr lang="en-GB" dirty="0" err="1"/>
              <a:t>PublG</a:t>
            </a:r>
            <a:r>
              <a:rPr lang="en-GB" dirty="0"/>
              <a:t>) </a:t>
            </a:r>
            <a:r>
              <a:rPr lang="en-GB" dirty="0" err="1"/>
              <a:t>jeder</a:t>
            </a:r>
            <a:r>
              <a:rPr lang="en-GB" dirty="0"/>
              <a:t> </a:t>
            </a:r>
            <a:r>
              <a:rPr lang="en-GB" dirty="0" err="1"/>
              <a:t>formellen</a:t>
            </a:r>
            <a:r>
              <a:rPr lang="en-GB" dirty="0"/>
              <a:t> </a:t>
            </a:r>
            <a:r>
              <a:rPr lang="en-GB" dirty="0" err="1"/>
              <a:t>Änderung</a:t>
            </a:r>
            <a:r>
              <a:rPr lang="en-GB" dirty="0"/>
              <a:t> in der AS (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 err="1"/>
              <a:t>BBl</a:t>
            </a:r>
            <a:r>
              <a:rPr lang="en-GB" dirty="0"/>
              <a:t> für </a:t>
            </a:r>
            <a:r>
              <a:rPr lang="en-GB" dirty="0" err="1"/>
              <a:t>Kantonsverfassungen</a:t>
            </a:r>
            <a:r>
              <a:rPr lang="en-GB" dirty="0"/>
              <a:t>); </a:t>
            </a:r>
            <a:r>
              <a:rPr lang="en-GB" dirty="0" err="1"/>
              <a:t>grds</a:t>
            </a:r>
            <a:r>
              <a:rPr lang="en-GB" dirty="0"/>
              <a:t>. 5 Tage </a:t>
            </a:r>
            <a:r>
              <a:rPr lang="en-GB" dirty="0" err="1"/>
              <a:t>vor</a:t>
            </a:r>
            <a:r>
              <a:rPr lang="en-GB" dirty="0"/>
              <a:t> </a:t>
            </a:r>
            <a:r>
              <a:rPr lang="en-GB" dirty="0" err="1"/>
              <a:t>Inkrafttreten</a:t>
            </a:r>
            <a:r>
              <a:rPr lang="en-GB" dirty="0"/>
              <a:t> (=Stand)</a:t>
            </a:r>
          </a:p>
          <a:p>
            <a:pPr lvl="1"/>
            <a:r>
              <a:rPr lang="en-GB" dirty="0" err="1"/>
              <a:t>formell</a:t>
            </a:r>
            <a:r>
              <a:rPr lang="en-GB" dirty="0"/>
              <a:t> </a:t>
            </a:r>
            <a:r>
              <a:rPr lang="en-GB" dirty="0" err="1"/>
              <a:t>aufgehobene</a:t>
            </a:r>
            <a:r>
              <a:rPr lang="en-GB" dirty="0"/>
              <a:t> </a:t>
            </a:r>
            <a:r>
              <a:rPr lang="en-GB" dirty="0" err="1"/>
              <a:t>Bestimmungen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dirty="0" err="1"/>
              <a:t>Erlass</a:t>
            </a:r>
            <a:r>
              <a:rPr lang="en-GB" dirty="0"/>
              <a:t> </a:t>
            </a:r>
            <a:r>
              <a:rPr lang="en-GB" dirty="0" err="1"/>
              <a:t>weggelassen</a:t>
            </a:r>
            <a:r>
              <a:rPr lang="en-GB" dirty="0"/>
              <a:t> (und </a:t>
            </a:r>
            <a:r>
              <a:rPr lang="en-GB" dirty="0" err="1"/>
              <a:t>aufgehobene</a:t>
            </a:r>
            <a:r>
              <a:rPr lang="en-GB" dirty="0"/>
              <a:t> </a:t>
            </a:r>
            <a:r>
              <a:rPr lang="en-GB" dirty="0" err="1"/>
              <a:t>Erlasse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 nicht </a:t>
            </a:r>
            <a:r>
              <a:rPr lang="en-GB" dirty="0" err="1"/>
              <a:t>mehr</a:t>
            </a:r>
            <a:r>
              <a:rPr lang="en-GB" dirty="0"/>
              <a:t> </a:t>
            </a:r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b="1" dirty="0" err="1"/>
              <a:t>Systematisches</a:t>
            </a:r>
            <a:r>
              <a:rPr lang="en-GB" b="1" dirty="0"/>
              <a:t> Register</a:t>
            </a:r>
            <a:r>
              <a:rPr lang="en-GB" dirty="0"/>
              <a:t>). </a:t>
            </a:r>
            <a:r>
              <a:rPr lang="en-GB" dirty="0" err="1"/>
              <a:t>Jede</a:t>
            </a:r>
            <a:r>
              <a:rPr lang="en-GB" dirty="0"/>
              <a:t> </a:t>
            </a:r>
            <a:r>
              <a:rPr lang="en-GB" dirty="0" err="1"/>
              <a:t>Änderung</a:t>
            </a:r>
            <a:r>
              <a:rPr lang="en-GB" dirty="0"/>
              <a:t> </a:t>
            </a:r>
            <a:r>
              <a:rPr lang="en-GB" dirty="0" err="1"/>
              <a:t>wird</a:t>
            </a:r>
            <a:r>
              <a:rPr lang="en-GB" dirty="0"/>
              <a:t> in </a:t>
            </a:r>
            <a:r>
              <a:rPr lang="en-GB" dirty="0" err="1"/>
              <a:t>einer</a:t>
            </a:r>
            <a:r>
              <a:rPr lang="en-GB" dirty="0"/>
              <a:t> </a:t>
            </a:r>
            <a:r>
              <a:rPr lang="en-GB" dirty="0" err="1"/>
              <a:t>Fussnote</a:t>
            </a:r>
            <a:r>
              <a:rPr lang="en-GB" dirty="0"/>
              <a:t> </a:t>
            </a:r>
            <a:r>
              <a:rPr lang="en-GB" dirty="0" err="1"/>
              <a:t>begründet</a:t>
            </a:r>
            <a:r>
              <a:rPr lang="en-GB" dirty="0"/>
              <a:t> (=&gt; </a:t>
            </a:r>
            <a:r>
              <a:rPr lang="en-GB" dirty="0" err="1"/>
              <a:t>massgeblich</a:t>
            </a:r>
            <a:r>
              <a:rPr lang="en-GB" dirty="0"/>
              <a:t> für </a:t>
            </a:r>
            <a:r>
              <a:rPr lang="en-GB" dirty="0" err="1"/>
              <a:t>Rechtskraft</a:t>
            </a:r>
            <a:r>
              <a:rPr lang="en-GB" dirty="0"/>
              <a:t>)</a:t>
            </a:r>
          </a:p>
          <a:p>
            <a:pPr lvl="1"/>
            <a:r>
              <a:rPr lang="en-GB" dirty="0" err="1">
                <a:highlight>
                  <a:srgbClr val="FFFF00"/>
                </a:highlight>
              </a:rPr>
              <a:t>Änderungserlasse</a:t>
            </a:r>
            <a:r>
              <a:rPr lang="en-GB" dirty="0">
                <a:highlight>
                  <a:srgbClr val="FFFF00"/>
                </a:highlight>
              </a:rPr>
              <a:t>, die </a:t>
            </a:r>
            <a:r>
              <a:rPr lang="en-GB" dirty="0" err="1">
                <a:highlight>
                  <a:srgbClr val="FFFF00"/>
                </a:highlight>
              </a:rPr>
              <a:t>ausschliesslich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eine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Änderung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beinhalten</a:t>
            </a:r>
            <a:r>
              <a:rPr lang="en-GB" dirty="0">
                <a:highlight>
                  <a:srgbClr val="FFFF00"/>
                </a:highlight>
              </a:rPr>
              <a:t>, </a:t>
            </a:r>
            <a:r>
              <a:rPr lang="en-GB" dirty="0" err="1">
                <a:highlight>
                  <a:srgbClr val="FFFF00"/>
                </a:highlight>
              </a:rPr>
              <a:t>werden</a:t>
            </a:r>
            <a:r>
              <a:rPr lang="en-GB" dirty="0">
                <a:highlight>
                  <a:srgbClr val="FFFF00"/>
                </a:highlight>
              </a:rPr>
              <a:t> nicht </a:t>
            </a:r>
            <a:r>
              <a:rPr lang="en-GB" dirty="0" err="1">
                <a:highlight>
                  <a:srgbClr val="FFFF00"/>
                </a:highlight>
              </a:rPr>
              <a:t>aufgenommen</a:t>
            </a:r>
            <a:endParaRPr lang="en-GB" dirty="0">
              <a:highlight>
                <a:srgbClr val="FFFF00"/>
              </a:highlight>
            </a:endParaRPr>
          </a:p>
          <a:p>
            <a:pPr lvl="1"/>
            <a:r>
              <a:rPr lang="en-GB" dirty="0"/>
              <a:t>Nach </a:t>
            </a:r>
            <a:r>
              <a:rPr lang="en-GB" dirty="0" err="1"/>
              <a:t>Möglichkeit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auch</a:t>
            </a:r>
            <a:r>
              <a:rPr lang="en-GB" dirty="0"/>
              <a:t> </a:t>
            </a:r>
            <a:r>
              <a:rPr lang="en-GB" dirty="0" err="1"/>
              <a:t>Änderungen</a:t>
            </a:r>
            <a:r>
              <a:rPr lang="en-GB" dirty="0"/>
              <a:t> </a:t>
            </a:r>
            <a:r>
              <a:rPr lang="en-GB" dirty="0" err="1"/>
              <a:t>berücksichtigt</a:t>
            </a:r>
            <a:r>
              <a:rPr lang="en-GB" dirty="0"/>
              <a:t> die an </a:t>
            </a:r>
            <a:r>
              <a:rPr lang="en-GB" dirty="0" err="1"/>
              <a:t>einem</a:t>
            </a:r>
            <a:r>
              <a:rPr lang="en-GB" dirty="0"/>
              <a:t> </a:t>
            </a:r>
            <a:r>
              <a:rPr lang="en-GB" dirty="0" err="1"/>
              <a:t>zukünftigen</a:t>
            </a:r>
            <a:r>
              <a:rPr lang="en-GB" dirty="0"/>
              <a:t> Datum in Kraft </a:t>
            </a:r>
            <a:r>
              <a:rPr lang="en-GB" dirty="0" err="1"/>
              <a:t>treten</a:t>
            </a:r>
            <a:r>
              <a:rPr lang="en-GB" dirty="0"/>
              <a:t>. Das </a:t>
            </a:r>
            <a:r>
              <a:rPr lang="en-GB" dirty="0" err="1"/>
              <a:t>Standdatum</a:t>
            </a:r>
            <a:r>
              <a:rPr lang="en-GB" dirty="0"/>
              <a:t> </a:t>
            </a:r>
            <a:r>
              <a:rPr lang="en-GB" dirty="0" err="1"/>
              <a:t>erlaubt</a:t>
            </a:r>
            <a:r>
              <a:rPr lang="en-GB" dirty="0"/>
              <a:t> </a:t>
            </a:r>
            <a:r>
              <a:rPr lang="en-GB" dirty="0" err="1"/>
              <a:t>dagegen</a:t>
            </a:r>
            <a:r>
              <a:rPr lang="en-GB" dirty="0"/>
              <a:t> nicht den </a:t>
            </a:r>
            <a:r>
              <a:rPr lang="en-GB" dirty="0" err="1"/>
              <a:t>Schluss</a:t>
            </a:r>
            <a:r>
              <a:rPr lang="en-GB" dirty="0"/>
              <a:t>, </a:t>
            </a:r>
            <a:r>
              <a:rPr lang="en-GB" dirty="0" err="1"/>
              <a:t>dass</a:t>
            </a:r>
            <a:r>
              <a:rPr lang="en-GB" dirty="0"/>
              <a:t> </a:t>
            </a:r>
            <a:r>
              <a:rPr lang="en-GB" dirty="0" err="1"/>
              <a:t>darin</a:t>
            </a:r>
            <a:r>
              <a:rPr lang="en-GB" dirty="0"/>
              <a:t> alle </a:t>
            </a:r>
            <a:r>
              <a:rPr lang="en-GB" dirty="0" err="1"/>
              <a:t>Änderungen</a:t>
            </a:r>
            <a:r>
              <a:rPr lang="en-GB" dirty="0"/>
              <a:t> </a:t>
            </a:r>
            <a:r>
              <a:rPr lang="en-GB" dirty="0" err="1"/>
              <a:t>eingebaut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, die bis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diesem</a:t>
            </a:r>
            <a:r>
              <a:rPr lang="en-GB" dirty="0"/>
              <a:t> Datum in Kraft </a:t>
            </a:r>
            <a:r>
              <a:rPr lang="en-GB" dirty="0" err="1"/>
              <a:t>getreten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F48EFD-8D7C-968A-5DDD-CE6315795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Publikation – Bereinigung</a:t>
            </a:r>
            <a:r>
              <a:rPr lang="en-GB" baseline="30000" dirty="0"/>
              <a:t>3</a:t>
            </a:r>
            <a:r>
              <a:rPr lang="en-CH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15592C-16E8-B7E8-BCE3-D60469B49E42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aseline="30000" dirty="0"/>
              <a:t>3 </a:t>
            </a:r>
            <a:r>
              <a:rPr lang="en-GB" dirty="0"/>
              <a:t>https://</a:t>
            </a:r>
            <a:r>
              <a:rPr lang="en-GB" dirty="0" err="1"/>
              <a:t>www.fedlex.admin.ch</a:t>
            </a:r>
            <a:r>
              <a:rPr lang="en-GB" dirty="0"/>
              <a:t>/de/cc/explanations-cc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F6EAA7-BF16-7268-AE0B-19326C8D199E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rgbClr val="FF0000"/>
                </a:solidFill>
              </a:rPr>
              <a:t>Änderungserlasse?</a:t>
            </a:r>
          </a:p>
        </p:txBody>
      </p:sp>
    </p:spTree>
    <p:extLst>
      <p:ext uri="{BB962C8B-B14F-4D97-AF65-F5344CB8AC3E}">
        <p14:creationId xmlns:p14="http://schemas.microsoft.com/office/powerpoint/2010/main" val="977418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AD6A3-BFF3-CAC3-21A2-8F0DD1A0E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A5C2E3F-7ACF-AA9D-D95D-9882FCC82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 err="1"/>
              <a:t>Widersprüche</a:t>
            </a:r>
            <a:r>
              <a:rPr lang="en-GB" b="1" dirty="0"/>
              <a:t> AS und SR:</a:t>
            </a:r>
          </a:p>
          <a:p>
            <a:r>
              <a:rPr lang="en-GB" dirty="0" err="1"/>
              <a:t>Einzelne</a:t>
            </a:r>
            <a:r>
              <a:rPr lang="en-GB" dirty="0"/>
              <a:t> </a:t>
            </a:r>
            <a:r>
              <a:rPr lang="en-GB" dirty="0" err="1"/>
              <a:t>Worte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Satzteile</a:t>
            </a:r>
            <a:r>
              <a:rPr lang="en-GB" dirty="0"/>
              <a:t> </a:t>
            </a:r>
            <a:r>
              <a:rPr lang="en-GB" dirty="0" err="1"/>
              <a:t>eines</a:t>
            </a:r>
            <a:r>
              <a:rPr lang="en-GB" dirty="0"/>
              <a:t> </a:t>
            </a:r>
            <a:r>
              <a:rPr lang="en-GB" dirty="0" err="1"/>
              <a:t>Artikels</a:t>
            </a:r>
            <a:r>
              <a:rPr lang="en-GB" dirty="0"/>
              <a:t>, </a:t>
            </a:r>
            <a:r>
              <a:rPr lang="en-GB" dirty="0" err="1"/>
              <a:t>eines</a:t>
            </a:r>
            <a:r>
              <a:rPr lang="en-GB" dirty="0"/>
              <a:t> </a:t>
            </a:r>
            <a:r>
              <a:rPr lang="en-GB" dirty="0" err="1"/>
              <a:t>Absatzes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einer</a:t>
            </a:r>
            <a:r>
              <a:rPr lang="en-GB" dirty="0"/>
              <a:t> Ziffer, die </a:t>
            </a:r>
            <a:r>
              <a:rPr lang="en-GB" dirty="0" err="1"/>
              <a:t>infolge</a:t>
            </a:r>
            <a:r>
              <a:rPr lang="en-GB" dirty="0"/>
              <a:t> </a:t>
            </a:r>
            <a:r>
              <a:rPr lang="en-GB" dirty="0" err="1"/>
              <a:t>späterer</a:t>
            </a:r>
            <a:r>
              <a:rPr lang="en-GB" dirty="0"/>
              <a:t> </a:t>
            </a:r>
            <a:r>
              <a:rPr lang="en-GB" dirty="0" err="1">
                <a:highlight>
                  <a:srgbClr val="FFFF00"/>
                </a:highlight>
              </a:rPr>
              <a:t>inhaltlich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widersprechender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Vorschrift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als</a:t>
            </a:r>
            <a:r>
              <a:rPr lang="en-GB" dirty="0">
                <a:highlight>
                  <a:srgbClr val="FFFF00"/>
                </a:highlight>
              </a:rPr>
              <a:t> aufgehoben </a:t>
            </a:r>
            <a:r>
              <a:rPr lang="en-GB" dirty="0" err="1">
                <a:highlight>
                  <a:srgbClr val="FFFF00"/>
                </a:highlight>
              </a:rPr>
              <a:t>oder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geändert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zu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betrachten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/>
              <a:t>sind</a:t>
            </a:r>
            <a:r>
              <a:rPr lang="en-GB" dirty="0"/>
              <a:t>, </a:t>
            </a:r>
            <a:r>
              <a:rPr lang="en-GB" dirty="0" err="1"/>
              <a:t>aber</a:t>
            </a:r>
            <a:r>
              <a:rPr lang="en-GB" dirty="0"/>
              <a:t> nicht </a:t>
            </a:r>
            <a:r>
              <a:rPr lang="en-GB" dirty="0" err="1"/>
              <a:t>auch</a:t>
            </a:r>
            <a:r>
              <a:rPr lang="en-GB" dirty="0"/>
              <a:t> </a:t>
            </a:r>
            <a:r>
              <a:rPr lang="en-GB" dirty="0" err="1"/>
              <a:t>formell</a:t>
            </a:r>
            <a:r>
              <a:rPr lang="en-GB" dirty="0"/>
              <a:t> aufgehoben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geändert</a:t>
            </a:r>
            <a:r>
              <a:rPr lang="en-GB" dirty="0"/>
              <a:t> </a:t>
            </a:r>
            <a:r>
              <a:rPr lang="en-GB" dirty="0" err="1"/>
              <a:t>wurden</a:t>
            </a:r>
            <a:r>
              <a:rPr lang="en-GB" dirty="0"/>
              <a:t>,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b="1" dirty="0" err="1"/>
              <a:t>unverändert</a:t>
            </a:r>
            <a:r>
              <a:rPr lang="en-GB" b="1" dirty="0"/>
              <a:t> </a:t>
            </a:r>
            <a:r>
              <a:rPr lang="en-GB" b="1" dirty="0" err="1"/>
              <a:t>wiedergegeben</a:t>
            </a:r>
            <a:r>
              <a:rPr lang="en-GB" dirty="0"/>
              <a:t>.</a:t>
            </a:r>
          </a:p>
          <a:p>
            <a:r>
              <a:rPr lang="en-GB" dirty="0"/>
              <a:t>Auf die </a:t>
            </a:r>
            <a:r>
              <a:rPr lang="en-GB" dirty="0" err="1"/>
              <a:t>spätere</a:t>
            </a:r>
            <a:r>
              <a:rPr lang="en-GB" dirty="0"/>
              <a:t> </a:t>
            </a:r>
            <a:r>
              <a:rPr lang="en-GB" dirty="0" err="1"/>
              <a:t>inhaltlich</a:t>
            </a:r>
            <a:r>
              <a:rPr lang="en-GB" dirty="0"/>
              <a:t> </a:t>
            </a:r>
            <a:r>
              <a:rPr lang="en-GB" dirty="0" err="1"/>
              <a:t>widersprechende</a:t>
            </a:r>
            <a:r>
              <a:rPr lang="en-GB" dirty="0"/>
              <a:t> Norm </a:t>
            </a:r>
            <a:r>
              <a:rPr lang="en-GB" dirty="0" err="1"/>
              <a:t>sowie</a:t>
            </a:r>
            <a:r>
              <a:rPr lang="en-GB" dirty="0"/>
              <a:t> auf </a:t>
            </a:r>
            <a:r>
              <a:rPr lang="en-GB" dirty="0" err="1"/>
              <a:t>Widersprüche</a:t>
            </a:r>
            <a:r>
              <a:rPr lang="en-GB" dirty="0"/>
              <a:t> </a:t>
            </a:r>
            <a:r>
              <a:rPr lang="en-GB" dirty="0" err="1"/>
              <a:t>zwischen</a:t>
            </a:r>
            <a:r>
              <a:rPr lang="en-GB" dirty="0"/>
              <a:t> den </a:t>
            </a:r>
            <a:r>
              <a:rPr lang="en-GB" dirty="0" err="1"/>
              <a:t>Texten</a:t>
            </a:r>
            <a:r>
              <a:rPr lang="en-GB" dirty="0"/>
              <a:t> der </a:t>
            </a:r>
            <a:r>
              <a:rPr lang="en-GB" dirty="0" err="1"/>
              <a:t>verschiedenen</a:t>
            </a:r>
            <a:r>
              <a:rPr lang="en-GB" dirty="0"/>
              <a:t> </a:t>
            </a:r>
            <a:r>
              <a:rPr lang="en-GB" dirty="0" err="1"/>
              <a:t>Amtssprachen</a:t>
            </a:r>
            <a:r>
              <a:rPr lang="en-GB" dirty="0"/>
              <a:t> </a:t>
            </a:r>
            <a:r>
              <a:rPr lang="en-GB" dirty="0" err="1"/>
              <a:t>wird</a:t>
            </a:r>
            <a:r>
              <a:rPr lang="en-GB" dirty="0"/>
              <a:t> </a:t>
            </a:r>
            <a:r>
              <a:rPr lang="en-GB" dirty="0" err="1"/>
              <a:t>allenfalls</a:t>
            </a:r>
            <a:r>
              <a:rPr lang="en-GB" dirty="0"/>
              <a:t> in </a:t>
            </a:r>
            <a:r>
              <a:rPr lang="en-GB" dirty="0" err="1"/>
              <a:t>einer</a:t>
            </a:r>
            <a:r>
              <a:rPr lang="en-GB" dirty="0"/>
              <a:t> </a:t>
            </a:r>
            <a:r>
              <a:rPr lang="en-GB" dirty="0" err="1"/>
              <a:t>Fussnote</a:t>
            </a:r>
            <a:r>
              <a:rPr lang="en-GB" dirty="0"/>
              <a:t> </a:t>
            </a:r>
            <a:r>
              <a:rPr lang="en-GB" dirty="0" err="1"/>
              <a:t>aufmerksam</a:t>
            </a:r>
            <a:r>
              <a:rPr lang="en-GB" dirty="0"/>
              <a:t> </a:t>
            </a:r>
            <a:r>
              <a:rPr lang="en-GB" dirty="0" err="1"/>
              <a:t>gemacht</a:t>
            </a:r>
            <a:endParaRPr lang="en-GB" dirty="0"/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24CBC9-5A15-7050-05D8-63FDF0DC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Publikation – Bereinigung (Widersprüche)</a:t>
            </a:r>
          </a:p>
        </p:txBody>
      </p:sp>
    </p:spTree>
    <p:extLst>
      <p:ext uri="{BB962C8B-B14F-4D97-AF65-F5344CB8AC3E}">
        <p14:creationId xmlns:p14="http://schemas.microsoft.com/office/powerpoint/2010/main" val="35491956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DC630-DC75-72C0-68CC-F902A29D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C9513EF-CE1A-0235-7865-310B58E10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/>
              <a:t>Voraussetzungen</a:t>
            </a:r>
            <a:r>
              <a:rPr lang="en-GB" dirty="0"/>
              <a:t> (</a:t>
            </a:r>
            <a:r>
              <a:rPr lang="en-GB" dirty="0" err="1"/>
              <a:t>alternativ</a:t>
            </a:r>
            <a:r>
              <a:rPr lang="en-GB" dirty="0"/>
              <a:t>) für </a:t>
            </a:r>
            <a:r>
              <a:rPr lang="en-GB" dirty="0" err="1"/>
              <a:t>Verzicht</a:t>
            </a:r>
            <a:r>
              <a:rPr lang="en-GB" dirty="0"/>
              <a:t> auf </a:t>
            </a:r>
            <a:r>
              <a:rPr lang="en-GB" dirty="0" err="1"/>
              <a:t>Publikation</a:t>
            </a:r>
            <a:r>
              <a:rPr lang="en-GB" dirty="0"/>
              <a:t> von Text / </a:t>
            </a:r>
            <a:r>
              <a:rPr lang="en-GB" dirty="0" err="1"/>
              <a:t>Erlass</a:t>
            </a:r>
            <a:r>
              <a:rPr lang="en-GB" dirty="0"/>
              <a:t> in </a:t>
            </a:r>
            <a:r>
              <a:rPr lang="en-GB" b="1" dirty="0"/>
              <a:t>AS</a:t>
            </a:r>
            <a:r>
              <a:rPr lang="en-GB" dirty="0"/>
              <a:t> und </a:t>
            </a:r>
            <a:r>
              <a:rPr lang="en-GB" b="1" dirty="0"/>
              <a:t>SR </a:t>
            </a:r>
            <a:r>
              <a:rPr lang="en-GB" dirty="0"/>
              <a:t>(“</a:t>
            </a:r>
            <a:r>
              <a:rPr lang="en-GB" dirty="0" err="1"/>
              <a:t>besonderer</a:t>
            </a:r>
            <a:r>
              <a:rPr lang="en-GB" dirty="0"/>
              <a:t> </a:t>
            </a:r>
            <a:r>
              <a:rPr lang="en-GB" dirty="0" err="1"/>
              <a:t>Charakter</a:t>
            </a:r>
            <a:r>
              <a:rPr lang="en-GB" dirty="0"/>
              <a:t>”):</a:t>
            </a:r>
          </a:p>
          <a:p>
            <a:r>
              <a:rPr lang="en-GB" dirty="0" err="1"/>
              <a:t>Betrifft</a:t>
            </a:r>
            <a:r>
              <a:rPr lang="en-GB" dirty="0"/>
              <a:t> </a:t>
            </a:r>
            <a:r>
              <a:rPr lang="en-GB" dirty="0" err="1"/>
              <a:t>nur</a:t>
            </a:r>
            <a:r>
              <a:rPr lang="en-GB" dirty="0"/>
              <a:t> </a:t>
            </a:r>
            <a:r>
              <a:rPr lang="en-GB" dirty="0" err="1"/>
              <a:t>einen</a:t>
            </a:r>
            <a:r>
              <a:rPr lang="en-GB" dirty="0"/>
              <a:t> </a:t>
            </a:r>
            <a:r>
              <a:rPr lang="en-GB" dirty="0" err="1"/>
              <a:t>kleinen</a:t>
            </a:r>
            <a:r>
              <a:rPr lang="en-GB" dirty="0"/>
              <a:t> Kreis von </a:t>
            </a:r>
            <a:r>
              <a:rPr lang="en-GB" dirty="0" err="1"/>
              <a:t>Personen</a:t>
            </a:r>
            <a:endParaRPr lang="en-GB" dirty="0"/>
          </a:p>
          <a:p>
            <a:r>
              <a:rPr lang="en-GB" dirty="0" err="1"/>
              <a:t>Technischer</a:t>
            </a:r>
            <a:r>
              <a:rPr lang="en-GB" dirty="0"/>
              <a:t> </a:t>
            </a:r>
            <a:r>
              <a:rPr lang="en-GB" dirty="0" err="1"/>
              <a:t>Natur</a:t>
            </a:r>
            <a:r>
              <a:rPr lang="en-GB" dirty="0"/>
              <a:t> und </a:t>
            </a:r>
            <a:r>
              <a:rPr lang="en-GB" dirty="0" err="1"/>
              <a:t>wendet</a:t>
            </a:r>
            <a:r>
              <a:rPr lang="en-GB" dirty="0"/>
              <a:t> </a:t>
            </a:r>
            <a:r>
              <a:rPr lang="en-GB" dirty="0" err="1"/>
              <a:t>sich</a:t>
            </a:r>
            <a:r>
              <a:rPr lang="en-GB" dirty="0"/>
              <a:t> </a:t>
            </a:r>
            <a:r>
              <a:rPr lang="en-GB" dirty="0" err="1"/>
              <a:t>nur</a:t>
            </a:r>
            <a:r>
              <a:rPr lang="en-GB" dirty="0"/>
              <a:t> an </a:t>
            </a:r>
            <a:r>
              <a:rPr lang="en-GB" dirty="0" err="1"/>
              <a:t>Fachleute</a:t>
            </a:r>
            <a:endParaRPr lang="en-GB" dirty="0"/>
          </a:p>
          <a:p>
            <a:r>
              <a:rPr lang="en-GB" dirty="0"/>
              <a:t>Format nicht </a:t>
            </a:r>
            <a:r>
              <a:rPr lang="en-GB" dirty="0" err="1"/>
              <a:t>geeignet</a:t>
            </a:r>
            <a:r>
              <a:rPr lang="en-GB" dirty="0"/>
              <a:t> für AS</a:t>
            </a:r>
          </a:p>
          <a:p>
            <a:endParaRPr lang="en-GB" dirty="0"/>
          </a:p>
          <a:p>
            <a:pPr>
              <a:buFont typeface="Symbol" pitchFamily="2" charset="2"/>
              <a:buChar char="Þ"/>
            </a:pPr>
            <a:r>
              <a:rPr lang="en-GB" dirty="0" err="1"/>
              <a:t>Verweis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Angabe</a:t>
            </a:r>
            <a:r>
              <a:rPr lang="en-GB" dirty="0"/>
              <a:t> der </a:t>
            </a:r>
            <a:r>
              <a:rPr lang="en-GB" dirty="0" err="1"/>
              <a:t>Fundstelle</a:t>
            </a:r>
            <a:r>
              <a:rPr lang="en-GB" dirty="0"/>
              <a:t> / </a:t>
            </a:r>
            <a:r>
              <a:rPr lang="en-GB" dirty="0" err="1"/>
              <a:t>Bezugsquelle</a:t>
            </a:r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89F7F5-9A1E-D73A-2244-87DE7B79F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Publikation – Verweis*</a:t>
            </a:r>
          </a:p>
        </p:txBody>
      </p:sp>
    </p:spTree>
    <p:extLst>
      <p:ext uri="{BB962C8B-B14F-4D97-AF65-F5344CB8AC3E}">
        <p14:creationId xmlns:p14="http://schemas.microsoft.com/office/powerpoint/2010/main" val="16790115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4F882-E4F5-0DA0-F670-B63EA8548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BB45CA-D8F0-6FF7-FF14-59A0BA506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/>
              <a:t>Voraussetzungen</a:t>
            </a:r>
            <a:r>
              <a:rPr lang="en-GB" dirty="0"/>
              <a:t> für </a:t>
            </a:r>
            <a:r>
              <a:rPr lang="en-GB" dirty="0" err="1"/>
              <a:t>Verzicht</a:t>
            </a:r>
            <a:r>
              <a:rPr lang="en-GB" dirty="0"/>
              <a:t> auf </a:t>
            </a:r>
            <a:r>
              <a:rPr lang="en-GB" dirty="0" err="1"/>
              <a:t>Publikation</a:t>
            </a:r>
            <a:r>
              <a:rPr lang="en-GB" dirty="0"/>
              <a:t> von </a:t>
            </a:r>
            <a:r>
              <a:rPr lang="en-GB" dirty="0" err="1"/>
              <a:t>Bundesgesetz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Verordnung</a:t>
            </a:r>
            <a:r>
              <a:rPr lang="en-GB" dirty="0"/>
              <a:t> der </a:t>
            </a:r>
            <a:r>
              <a:rPr lang="en-GB" dirty="0" err="1"/>
              <a:t>Bundesversammlung</a:t>
            </a:r>
            <a:r>
              <a:rPr lang="en-GB" dirty="0"/>
              <a:t> in </a:t>
            </a:r>
            <a:r>
              <a:rPr lang="en-GB" b="1" dirty="0"/>
              <a:t>AS</a:t>
            </a:r>
            <a:r>
              <a:rPr lang="en-GB" dirty="0"/>
              <a:t>:</a:t>
            </a:r>
          </a:p>
          <a:p>
            <a:r>
              <a:rPr lang="en-GB" dirty="0" err="1"/>
              <a:t>Bereits</a:t>
            </a:r>
            <a:r>
              <a:rPr lang="en-GB" dirty="0"/>
              <a:t> in </a:t>
            </a:r>
            <a:r>
              <a:rPr lang="en-GB" dirty="0" err="1"/>
              <a:t>einem</a:t>
            </a:r>
            <a:r>
              <a:rPr lang="en-GB" dirty="0"/>
              <a:t> </a:t>
            </a:r>
            <a:r>
              <a:rPr lang="en-GB" dirty="0" err="1"/>
              <a:t>anderen</a:t>
            </a:r>
            <a:r>
              <a:rPr lang="en-GB" dirty="0"/>
              <a:t> in CH </a:t>
            </a:r>
            <a:r>
              <a:rPr lang="en-GB" dirty="0" err="1"/>
              <a:t>unentgeltlich</a:t>
            </a:r>
            <a:r>
              <a:rPr lang="en-GB" dirty="0"/>
              <a:t> </a:t>
            </a:r>
            <a:r>
              <a:rPr lang="en-GB" dirty="0" err="1"/>
              <a:t>zugänglichen</a:t>
            </a:r>
            <a:r>
              <a:rPr lang="en-GB" dirty="0"/>
              <a:t> </a:t>
            </a:r>
            <a:r>
              <a:rPr lang="en-GB" dirty="0" err="1"/>
              <a:t>Publikationsorgan</a:t>
            </a:r>
            <a:r>
              <a:rPr lang="en-GB" dirty="0"/>
              <a:t> </a:t>
            </a:r>
            <a:r>
              <a:rPr lang="en-GB" dirty="0" err="1"/>
              <a:t>veröffentlicht</a:t>
            </a:r>
            <a:endParaRPr lang="en-GB" dirty="0"/>
          </a:p>
          <a:p>
            <a:endParaRPr lang="en-GB" dirty="0"/>
          </a:p>
          <a:p>
            <a:pPr>
              <a:buFont typeface="Symbol" pitchFamily="2" charset="2"/>
              <a:buChar char="Þ"/>
            </a:pPr>
            <a:endParaRPr lang="en-GB" dirty="0"/>
          </a:p>
          <a:p>
            <a:pPr>
              <a:buFont typeface="Symbol" pitchFamily="2" charset="2"/>
              <a:buChar char="Þ"/>
            </a:pPr>
            <a:r>
              <a:rPr lang="en-GB" dirty="0" err="1"/>
              <a:t>Verweis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Titel </a:t>
            </a:r>
            <a:r>
              <a:rPr lang="en-GB" dirty="0" err="1"/>
              <a:t>sowie</a:t>
            </a:r>
            <a:r>
              <a:rPr lang="en-GB" dirty="0"/>
              <a:t> </a:t>
            </a:r>
            <a:r>
              <a:rPr lang="en-GB" dirty="0" err="1"/>
              <a:t>Fundstelle</a:t>
            </a:r>
            <a:r>
              <a:rPr lang="en-GB" dirty="0"/>
              <a:t> / </a:t>
            </a:r>
            <a:r>
              <a:rPr lang="en-GB" dirty="0" err="1"/>
              <a:t>Bezugsquelle</a:t>
            </a:r>
            <a:endParaRPr lang="en-GB" dirty="0"/>
          </a:p>
          <a:p>
            <a:pPr marL="0" indent="0">
              <a:buNone/>
            </a:pPr>
            <a:r>
              <a:rPr lang="en-GB" b="1" dirty="0" err="1"/>
              <a:t>Beispiel</a:t>
            </a:r>
            <a:r>
              <a:rPr lang="en-GB" dirty="0"/>
              <a:t>: </a:t>
            </a:r>
            <a:r>
              <a:rPr lang="en-GB" dirty="0" err="1"/>
              <a:t>Rechtsakte</a:t>
            </a:r>
            <a:r>
              <a:rPr lang="en-GB" dirty="0"/>
              <a:t> der EU, </a:t>
            </a:r>
            <a:r>
              <a:rPr lang="en-GB" dirty="0" err="1"/>
              <a:t>welche</a:t>
            </a:r>
            <a:r>
              <a:rPr lang="en-GB" dirty="0"/>
              <a:t> </a:t>
            </a:r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dirty="0" err="1"/>
              <a:t>Amtsblatt</a:t>
            </a:r>
            <a:r>
              <a:rPr lang="en-GB" dirty="0"/>
              <a:t>  der  EU  (</a:t>
            </a:r>
            <a:r>
              <a:rPr lang="en-GB" dirty="0" err="1"/>
              <a:t>ABl.</a:t>
            </a:r>
            <a:r>
              <a:rPr lang="en-GB" dirty="0"/>
              <a:t>) </a:t>
            </a:r>
            <a:r>
              <a:rPr lang="en-GB" dirty="0" err="1"/>
              <a:t>publiziert</a:t>
            </a:r>
            <a:r>
              <a:rPr lang="en-GB" dirty="0"/>
              <a:t>  und  </a:t>
            </a:r>
            <a:r>
              <a:rPr lang="en-GB" dirty="0" err="1"/>
              <a:t>über</a:t>
            </a:r>
            <a:r>
              <a:rPr lang="en-GB" dirty="0"/>
              <a:t>  die  </a:t>
            </a:r>
            <a:r>
              <a:rPr lang="en-GB" dirty="0" err="1"/>
              <a:t>Internetseite</a:t>
            </a:r>
            <a:r>
              <a:rPr lang="en-GB" dirty="0"/>
              <a:t>  EUR-Lex  </a:t>
            </a:r>
            <a:r>
              <a:rPr lang="en-GB" dirty="0" err="1"/>
              <a:t>abrufbar</a:t>
            </a:r>
            <a:r>
              <a:rPr lang="en-GB" dirty="0"/>
              <a:t>  </a:t>
            </a:r>
            <a:r>
              <a:rPr lang="en-GB" dirty="0" err="1"/>
              <a:t>sind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DCCB8-1CBB-360D-9D68-5BD119A4D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Publikation – Verweis mit Titel**</a:t>
            </a:r>
          </a:p>
        </p:txBody>
      </p:sp>
    </p:spTree>
    <p:extLst>
      <p:ext uri="{BB962C8B-B14F-4D97-AF65-F5344CB8AC3E}">
        <p14:creationId xmlns:p14="http://schemas.microsoft.com/office/powerpoint/2010/main" val="11991616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E080C-17ED-D5D7-6FC4-45AD36BD1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6C366A-867C-2A4B-F492-FF7BACAB0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/>
              <a:t>Voraussetzungen</a:t>
            </a:r>
            <a:r>
              <a:rPr lang="en-GB" dirty="0"/>
              <a:t> für </a:t>
            </a:r>
            <a:r>
              <a:rPr lang="en-GB" dirty="0" err="1"/>
              <a:t>Verzicht</a:t>
            </a:r>
            <a:r>
              <a:rPr lang="en-GB" dirty="0"/>
              <a:t> auf </a:t>
            </a:r>
            <a:r>
              <a:rPr lang="en-GB" dirty="0" err="1"/>
              <a:t>Publikation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, </a:t>
            </a:r>
            <a:r>
              <a:rPr lang="en-GB" dirty="0" err="1"/>
              <a:t>völkerrechtlichen</a:t>
            </a:r>
            <a:r>
              <a:rPr lang="en-GB" dirty="0"/>
              <a:t> </a:t>
            </a:r>
            <a:r>
              <a:rPr lang="en-GB" dirty="0" err="1"/>
              <a:t>Verträgen</a:t>
            </a:r>
            <a:r>
              <a:rPr lang="en-GB" dirty="0"/>
              <a:t> und </a:t>
            </a:r>
            <a:r>
              <a:rPr lang="en-GB" dirty="0" err="1"/>
              <a:t>Beschlüssen</a:t>
            </a:r>
            <a:r>
              <a:rPr lang="en-GB" dirty="0"/>
              <a:t> des </a:t>
            </a:r>
            <a:r>
              <a:rPr lang="en-GB" dirty="0" err="1"/>
              <a:t>internationalen</a:t>
            </a:r>
            <a:r>
              <a:rPr lang="en-GB" dirty="0"/>
              <a:t> </a:t>
            </a:r>
            <a:r>
              <a:rPr lang="en-GB" dirty="0" err="1"/>
              <a:t>Rechts</a:t>
            </a:r>
            <a:r>
              <a:rPr lang="en-GB" dirty="0"/>
              <a:t> in </a:t>
            </a:r>
            <a:r>
              <a:rPr lang="en-GB" b="1" dirty="0"/>
              <a:t>AS</a:t>
            </a:r>
            <a:r>
              <a:rPr lang="en-GB" dirty="0"/>
              <a:t>:</a:t>
            </a:r>
          </a:p>
          <a:p>
            <a:r>
              <a:rPr lang="en-GB" dirty="0" err="1"/>
              <a:t>Notwendig</a:t>
            </a:r>
            <a:r>
              <a:rPr lang="en-GB" dirty="0"/>
              <a:t> </a:t>
            </a:r>
            <a:r>
              <a:rPr lang="en-GB" dirty="0" err="1"/>
              <a:t>zur</a:t>
            </a:r>
            <a:r>
              <a:rPr lang="en-GB" dirty="0"/>
              <a:t> </a:t>
            </a:r>
            <a:r>
              <a:rPr lang="en-GB" dirty="0" err="1"/>
              <a:t>Wahrung</a:t>
            </a:r>
            <a:r>
              <a:rPr lang="en-GB" dirty="0"/>
              <a:t> der </a:t>
            </a:r>
            <a:r>
              <a:rPr lang="en-GB" dirty="0" err="1"/>
              <a:t>inneren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äusseren</a:t>
            </a:r>
            <a:r>
              <a:rPr lang="en-GB" dirty="0"/>
              <a:t> Sicherheit </a:t>
            </a:r>
          </a:p>
          <a:p>
            <a:r>
              <a:rPr lang="en-GB" dirty="0" err="1"/>
              <a:t>Geheimhaltung</a:t>
            </a:r>
            <a:r>
              <a:rPr lang="en-GB" dirty="0"/>
              <a:t> </a:t>
            </a:r>
            <a:r>
              <a:rPr lang="en-GB" dirty="0" err="1"/>
              <a:t>aufgrund</a:t>
            </a:r>
            <a:r>
              <a:rPr lang="en-GB" dirty="0"/>
              <a:t> </a:t>
            </a:r>
            <a:r>
              <a:rPr lang="en-GB" dirty="0" err="1"/>
              <a:t>völkerrechtlicher</a:t>
            </a:r>
            <a:r>
              <a:rPr lang="en-GB" dirty="0"/>
              <a:t> </a:t>
            </a:r>
            <a:r>
              <a:rPr lang="en-GB" dirty="0" err="1"/>
              <a:t>Verpflichtungen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>
              <a:buFont typeface="Symbol" pitchFamily="2" charset="2"/>
              <a:buChar char="Þ"/>
            </a:pPr>
            <a:r>
              <a:rPr lang="en-GB" dirty="0"/>
              <a:t>Keine </a:t>
            </a:r>
            <a:r>
              <a:rPr lang="en-GB" dirty="0" err="1"/>
              <a:t>Veröffentlichung</a:t>
            </a:r>
            <a:endParaRPr lang="en-GB" dirty="0"/>
          </a:p>
          <a:p>
            <a:pPr>
              <a:buFont typeface="Symbol" pitchFamily="2" charset="2"/>
              <a:buChar char="Þ"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EE279-E622-6762-9631-7BD0BA80D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Publikation – Verzicht***</a:t>
            </a:r>
          </a:p>
        </p:txBody>
      </p:sp>
    </p:spTree>
    <p:extLst>
      <p:ext uri="{BB962C8B-B14F-4D97-AF65-F5344CB8AC3E}">
        <p14:creationId xmlns:p14="http://schemas.microsoft.com/office/powerpoint/2010/main" val="3467731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94F00-AC21-1148-D9BA-16F307C57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B4E8AA7-07BB-E510-0675-5A15D3525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sz="2400" dirty="0" err="1"/>
              <a:t>Liste</a:t>
            </a:r>
            <a:r>
              <a:rPr lang="en-GB" sz="2400" dirty="0"/>
              <a:t> </a:t>
            </a:r>
            <a:r>
              <a:rPr lang="en-GB" sz="2400" dirty="0" err="1"/>
              <a:t>aller</a:t>
            </a:r>
            <a:r>
              <a:rPr lang="en-GB" sz="2400" dirty="0"/>
              <a:t> </a:t>
            </a:r>
            <a:r>
              <a:rPr lang="en-GB" sz="2400" b="1" dirty="0" err="1"/>
              <a:t>Verweise</a:t>
            </a:r>
            <a:r>
              <a:rPr lang="en-GB" sz="2400" b="1" dirty="0"/>
              <a:t> </a:t>
            </a:r>
            <a:r>
              <a:rPr lang="en-GB" sz="2400" b="1" dirty="0" err="1"/>
              <a:t>mit</a:t>
            </a:r>
            <a:r>
              <a:rPr lang="en-GB" sz="2400" b="1" dirty="0"/>
              <a:t> Titel </a:t>
            </a:r>
            <a:r>
              <a:rPr lang="en-GB" sz="2400" dirty="0"/>
              <a:t>(</a:t>
            </a:r>
            <a:r>
              <a:rPr lang="en-GB" sz="2400" dirty="0" err="1"/>
              <a:t>sofern</a:t>
            </a:r>
            <a:r>
              <a:rPr lang="en-GB" sz="2400" dirty="0"/>
              <a:t> </a:t>
            </a:r>
            <a:r>
              <a:rPr lang="en-GB" sz="2400" dirty="0" err="1"/>
              <a:t>keine</a:t>
            </a:r>
            <a:r>
              <a:rPr lang="en-GB" sz="2400" dirty="0"/>
              <a:t> </a:t>
            </a:r>
            <a:r>
              <a:rPr lang="en-GB" sz="2400" dirty="0" err="1"/>
              <a:t>Publikation</a:t>
            </a:r>
            <a:r>
              <a:rPr lang="en-GB" sz="2400" dirty="0"/>
              <a:t> in AS / SR). </a:t>
            </a:r>
            <a:r>
              <a:rPr lang="en-GB" sz="2400" b="1" dirty="0"/>
              <a:t>Nicht </a:t>
            </a:r>
            <a:r>
              <a:rPr lang="en-GB" sz="2400" b="1" dirty="0" err="1"/>
              <a:t>zu</a:t>
            </a:r>
            <a:r>
              <a:rPr lang="en-GB" sz="2400" b="1" dirty="0"/>
              <a:t> </a:t>
            </a:r>
            <a:r>
              <a:rPr lang="en-GB" sz="2400" b="1" dirty="0" err="1"/>
              <a:t>verwechseln</a:t>
            </a:r>
            <a:r>
              <a:rPr lang="en-GB" sz="2400" b="1" dirty="0"/>
              <a:t> </a:t>
            </a:r>
            <a:r>
              <a:rPr lang="en-GB" sz="2400" b="1" dirty="0" err="1"/>
              <a:t>mit</a:t>
            </a:r>
            <a:r>
              <a:rPr lang="en-GB" sz="2400" b="1" dirty="0"/>
              <a:t> </a:t>
            </a:r>
            <a:r>
              <a:rPr lang="en-GB" sz="2400" b="1" dirty="0" err="1"/>
              <a:t>Systematische</a:t>
            </a:r>
            <a:r>
              <a:rPr lang="en-GB" sz="2400" b="1" dirty="0"/>
              <a:t> </a:t>
            </a:r>
            <a:r>
              <a:rPr lang="en-GB" sz="2400" b="1" dirty="0" err="1"/>
              <a:t>Rechtssammlung</a:t>
            </a:r>
            <a:r>
              <a:rPr lang="en-GB" sz="2400" b="1" dirty="0"/>
              <a:t>!</a:t>
            </a:r>
            <a:endParaRPr lang="en-GB" sz="2400" dirty="0"/>
          </a:p>
          <a:p>
            <a:r>
              <a:rPr lang="en-GB" sz="2400" dirty="0" err="1"/>
              <a:t>Querverweise</a:t>
            </a:r>
            <a:r>
              <a:rPr lang="en-GB" sz="2400" dirty="0"/>
              <a:t> (</a:t>
            </a:r>
            <a:r>
              <a:rPr lang="en-GB" sz="2400" dirty="0" err="1"/>
              <a:t>thematisch</a:t>
            </a:r>
            <a:r>
              <a:rPr lang="en-GB" sz="2400" dirty="0"/>
              <a:t>) </a:t>
            </a:r>
            <a:r>
              <a:rPr lang="en-GB" sz="2400" dirty="0" err="1"/>
              <a:t>unter</a:t>
            </a:r>
            <a:r>
              <a:rPr lang="en-GB" sz="2400" dirty="0"/>
              <a:t> </a:t>
            </a:r>
            <a:r>
              <a:rPr lang="en-GB" sz="2400" dirty="0" err="1"/>
              <a:t>Angabe</a:t>
            </a:r>
            <a:r>
              <a:rPr lang="en-GB" sz="2400" dirty="0"/>
              <a:t> der </a:t>
            </a:r>
            <a:r>
              <a:rPr lang="en-GB" sz="2400" i="1" dirty="0"/>
              <a:t>SR Nummer</a:t>
            </a:r>
          </a:p>
          <a:p>
            <a:r>
              <a:rPr lang="en-GB" sz="2400" dirty="0" err="1"/>
              <a:t>Hinweise</a:t>
            </a:r>
            <a:r>
              <a:rPr lang="en-GB" sz="2400" dirty="0"/>
              <a:t> für </a:t>
            </a:r>
            <a:r>
              <a:rPr lang="en-GB" sz="2400" dirty="0" err="1"/>
              <a:t>jeden</a:t>
            </a:r>
            <a:r>
              <a:rPr lang="en-GB" sz="2400" dirty="0"/>
              <a:t> Artikel (</a:t>
            </a:r>
            <a:r>
              <a:rPr lang="en-GB" sz="2400" dirty="0" err="1"/>
              <a:t>bzw</a:t>
            </a:r>
            <a:r>
              <a:rPr lang="en-GB" sz="2400" dirty="0"/>
              <a:t>. </a:t>
            </a:r>
            <a:r>
              <a:rPr lang="en-GB" sz="2400" dirty="0" err="1"/>
              <a:t>Abschnitt</a:t>
            </a:r>
            <a:r>
              <a:rPr lang="en-GB" sz="2400" dirty="0"/>
              <a:t> </a:t>
            </a:r>
            <a:r>
              <a:rPr lang="en-GB" sz="2400" dirty="0" err="1"/>
              <a:t>oder</a:t>
            </a:r>
            <a:r>
              <a:rPr lang="en-GB" sz="2400" dirty="0"/>
              <a:t> </a:t>
            </a:r>
            <a:r>
              <a:rPr lang="en-GB" sz="2400" dirty="0" err="1"/>
              <a:t>Anhang</a:t>
            </a:r>
            <a:r>
              <a:rPr lang="en-GB" sz="2400" dirty="0"/>
              <a:t>), Titel (</a:t>
            </a:r>
            <a:r>
              <a:rPr lang="en-GB" sz="2400" dirty="0" err="1"/>
              <a:t>inkl</a:t>
            </a:r>
            <a:r>
              <a:rPr lang="en-GB" sz="2400" dirty="0"/>
              <a:t>. Ingress) und </a:t>
            </a:r>
            <a:r>
              <a:rPr lang="en-GB" sz="2400" dirty="0" err="1"/>
              <a:t>Ausdruck</a:t>
            </a:r>
            <a:r>
              <a:rPr lang="en-GB" sz="2400" dirty="0"/>
              <a:t> </a:t>
            </a:r>
            <a:r>
              <a:rPr lang="en-GB" sz="2400" dirty="0" err="1"/>
              <a:t>unter</a:t>
            </a:r>
            <a:r>
              <a:rPr lang="en-GB" sz="2400" dirty="0"/>
              <a:t> </a:t>
            </a:r>
            <a:r>
              <a:rPr lang="en-GB" sz="2400" dirty="0" err="1"/>
              <a:t>Angabe</a:t>
            </a:r>
            <a:r>
              <a:rPr lang="en-GB" sz="2400" dirty="0"/>
              <a:t> des (</a:t>
            </a:r>
            <a:r>
              <a:rPr lang="en-GB" sz="2400" b="1" dirty="0" err="1"/>
              <a:t>Änderungs</a:t>
            </a:r>
            <a:r>
              <a:rPr lang="en-GB" sz="2400" b="1" dirty="0"/>
              <a:t>-</a:t>
            </a:r>
            <a:r>
              <a:rPr lang="en-GB" sz="2400" dirty="0"/>
              <a:t> </a:t>
            </a:r>
            <a:r>
              <a:rPr lang="en-GB" sz="2400" dirty="0" err="1"/>
              <a:t>oder</a:t>
            </a:r>
            <a:r>
              <a:rPr lang="en-GB" sz="2400" dirty="0"/>
              <a:t> </a:t>
            </a:r>
            <a:r>
              <a:rPr lang="en-GB" sz="2400" b="1" dirty="0" err="1"/>
              <a:t>Aufhebungs</a:t>
            </a:r>
            <a:r>
              <a:rPr lang="en-GB" sz="2400" b="1" dirty="0"/>
              <a:t>-</a:t>
            </a:r>
            <a:r>
              <a:rPr lang="en-GB" sz="2400" dirty="0"/>
              <a:t>)</a:t>
            </a:r>
            <a:r>
              <a:rPr lang="en-GB" sz="2400" dirty="0" err="1"/>
              <a:t>Beschlusses</a:t>
            </a:r>
            <a:r>
              <a:rPr lang="en-GB" sz="2400" dirty="0"/>
              <a:t> </a:t>
            </a:r>
            <a:r>
              <a:rPr lang="en-GB" sz="2400" dirty="0" err="1"/>
              <a:t>bzw</a:t>
            </a:r>
            <a:r>
              <a:rPr lang="en-GB" sz="2400" dirty="0"/>
              <a:t>. </a:t>
            </a:r>
            <a:r>
              <a:rPr lang="en-GB" sz="2400" dirty="0" err="1"/>
              <a:t>Erlasses</a:t>
            </a:r>
            <a:r>
              <a:rPr lang="en-GB" sz="2400" dirty="0"/>
              <a:t> (</a:t>
            </a:r>
            <a:r>
              <a:rPr lang="en-GB" sz="2400" dirty="0" err="1"/>
              <a:t>inkl</a:t>
            </a:r>
            <a:r>
              <a:rPr lang="en-GB" sz="2400" dirty="0"/>
              <a:t>. [</a:t>
            </a:r>
            <a:r>
              <a:rPr lang="en-GB" sz="2400" dirty="0" err="1"/>
              <a:t>Ausführungs</a:t>
            </a:r>
            <a:r>
              <a:rPr lang="en-GB" sz="2400" dirty="0"/>
              <a:t>-]</a:t>
            </a:r>
            <a:r>
              <a:rPr lang="en-GB" sz="2400" dirty="0" err="1"/>
              <a:t>Verordnung</a:t>
            </a:r>
            <a:r>
              <a:rPr lang="en-GB" sz="2400" dirty="0"/>
              <a:t>) </a:t>
            </a:r>
          </a:p>
          <a:p>
            <a:pPr marL="0" indent="0">
              <a:buNone/>
            </a:pPr>
            <a:endParaRPr lang="en-GB" sz="2400" dirty="0"/>
          </a:p>
          <a:p>
            <a:pPr>
              <a:buFont typeface="Symbol" pitchFamily="2" charset="2"/>
              <a:buChar char="Þ"/>
            </a:pPr>
            <a:r>
              <a:rPr lang="en-GB" b="1" dirty="0" err="1"/>
              <a:t>Vgl</a:t>
            </a:r>
            <a:r>
              <a:rPr lang="en-GB" b="1" dirty="0"/>
              <a:t>. URI Template: {year} + {</a:t>
            </a:r>
            <a:r>
              <a:rPr lang="en-GB" b="1" dirty="0" err="1"/>
              <a:t>naturalidentifier</a:t>
            </a:r>
            <a:r>
              <a:rPr lang="en-GB" b="1" dirty="0"/>
              <a:t>}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056714-395A-78E6-B604-A9AE45DAA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Exkurs – </a:t>
            </a:r>
            <a:r>
              <a:rPr lang="de-CH" dirty="0"/>
              <a:t>Systematisches Register</a:t>
            </a:r>
            <a:r>
              <a:rPr lang="de-CH" baseline="30000" dirty="0"/>
              <a:t>4</a:t>
            </a:r>
            <a:r>
              <a:rPr lang="en-CH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31326D-47A7-4D18-5772-82612D689C64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aseline="30000" dirty="0"/>
              <a:t>4 </a:t>
            </a:r>
            <a:r>
              <a:rPr lang="en-GB" dirty="0"/>
              <a:t>https://</a:t>
            </a:r>
            <a:r>
              <a:rPr lang="en-GB" dirty="0" err="1"/>
              <a:t>www.fedlex.admin.ch</a:t>
            </a:r>
            <a:r>
              <a:rPr lang="en-GB" dirty="0"/>
              <a:t>/de/</a:t>
            </a:r>
            <a:r>
              <a:rPr lang="en-GB" dirty="0" err="1"/>
              <a:t>oc</a:t>
            </a:r>
            <a:r>
              <a:rPr lang="en-GB" dirty="0"/>
              <a:t>/systematic-records</a:t>
            </a:r>
          </a:p>
        </p:txBody>
      </p:sp>
    </p:spTree>
    <p:extLst>
      <p:ext uri="{BB962C8B-B14F-4D97-AF65-F5344CB8AC3E}">
        <p14:creationId xmlns:p14="http://schemas.microsoft.com/office/powerpoint/2010/main" val="30889682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86351-707C-8D2C-CA44-223D49F7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61299-68D4-70AD-AEE1-2743F1C76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Exkurs – </a:t>
            </a:r>
            <a:r>
              <a:rPr lang="de-CH" dirty="0"/>
              <a:t>Systematisches Register</a:t>
            </a:r>
            <a:endParaRPr lang="en-CH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6A68A7-E34A-8C71-4420-BB338B128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74296"/>
              </p:ext>
            </p:extLst>
          </p:nvPr>
        </p:nvGraphicFramePr>
        <p:xfrm>
          <a:off x="838198" y="1825625"/>
          <a:ext cx="1051560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62795590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02461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Bundesgesetz</a:t>
                      </a:r>
                      <a:r>
                        <a:rPr lang="en-GB" dirty="0"/>
                        <a:t> (BG) und </a:t>
                      </a:r>
                      <a:r>
                        <a:rPr lang="en-GB" dirty="0" err="1"/>
                        <a:t>Verordnung</a:t>
                      </a:r>
                      <a:r>
                        <a:rPr lang="en-GB" dirty="0"/>
                        <a:t> (V)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Internationale </a:t>
                      </a:r>
                      <a:r>
                        <a:rPr lang="en-GB" dirty="0" err="1"/>
                        <a:t>Übereinkommen</a:t>
                      </a:r>
                      <a:r>
                        <a:rPr lang="en-GB" dirty="0"/>
                        <a:t> und </a:t>
                      </a:r>
                      <a:r>
                        <a:rPr lang="en-GB" dirty="0" err="1"/>
                        <a:t>völkerrechtliche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Verträge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85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2. </a:t>
                      </a:r>
                      <a:r>
                        <a:rPr lang="en-GB" dirty="0" err="1">
                          <a:solidFill>
                            <a:srgbClr val="FF0000"/>
                          </a:solidFill>
                        </a:rPr>
                        <a:t>Fundstelle</a:t>
                      </a:r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444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Genehmigungen</a:t>
                      </a:r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534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Inkrafttreten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Inkrafttreten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563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Berichtigungen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Berichtigungen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546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Änderungen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Änderungen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18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Aufhebungen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Aufhebungen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781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Verlängerungen</a:t>
                      </a:r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891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Geltungsbereich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83583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8F54851-6B40-FD29-4E7A-D43B0065A0F8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W</a:t>
            </a:r>
            <a:r>
              <a:rPr lang="en-CH" dirty="0">
                <a:solidFill>
                  <a:srgbClr val="FF0000"/>
                </a:solidFill>
              </a:rPr>
              <a:t>as ist mit 2. Fundstelle gemeint?</a:t>
            </a:r>
          </a:p>
        </p:txBody>
      </p:sp>
    </p:spTree>
    <p:extLst>
      <p:ext uri="{BB962C8B-B14F-4D97-AF65-F5344CB8AC3E}">
        <p14:creationId xmlns:p14="http://schemas.microsoft.com/office/powerpoint/2010/main" val="36773179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E8256-F408-0618-F2AF-8FE2F7279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7688A-8B93-9A8F-4930-DCE60182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Zitierregeln – Erlasse</a:t>
            </a:r>
            <a:r>
              <a:rPr lang="en-CH" baseline="30000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308622-172C-6565-504A-61A23BEB853B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aseline="30000" dirty="0"/>
              <a:t>6 </a:t>
            </a:r>
            <a:r>
              <a:rPr lang="en-GB" dirty="0"/>
              <a:t>2024, BK, </a:t>
            </a:r>
            <a:r>
              <a:rPr lang="en-GB" dirty="0" err="1"/>
              <a:t>Schreibweisungen</a:t>
            </a:r>
            <a:r>
              <a:rPr lang="en-GB" dirty="0"/>
              <a:t> - </a:t>
            </a:r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dirty="0" err="1"/>
              <a:t>Zitierregeln</a:t>
            </a:r>
            <a:r>
              <a:rPr lang="en-GB" dirty="0"/>
              <a:t> für AS und </a:t>
            </a:r>
            <a:r>
              <a:rPr lang="en-GB" dirty="0" err="1"/>
              <a:t>BBl</a:t>
            </a:r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5300B8-5F1F-3856-876A-1E4152AB8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131610"/>
              </p:ext>
            </p:extLst>
          </p:nvPr>
        </p:nvGraphicFramePr>
        <p:xfrm>
          <a:off x="838198" y="1690688"/>
          <a:ext cx="12558682" cy="430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4911789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237515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65185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Abk.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Zitierregeln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Beispiel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Amtliche Sammlung</a:t>
                      </a:r>
                    </a:p>
                    <a:p>
                      <a:r>
                        <a:rPr lang="en-CH" dirty="0"/>
                        <a:t>&lt;2021</a:t>
                      </a:r>
                    </a:p>
                    <a:p>
                      <a:r>
                        <a:rPr lang="en-CH" dirty="0"/>
                        <a:t>&lt;1947</a:t>
                      </a:r>
                    </a:p>
                    <a:p>
                      <a:r>
                        <a:rPr lang="en-CH" dirty="0"/>
                        <a:t>&gt;</a:t>
                      </a:r>
                      <a:r>
                        <a:rPr lang="en-CH" dirty="0">
                          <a:solidFill>
                            <a:srgbClr val="FF0000"/>
                          </a:solidFill>
                        </a:rPr>
                        <a:t>????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AS {year_absolute***} {chronological_order*}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{year_absolute} </a:t>
                      </a:r>
                      <a:r>
                        <a:rPr lang="en-CH" b="1" dirty="0"/>
                        <a:t>{page</a:t>
                      </a:r>
                      <a:r>
                        <a:rPr lang="en-CH" b="0" dirty="0"/>
                        <a:t>_number</a:t>
                      </a:r>
                      <a:r>
                        <a:rPr lang="en-CH" b="1" dirty="0"/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{volume_</a:t>
                      </a:r>
                      <a:r>
                        <a:rPr lang="en-CH" b="1" dirty="0"/>
                        <a:t>arabic</a:t>
                      </a:r>
                      <a:r>
                        <a:rPr lang="en-CH" dirty="0"/>
                        <a:t>} {page_number}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{volume_</a:t>
                      </a:r>
                      <a:r>
                        <a:rPr lang="en-CH" b="1" dirty="0"/>
                        <a:t>roman</a:t>
                      </a:r>
                      <a:r>
                        <a:rPr lang="en-CH" dirty="0"/>
                        <a:t>} {page_number}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AS 2021 15</a:t>
                      </a:r>
                    </a:p>
                    <a:p>
                      <a:r>
                        <a:rPr lang="en-GB" dirty="0"/>
                        <a:t>AS 1029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  <a:p>
                      <a:r>
                        <a:rPr lang="en-GB" dirty="0">
                          <a:latin typeface="Arial" panose="020B0604020202020204" pitchFamily="34" charset="0"/>
                        </a:rPr>
                        <a:t>AS 2 684</a:t>
                      </a:r>
                    </a:p>
                    <a:p>
                      <a:r>
                        <a:rPr lang="en-GB" dirty="0">
                          <a:latin typeface="Arial" panose="020B0604020202020204" pitchFamily="34" charset="0"/>
                        </a:rPr>
                        <a:t>AS III 404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961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SR {</a:t>
                      </a:r>
                      <a:r>
                        <a:rPr lang="en-CH" b="1" dirty="0"/>
                        <a:t>systematic</a:t>
                      </a:r>
                      <a:r>
                        <a:rPr lang="en-CH" dirty="0"/>
                        <a:t>_number}</a:t>
                      </a:r>
                      <a:r>
                        <a:rPr lang="en-CH" b="1" dirty="0"/>
                        <a:t>.</a:t>
                      </a:r>
                      <a:r>
                        <a:rPr lang="en-CH" dirty="0"/>
                        <a:t>{</a:t>
                      </a:r>
                      <a:r>
                        <a:rPr lang="en-CH" b="1" dirty="0"/>
                        <a:t>sequence</a:t>
                      </a:r>
                      <a:r>
                        <a:rPr lang="en-CH" dirty="0"/>
                        <a:t>_number}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SR 120.1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36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BBl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Bundesblatt</a:t>
                      </a:r>
                    </a:p>
                    <a:p>
                      <a:r>
                        <a:rPr lang="en-CH" dirty="0"/>
                        <a:t>&lt;2021</a:t>
                      </a:r>
                    </a:p>
                    <a:p>
                      <a:r>
                        <a:rPr lang="en-CH" dirty="0"/>
                        <a:t>&lt;1998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BBl {year_absolute} {**} {chronological_order*}</a:t>
                      </a:r>
                    </a:p>
                    <a:p>
                      <a:r>
                        <a:rPr lang="en-CH" dirty="0"/>
                        <a:t>BBl {year_absolute} {</a:t>
                      </a:r>
                      <a:r>
                        <a:rPr lang="en-CH" b="1" dirty="0"/>
                        <a:t>page</a:t>
                      </a:r>
                      <a:r>
                        <a:rPr lang="en-CH" dirty="0"/>
                        <a:t>_number}</a:t>
                      </a:r>
                    </a:p>
                    <a:p>
                      <a:r>
                        <a:rPr lang="en-CH" dirty="0"/>
                        <a:t>BBl {volume_</a:t>
                      </a:r>
                      <a:r>
                        <a:rPr lang="en-CH" b="1" dirty="0"/>
                        <a:t>roman</a:t>
                      </a:r>
                      <a:r>
                        <a:rPr lang="en-CH" dirty="0"/>
                        <a:t>}  {page_number}</a:t>
                      </a:r>
                    </a:p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BBl</a:t>
                      </a:r>
                      <a:r>
                        <a:rPr lang="en-GB" dirty="0"/>
                        <a:t> 2021 3</a:t>
                      </a:r>
                    </a:p>
                    <a:p>
                      <a:r>
                        <a:rPr lang="en-GB" dirty="0" err="1"/>
                        <a:t>BBl</a:t>
                      </a:r>
                      <a:r>
                        <a:rPr lang="en-GB" dirty="0"/>
                        <a:t> 2019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</a:t>
                      </a:r>
                    </a:p>
                    <a:p>
                      <a:r>
                        <a:rPr lang="en-GB" dirty="0" err="1"/>
                        <a:t>BBl</a:t>
                      </a:r>
                      <a:r>
                        <a:rPr lang="en-GB" dirty="0"/>
                        <a:t>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541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Amtliche Sammlung Bundesgerichtsentscheide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 {year_relative} {volume_roman} {page_number}</a:t>
                      </a:r>
                      <a:b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b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Urteil</a:t>
                      </a:r>
                    </a:p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Entscheid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 123 I 258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18374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13BB333-5E46-A2C1-9816-EE221AF9F6A4}"/>
              </a:ext>
            </a:extLst>
          </p:cNvPr>
          <p:cNvSpPr txBox="1"/>
          <p:nvPr/>
        </p:nvSpPr>
        <p:spPr>
          <a:xfrm>
            <a:off x="838198" y="7244959"/>
            <a:ext cx="105155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effectLst/>
                <a:latin typeface="Arial" panose="020B0604020202020204" pitchFamily="34" charset="0"/>
              </a:rPr>
              <a:t>In der </a:t>
            </a:r>
            <a:r>
              <a:rPr lang="en-GB" b="1" i="0" dirty="0" err="1">
                <a:effectLst/>
                <a:latin typeface="Arial" panose="020B0604020202020204" pitchFamily="34" charset="0"/>
              </a:rPr>
              <a:t>Vergangenheit</a:t>
            </a:r>
            <a:r>
              <a:rPr lang="en-GB" b="1" i="0" dirty="0">
                <a:effectLst/>
                <a:latin typeface="Arial" panose="020B0604020202020204" pitchFamily="34" charset="0"/>
              </a:rPr>
              <a:t>:</a:t>
            </a:r>
          </a:p>
          <a:p>
            <a:r>
              <a:rPr lang="en-GB" b="0" i="0" dirty="0">
                <a:effectLst/>
                <a:latin typeface="Arial" panose="020B0604020202020204" pitchFamily="34" charset="0"/>
              </a:rPr>
              <a:t>* bis </a:t>
            </a:r>
            <a:r>
              <a:rPr lang="en-GB" dirty="0">
                <a:latin typeface="Arial" panose="020B0604020202020204" pitchFamily="34" charset="0"/>
              </a:rPr>
              <a:t>2020: die </a:t>
            </a:r>
            <a:r>
              <a:rPr lang="en-GB" dirty="0" err="1">
                <a:latin typeface="Arial" panose="020B0604020202020204" pitchFamily="34" charset="0"/>
              </a:rPr>
              <a:t>erste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Seite</a:t>
            </a:r>
            <a:r>
              <a:rPr lang="en-GB" dirty="0">
                <a:latin typeface="Arial" panose="020B0604020202020204" pitchFamily="34" charset="0"/>
              </a:rPr>
              <a:t> der </a:t>
            </a:r>
            <a:r>
              <a:rPr lang="en-GB" dirty="0" err="1">
                <a:latin typeface="Arial" panose="020B0604020202020204" pitchFamily="34" charset="0"/>
              </a:rPr>
              <a:t>Publikation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Ordnungsnummer</a:t>
            </a:r>
            <a:endParaRPr lang="en-GB" dirty="0">
              <a:latin typeface="Arial" panose="020B0604020202020204" pitchFamily="34" charset="0"/>
            </a:endParaRPr>
          </a:p>
          <a:p>
            <a:r>
              <a:rPr lang="en-CH" dirty="0">
                <a:latin typeface="Arial" panose="020B0604020202020204" pitchFamily="34" charset="0"/>
              </a:rPr>
              <a:t>** bis 1997: mit </a:t>
            </a:r>
            <a:r>
              <a:rPr lang="en-GB" dirty="0" err="1">
                <a:latin typeface="Arial" panose="020B0604020202020204" pitchFamily="34" charset="0"/>
              </a:rPr>
              <a:t>Bandzahl</a:t>
            </a:r>
            <a:r>
              <a:rPr lang="en-GB" dirty="0">
                <a:latin typeface="Arial" panose="020B0604020202020204" pitchFamily="34" charset="0"/>
              </a:rPr>
              <a:t> {</a:t>
            </a:r>
            <a:r>
              <a:rPr lang="en-GB" dirty="0" err="1">
                <a:latin typeface="Arial" panose="020B0604020202020204" pitchFamily="34" charset="0"/>
              </a:rPr>
              <a:t>volume_roman</a:t>
            </a:r>
            <a:r>
              <a:rPr lang="en-GB" dirty="0">
                <a:latin typeface="Arial" panose="020B0604020202020204" pitchFamily="34" charset="0"/>
              </a:rPr>
              <a:t>} </a:t>
            </a:r>
            <a:r>
              <a:rPr lang="en-GB" dirty="0" err="1">
                <a:latin typeface="Arial" panose="020B0604020202020204" pitchFamily="34" charset="0"/>
              </a:rPr>
              <a:t>als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römische</a:t>
            </a:r>
            <a:r>
              <a:rPr lang="en-GB" dirty="0">
                <a:latin typeface="Arial" panose="020B0604020202020204" pitchFamily="34" charset="0"/>
              </a:rPr>
              <a:t> Ziffer </a:t>
            </a:r>
            <a:r>
              <a:rPr lang="en-GB" b="1" dirty="0" err="1">
                <a:latin typeface="Arial" panose="020B0604020202020204" pitchFamily="34" charset="0"/>
              </a:rPr>
              <a:t>vor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Seitenzahl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Ordnungsnummer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 </a:t>
            </a:r>
            <a:r>
              <a:rPr lang="en-GB" dirty="0" err="1">
                <a:latin typeface="Arial" panose="020B0604020202020204" pitchFamily="34" charset="0"/>
              </a:rPr>
              <a:t>BBl</a:t>
            </a:r>
            <a:r>
              <a:rPr lang="en-GB" dirty="0">
                <a:latin typeface="Arial" panose="020B0604020202020204" pitchFamily="34" charset="0"/>
              </a:rPr>
              <a:t> 1996 II 335)</a:t>
            </a:r>
          </a:p>
          <a:p>
            <a:r>
              <a:rPr lang="en-GB" dirty="0">
                <a:latin typeface="Arial" panose="020B0604020202020204" pitchFamily="34" charset="0"/>
              </a:rPr>
              <a:t>*** bis 1947: </a:t>
            </a:r>
            <a:r>
              <a:rPr lang="en-GB" dirty="0" err="1">
                <a:latin typeface="Arial" panose="020B0604020202020204" pitchFamily="34" charset="0"/>
              </a:rPr>
              <a:t>arabische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Ziffern</a:t>
            </a:r>
            <a:r>
              <a:rPr lang="en-GB" dirty="0">
                <a:latin typeface="Arial" panose="020B0604020202020204" pitchFamily="34" charset="0"/>
              </a:rPr>
              <a:t> für </a:t>
            </a:r>
            <a:r>
              <a:rPr lang="en-GB" dirty="0" err="1">
                <a:latin typeface="Arial" panose="020B0604020202020204" pitchFamily="34" charset="0"/>
              </a:rPr>
              <a:t>neue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Folge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 AS 2 684) und </a:t>
            </a:r>
            <a:r>
              <a:rPr lang="en-GB" dirty="0" err="1">
                <a:latin typeface="Arial" panose="020B0604020202020204" pitchFamily="34" charset="0"/>
              </a:rPr>
              <a:t>römische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Ziffern</a:t>
            </a:r>
            <a:r>
              <a:rPr lang="en-GB" dirty="0">
                <a:latin typeface="Arial" panose="020B0604020202020204" pitchFamily="34" charset="0"/>
              </a:rPr>
              <a:t> für </a:t>
            </a:r>
            <a:r>
              <a:rPr lang="en-GB" dirty="0" err="1">
                <a:latin typeface="Arial" panose="020B0604020202020204" pitchFamily="34" charset="0"/>
              </a:rPr>
              <a:t>alte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Folge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.:) </a:t>
            </a:r>
            <a:r>
              <a:rPr lang="en-GB" b="1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Jahr – </a:t>
            </a:r>
            <a:r>
              <a:rPr lang="en-GB" dirty="0">
                <a:solidFill>
                  <a:srgbClr val="FF0000"/>
                </a:solidFill>
                <a:latin typeface="Arial" panose="020B0604020202020204" pitchFamily="34" charset="0"/>
              </a:rPr>
              <a:t>von </a:t>
            </a:r>
            <a:r>
              <a:rPr lang="en-GB" dirty="0" err="1">
                <a:solidFill>
                  <a:srgbClr val="FF0000"/>
                </a:solidFill>
                <a:latin typeface="Arial" panose="020B0604020202020204" pitchFamily="34" charset="0"/>
              </a:rPr>
              <a:t>wann</a:t>
            </a:r>
            <a:r>
              <a:rPr lang="en-GB" dirty="0">
                <a:solidFill>
                  <a:srgbClr val="FF0000"/>
                </a:solidFill>
                <a:latin typeface="Arial" panose="020B0604020202020204" pitchFamily="34" charset="0"/>
              </a:rPr>
              <a:t> bis </a:t>
            </a:r>
            <a:r>
              <a:rPr lang="en-GB" dirty="0" err="1">
                <a:solidFill>
                  <a:srgbClr val="FF0000"/>
                </a:solidFill>
                <a:latin typeface="Arial" panose="020B0604020202020204" pitchFamily="34" charset="0"/>
              </a:rPr>
              <a:t>wann</a:t>
            </a:r>
            <a:r>
              <a:rPr lang="en-GB" dirty="0">
                <a:solidFill>
                  <a:srgbClr val="FF0000"/>
                </a:solidFill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EDABC6-2573-C704-CBA8-F29148A3B911}"/>
              </a:ext>
            </a:extLst>
          </p:cNvPr>
          <p:cNvSpPr/>
          <p:nvPr/>
        </p:nvSpPr>
        <p:spPr>
          <a:xfrm>
            <a:off x="6421120" y="2357120"/>
            <a:ext cx="1686560" cy="8534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6F935E-132F-B788-E44E-30320904CB69}"/>
              </a:ext>
            </a:extLst>
          </p:cNvPr>
          <p:cNvSpPr/>
          <p:nvPr/>
        </p:nvSpPr>
        <p:spPr>
          <a:xfrm>
            <a:off x="6421120" y="4230371"/>
            <a:ext cx="1686560" cy="5854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060822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31461-59E8-70A0-E60D-FF96FB7F2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3A94E4-23B4-3A58-AA45-D501E153D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Level 1:	</a:t>
            </a:r>
            <a:r>
              <a:rPr lang="en-GB" dirty="0" err="1"/>
              <a:t>Publikation</a:t>
            </a:r>
            <a:r>
              <a:rPr lang="en-GB" dirty="0"/>
              <a:t>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// AS, SR,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BBl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, ..</a:t>
            </a:r>
          </a:p>
          <a:p>
            <a:r>
              <a:rPr lang="en-GB" dirty="0"/>
              <a:t>Level 2: 	Jahr</a:t>
            </a:r>
          </a:p>
          <a:p>
            <a:r>
              <a:rPr lang="en-GB" dirty="0"/>
              <a:t>Level 3: 	Natural Identifier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// AS 2021 15, SR 120.1,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BBl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2021 3</a:t>
            </a:r>
            <a:endParaRPr lang="en-GB" dirty="0"/>
          </a:p>
          <a:p>
            <a:pPr>
              <a:buFont typeface="Symbol" pitchFamily="2" charset="2"/>
              <a:buChar char="Þ"/>
            </a:pPr>
            <a:r>
              <a:rPr lang="en-GB" dirty="0"/>
              <a:t>Die </a:t>
            </a:r>
            <a:r>
              <a:rPr lang="en-GB" dirty="0" err="1"/>
              <a:t>offiziellen</a:t>
            </a:r>
            <a:r>
              <a:rPr lang="en-GB" dirty="0"/>
              <a:t> </a:t>
            </a:r>
            <a:r>
              <a:rPr lang="en-GB" dirty="0" err="1"/>
              <a:t>Zitierregeln</a:t>
            </a:r>
            <a:r>
              <a:rPr lang="en-GB" dirty="0"/>
              <a:t> für die AS und des </a:t>
            </a:r>
            <a:r>
              <a:rPr lang="en-GB" dirty="0" err="1"/>
              <a:t>BBl</a:t>
            </a:r>
            <a:r>
              <a:rPr lang="en-GB" dirty="0"/>
              <a:t> </a:t>
            </a:r>
            <a:r>
              <a:rPr lang="en-GB" dirty="0" err="1"/>
              <a:t>machen</a:t>
            </a:r>
            <a:r>
              <a:rPr lang="en-GB" dirty="0"/>
              <a:t> </a:t>
            </a:r>
            <a:r>
              <a:rPr lang="en-GB" dirty="0" err="1"/>
              <a:t>sich</a:t>
            </a:r>
            <a:r>
              <a:rPr lang="en-GB" dirty="0"/>
              <a:t> das </a:t>
            </a:r>
            <a:r>
              <a:rPr lang="en-GB" b="1" dirty="0"/>
              <a:t>Jahr der </a:t>
            </a:r>
            <a:r>
              <a:rPr lang="en-GB" b="1" dirty="0" err="1"/>
              <a:t>Publikation</a:t>
            </a:r>
            <a:r>
              <a:rPr lang="en-GB" b="1" dirty="0"/>
              <a:t> </a:t>
            </a:r>
            <a:r>
              <a:rPr lang="en-GB" dirty="0"/>
              <a:t>und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b="1" dirty="0" err="1"/>
              <a:t>fortlaufende</a:t>
            </a:r>
            <a:r>
              <a:rPr lang="en-GB" b="1" dirty="0"/>
              <a:t> </a:t>
            </a:r>
            <a:r>
              <a:rPr lang="en-GB" b="1" dirty="0" err="1"/>
              <a:t>Ordnungsnummer</a:t>
            </a:r>
            <a:r>
              <a:rPr lang="en-GB" b="1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Nutze</a:t>
            </a:r>
            <a:r>
              <a:rPr lang="en-GB" dirty="0"/>
              <a:t>.</a:t>
            </a:r>
          </a:p>
          <a:p>
            <a:pPr>
              <a:buFont typeface="Symbol" pitchFamily="2" charset="2"/>
              <a:buChar char="Þ"/>
            </a:pPr>
            <a:r>
              <a:rPr lang="en-GB" dirty="0"/>
              <a:t>SR </a:t>
            </a:r>
            <a:r>
              <a:rPr lang="en-GB" dirty="0" err="1"/>
              <a:t>anders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3683C3-AA9B-C5BF-9505-48B7419A4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Zitierregeln – Aufbau</a:t>
            </a:r>
          </a:p>
        </p:txBody>
      </p:sp>
    </p:spTree>
    <p:extLst>
      <p:ext uri="{BB962C8B-B14F-4D97-AF65-F5344CB8AC3E}">
        <p14:creationId xmlns:p14="http://schemas.microsoft.com/office/powerpoint/2010/main" val="18566231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CF1ED-42F2-1184-EFFC-5A7FEAE7B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A698D9D-8425-F033-80F5-5FDC02600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b="1" dirty="0" err="1"/>
              <a:t>Amtliche</a:t>
            </a:r>
            <a:r>
              <a:rPr lang="en-GB" b="1" dirty="0"/>
              <a:t> </a:t>
            </a:r>
            <a:r>
              <a:rPr lang="en-GB" b="1" dirty="0" err="1"/>
              <a:t>Sammlung</a:t>
            </a:r>
            <a:r>
              <a:rPr lang="en-GB" b="1" dirty="0"/>
              <a:t> der </a:t>
            </a:r>
            <a:r>
              <a:rPr lang="en-GB" b="1" dirty="0" err="1"/>
              <a:t>Bundesgerichtsentscheide</a:t>
            </a:r>
            <a:r>
              <a:rPr lang="en-GB" b="1" dirty="0"/>
              <a:t>: </a:t>
            </a:r>
            <a:r>
              <a:rPr lang="en-GB" dirty="0"/>
              <a:t>Nur </a:t>
            </a:r>
            <a:r>
              <a:rPr lang="en-GB" dirty="0" err="1"/>
              <a:t>Urteile</a:t>
            </a:r>
            <a:r>
              <a:rPr lang="en-GB" dirty="0"/>
              <a:t>, die in der </a:t>
            </a:r>
            <a:r>
              <a:rPr lang="en-GB" dirty="0" err="1"/>
              <a:t>amtlichen</a:t>
            </a:r>
            <a:r>
              <a:rPr lang="en-GB" dirty="0"/>
              <a:t> </a:t>
            </a:r>
            <a:r>
              <a:rPr lang="en-GB" dirty="0" err="1"/>
              <a:t>Sammlung</a:t>
            </a:r>
            <a:r>
              <a:rPr lang="en-GB" dirty="0"/>
              <a:t> </a:t>
            </a:r>
            <a:r>
              <a:rPr lang="en-GB" dirty="0" err="1"/>
              <a:t>publiziert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, </a:t>
            </a:r>
            <a:r>
              <a:rPr lang="en-GB" dirty="0" err="1"/>
              <a:t>dürfen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„BGE“ </a:t>
            </a:r>
            <a:r>
              <a:rPr lang="en-GB" dirty="0" err="1"/>
              <a:t>bezeichnet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.</a:t>
            </a:r>
            <a:endParaRPr lang="en-GB" b="1" dirty="0"/>
          </a:p>
          <a:p>
            <a:r>
              <a:rPr lang="en-GB" dirty="0" err="1"/>
              <a:t>Verweist</a:t>
            </a:r>
            <a:r>
              <a:rPr lang="en-GB" dirty="0"/>
              <a:t> auf den </a:t>
            </a:r>
            <a:r>
              <a:rPr lang="en-GB" dirty="0" err="1"/>
              <a:t>ganzen</a:t>
            </a:r>
            <a:r>
              <a:rPr lang="en-GB" dirty="0"/>
              <a:t> </a:t>
            </a:r>
            <a:r>
              <a:rPr lang="en-GB" dirty="0" err="1"/>
              <a:t>Entscheid</a:t>
            </a:r>
            <a:r>
              <a:rPr lang="en-GB" dirty="0"/>
              <a:t>:</a:t>
            </a:r>
            <a:br>
              <a:rPr lang="en-GB" dirty="0"/>
            </a:br>
            <a:r>
              <a:rPr lang="en-GB" b="1" dirty="0"/>
              <a:t>BGE 125 I 431.</a:t>
            </a:r>
          </a:p>
          <a:p>
            <a:r>
              <a:rPr lang="en-GB" dirty="0" err="1"/>
              <a:t>Beleg</a:t>
            </a:r>
            <a:r>
              <a:rPr lang="en-GB" dirty="0"/>
              <a:t> für die </a:t>
            </a:r>
            <a:r>
              <a:rPr lang="en-GB" dirty="0" err="1"/>
              <a:t>Aussage</a:t>
            </a:r>
            <a:r>
              <a:rPr lang="en-GB" dirty="0"/>
              <a:t>: “Der </a:t>
            </a:r>
            <a:r>
              <a:rPr lang="en-GB" dirty="0" err="1"/>
              <a:t>Grundsatz</a:t>
            </a:r>
            <a:r>
              <a:rPr lang="en-GB" dirty="0"/>
              <a:t> der </a:t>
            </a:r>
            <a:r>
              <a:rPr lang="en-GB" dirty="0" err="1"/>
              <a:t>Gleichbehandlung</a:t>
            </a:r>
            <a:r>
              <a:rPr lang="en-GB" dirty="0"/>
              <a:t> der </a:t>
            </a:r>
            <a:r>
              <a:rPr lang="en-GB" dirty="0" err="1"/>
              <a:t>Gewerbegenossen</a:t>
            </a:r>
            <a:r>
              <a:rPr lang="en-GB" dirty="0"/>
              <a:t> gilt nicht </a:t>
            </a:r>
            <a:r>
              <a:rPr lang="en-GB" dirty="0" err="1"/>
              <a:t>absolut</a:t>
            </a:r>
            <a:r>
              <a:rPr lang="en-GB" dirty="0"/>
              <a:t>...”</a:t>
            </a:r>
            <a:br>
              <a:rPr lang="en-GB" dirty="0"/>
            </a:br>
            <a:r>
              <a:rPr lang="en-GB" b="1" dirty="0"/>
              <a:t>BGE 125 I 431, Erw. 4b/aa S. 436.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 err="1"/>
              <a:t>Übrige</a:t>
            </a:r>
            <a:r>
              <a:rPr lang="en-GB" b="1" dirty="0"/>
              <a:t> </a:t>
            </a:r>
            <a:r>
              <a:rPr lang="en-GB" b="1" dirty="0" err="1"/>
              <a:t>Entscheide</a:t>
            </a:r>
            <a:r>
              <a:rPr lang="en-GB" b="1" dirty="0"/>
              <a:t>:</a:t>
            </a:r>
          </a:p>
          <a:p>
            <a:r>
              <a:rPr lang="en-GB" dirty="0"/>
              <a:t>Ein </a:t>
            </a:r>
            <a:r>
              <a:rPr lang="en-GB" dirty="0" err="1"/>
              <a:t>Urteil</a:t>
            </a:r>
            <a:r>
              <a:rPr lang="en-GB" dirty="0"/>
              <a:t> des </a:t>
            </a:r>
            <a:r>
              <a:rPr lang="en-GB" dirty="0" err="1"/>
              <a:t>Bundesgerichts</a:t>
            </a:r>
            <a:r>
              <a:rPr lang="en-GB" dirty="0"/>
              <a:t>, das </a:t>
            </a:r>
            <a:r>
              <a:rPr lang="en-GB" dirty="0" err="1"/>
              <a:t>nur</a:t>
            </a:r>
            <a:r>
              <a:rPr lang="en-GB" dirty="0"/>
              <a:t> auf der </a:t>
            </a:r>
            <a:r>
              <a:rPr lang="en-GB" dirty="0" err="1"/>
              <a:t>Internetseite</a:t>
            </a:r>
            <a:r>
              <a:rPr lang="en-GB" dirty="0"/>
              <a:t> des </a:t>
            </a:r>
            <a:r>
              <a:rPr lang="en-GB" dirty="0" err="1"/>
              <a:t>BGer</a:t>
            </a:r>
            <a:r>
              <a:rPr lang="en-GB" dirty="0"/>
              <a:t> (</a:t>
            </a:r>
            <a:r>
              <a:rPr lang="en-GB" dirty="0" err="1"/>
              <a:t>Urteile</a:t>
            </a:r>
            <a:r>
              <a:rPr lang="en-GB" dirty="0"/>
              <a:t> ab 2000) </a:t>
            </a:r>
            <a:r>
              <a:rPr lang="en-GB" dirty="0" err="1"/>
              <a:t>veröffentlicht</a:t>
            </a:r>
            <a:r>
              <a:rPr lang="en-GB" dirty="0"/>
              <a:t> </a:t>
            </a:r>
            <a:r>
              <a:rPr lang="en-GB" dirty="0" err="1"/>
              <a:t>wurde</a:t>
            </a:r>
            <a:r>
              <a:rPr lang="en-GB" dirty="0"/>
              <a:t>:</a:t>
            </a:r>
            <a:br>
              <a:rPr lang="en-GB" dirty="0"/>
            </a:br>
            <a:r>
              <a:rPr lang="en-GB" b="1" dirty="0" err="1"/>
              <a:t>Urteil</a:t>
            </a:r>
            <a:r>
              <a:rPr lang="en-GB" b="1" dirty="0"/>
              <a:t> </a:t>
            </a:r>
            <a:r>
              <a:rPr lang="en-GB" b="1" dirty="0" err="1"/>
              <a:t>BGer</a:t>
            </a:r>
            <a:r>
              <a:rPr lang="en-GB" b="1" dirty="0"/>
              <a:t> </a:t>
            </a:r>
            <a:r>
              <a:rPr lang="en-GB" b="1" dirty="0" err="1"/>
              <a:t>vom</a:t>
            </a:r>
            <a:r>
              <a:rPr lang="en-GB" b="1" dirty="0"/>
              <a:t> 8. Juni 2004 (2A.409/2003) Erw. 1.3. </a:t>
            </a:r>
          </a:p>
          <a:p>
            <a:r>
              <a:rPr lang="en-GB" dirty="0" err="1"/>
              <a:t>Wird</a:t>
            </a:r>
            <a:r>
              <a:rPr lang="en-GB" dirty="0"/>
              <a:t> auf in </a:t>
            </a:r>
            <a:r>
              <a:rPr lang="en-GB" dirty="0" err="1"/>
              <a:t>einer</a:t>
            </a:r>
            <a:r>
              <a:rPr lang="en-GB" dirty="0"/>
              <a:t> </a:t>
            </a:r>
            <a:r>
              <a:rPr lang="en-GB" dirty="0" err="1"/>
              <a:t>Zeitschrift</a:t>
            </a:r>
            <a:r>
              <a:rPr lang="en-GB" dirty="0"/>
              <a:t> </a:t>
            </a:r>
            <a:r>
              <a:rPr lang="en-GB" dirty="0" err="1"/>
              <a:t>publiziertes</a:t>
            </a:r>
            <a:r>
              <a:rPr lang="en-GB" dirty="0"/>
              <a:t> </a:t>
            </a:r>
            <a:r>
              <a:rPr lang="en-GB" dirty="0" err="1"/>
              <a:t>Urteil</a:t>
            </a:r>
            <a:r>
              <a:rPr lang="en-GB" dirty="0"/>
              <a:t> </a:t>
            </a:r>
            <a:r>
              <a:rPr lang="en-GB" dirty="0" err="1"/>
              <a:t>verwiesen</a:t>
            </a:r>
            <a:r>
              <a:rPr lang="en-GB" dirty="0"/>
              <a:t>:</a:t>
            </a:r>
            <a:br>
              <a:rPr lang="en-GB" dirty="0"/>
            </a:br>
            <a:r>
              <a:rPr lang="en-GB" b="1" dirty="0" err="1">
                <a:solidFill>
                  <a:srgbClr val="FF0000"/>
                </a:solidFill>
                <a:highlight>
                  <a:srgbClr val="FFFF00"/>
                </a:highlight>
              </a:rPr>
              <a:t>Entscheid</a:t>
            </a:r>
            <a:r>
              <a:rPr lang="en-GB" b="1" dirty="0"/>
              <a:t> </a:t>
            </a:r>
            <a:r>
              <a:rPr lang="en-GB" b="1" dirty="0" err="1"/>
              <a:t>BGer</a:t>
            </a:r>
            <a:r>
              <a:rPr lang="en-GB" b="1" dirty="0"/>
              <a:t> </a:t>
            </a:r>
            <a:r>
              <a:rPr lang="en-GB" b="1" dirty="0" err="1"/>
              <a:t>vom</a:t>
            </a:r>
            <a:r>
              <a:rPr lang="en-GB" b="1" dirty="0"/>
              <a:t> 14. Mai 2001, </a:t>
            </a:r>
            <a:r>
              <a:rPr lang="en-GB" b="1" dirty="0" err="1"/>
              <a:t>ZBl</a:t>
            </a:r>
            <a:r>
              <a:rPr lang="en-GB" b="1" dirty="0"/>
              <a:t> 103 (2002) 319, S. 320.</a:t>
            </a:r>
          </a:p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6748AC-D1C9-D3E0-5672-0B7618BBE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Zitierregeln - Entscheide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5BE3E0-6255-798F-2AC8-51722851F8C0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rgbClr val="FF0000"/>
                </a:solidFill>
              </a:rPr>
              <a:t>Entscheid vs. Urteil?</a:t>
            </a:r>
          </a:p>
        </p:txBody>
      </p:sp>
    </p:spTree>
    <p:extLst>
      <p:ext uri="{BB962C8B-B14F-4D97-AF65-F5344CB8AC3E}">
        <p14:creationId xmlns:p14="http://schemas.microsoft.com/office/powerpoint/2010/main" val="38133798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B9FDA-0B36-FE56-BE0B-C8AC2A30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43343-47CC-354A-76E0-D55F86A1A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Zitierregeln – Erlasse</a:t>
            </a:r>
            <a:r>
              <a:rPr lang="en-CH" baseline="30000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FFAD13-5D19-0824-3D6D-0AECE12B88C8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aseline="30000" dirty="0"/>
              <a:t>6 </a:t>
            </a:r>
            <a:r>
              <a:rPr lang="en-GB" dirty="0"/>
              <a:t>2024, BK, </a:t>
            </a:r>
            <a:r>
              <a:rPr lang="en-GB" dirty="0" err="1"/>
              <a:t>Schreibweisungen</a:t>
            </a:r>
            <a:r>
              <a:rPr lang="en-GB" dirty="0"/>
              <a:t> - </a:t>
            </a:r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dirty="0" err="1"/>
              <a:t>Zitierregeln</a:t>
            </a:r>
            <a:r>
              <a:rPr lang="en-GB" dirty="0"/>
              <a:t> für AS und </a:t>
            </a:r>
            <a:r>
              <a:rPr lang="en-GB" dirty="0" err="1"/>
              <a:t>BBl</a:t>
            </a:r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355D9DA-0CC3-FB55-FE71-822414793F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633510"/>
              </p:ext>
            </p:extLst>
          </p:nvPr>
        </p:nvGraphicFramePr>
        <p:xfrm>
          <a:off x="838198" y="1690688"/>
          <a:ext cx="10515599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868706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237515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65185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Abk.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Zitierregeln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Beispiel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Amtliche Sammlung</a:t>
                      </a:r>
                    </a:p>
                    <a:p>
                      <a:r>
                        <a:rPr lang="en-CH" dirty="0"/>
                        <a:t>&lt;2021</a:t>
                      </a:r>
                    </a:p>
                    <a:p>
                      <a:r>
                        <a:rPr lang="en-CH" dirty="0"/>
                        <a:t>&lt;1947</a:t>
                      </a:r>
                    </a:p>
                    <a:p>
                      <a:r>
                        <a:rPr lang="en-CH" dirty="0"/>
                        <a:t>&gt;</a:t>
                      </a:r>
                      <a:r>
                        <a:rPr lang="en-CH" dirty="0">
                          <a:solidFill>
                            <a:srgbClr val="FF0000"/>
                          </a:solidFill>
                        </a:rPr>
                        <a:t>????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AS {year_absolute***} {chronological_order*}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{year_absolute} </a:t>
                      </a:r>
                      <a:r>
                        <a:rPr lang="en-CH" b="1" dirty="0"/>
                        <a:t>{page</a:t>
                      </a:r>
                      <a:r>
                        <a:rPr lang="en-CH" b="0" dirty="0"/>
                        <a:t>_number</a:t>
                      </a:r>
                      <a:r>
                        <a:rPr lang="en-CH" b="1" dirty="0"/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{volume_</a:t>
                      </a:r>
                      <a:r>
                        <a:rPr lang="en-CH" b="1" dirty="0"/>
                        <a:t>arabic</a:t>
                      </a:r>
                      <a:r>
                        <a:rPr lang="en-CH" dirty="0"/>
                        <a:t>} {page_number}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{volume_</a:t>
                      </a:r>
                      <a:r>
                        <a:rPr lang="en-CH" b="1" dirty="0"/>
                        <a:t>roman</a:t>
                      </a:r>
                      <a:r>
                        <a:rPr lang="en-CH" dirty="0"/>
                        <a:t>} {page_number}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AS 2021 15</a:t>
                      </a:r>
                    </a:p>
                    <a:p>
                      <a:r>
                        <a:rPr lang="en-GB" dirty="0"/>
                        <a:t>AS 1029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  <a:p>
                      <a:r>
                        <a:rPr lang="en-GB" dirty="0">
                          <a:latin typeface="Arial" panose="020B0604020202020204" pitchFamily="34" charset="0"/>
                        </a:rPr>
                        <a:t>AS 2 684</a:t>
                      </a:r>
                    </a:p>
                    <a:p>
                      <a:r>
                        <a:rPr lang="en-GB" dirty="0">
                          <a:latin typeface="Arial" panose="020B0604020202020204" pitchFamily="34" charset="0"/>
                        </a:rPr>
                        <a:t>AS III 404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961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SR {</a:t>
                      </a:r>
                      <a:r>
                        <a:rPr lang="en-CH" b="1" dirty="0"/>
                        <a:t>systematic</a:t>
                      </a:r>
                      <a:r>
                        <a:rPr lang="en-CH" dirty="0"/>
                        <a:t>_number}</a:t>
                      </a:r>
                      <a:r>
                        <a:rPr lang="en-CH" b="1" dirty="0"/>
                        <a:t>.</a:t>
                      </a:r>
                      <a:r>
                        <a:rPr lang="en-CH" dirty="0"/>
                        <a:t>{</a:t>
                      </a:r>
                      <a:r>
                        <a:rPr lang="en-CH" b="1" dirty="0"/>
                        <a:t>sequence</a:t>
                      </a:r>
                      <a:r>
                        <a:rPr lang="en-CH" dirty="0"/>
                        <a:t>_number}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SR 120.1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36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BBl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Bundesblatt</a:t>
                      </a:r>
                    </a:p>
                    <a:p>
                      <a:r>
                        <a:rPr lang="en-CH" dirty="0"/>
                        <a:t>&lt;2021</a:t>
                      </a:r>
                    </a:p>
                    <a:p>
                      <a:r>
                        <a:rPr lang="en-CH" dirty="0"/>
                        <a:t>&lt;1998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BBl {year_absolute} {**} {chronological_order*}</a:t>
                      </a:r>
                    </a:p>
                    <a:p>
                      <a:r>
                        <a:rPr lang="en-CH" dirty="0"/>
                        <a:t>BBl {year_absolute} {</a:t>
                      </a:r>
                      <a:r>
                        <a:rPr lang="en-CH" b="1" dirty="0"/>
                        <a:t>page</a:t>
                      </a:r>
                      <a:r>
                        <a:rPr lang="en-CH" dirty="0"/>
                        <a:t>_number}</a:t>
                      </a:r>
                    </a:p>
                    <a:p>
                      <a:r>
                        <a:rPr lang="en-CH" dirty="0"/>
                        <a:t>BBl {volume_</a:t>
                      </a:r>
                      <a:r>
                        <a:rPr lang="en-CH" b="1" dirty="0"/>
                        <a:t>roman</a:t>
                      </a:r>
                      <a:r>
                        <a:rPr lang="en-CH" dirty="0"/>
                        <a:t>}  {page_number}</a:t>
                      </a:r>
                    </a:p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BBl</a:t>
                      </a:r>
                      <a:r>
                        <a:rPr lang="en-GB" dirty="0"/>
                        <a:t> 2021 3</a:t>
                      </a:r>
                    </a:p>
                    <a:p>
                      <a:r>
                        <a:rPr lang="en-GB" dirty="0" err="1"/>
                        <a:t>BBl</a:t>
                      </a:r>
                      <a:r>
                        <a:rPr lang="en-GB" dirty="0"/>
                        <a:t> 2019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541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Amtliche Sammlung Bundesgerichtsentscheide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 {year_relative} {volume_roman} {page_number}</a:t>
                      </a:r>
                      <a:b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b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Urteil</a:t>
                      </a:r>
                    </a:p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Entscheid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 123 I 258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18374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2CD3EF4-4B44-1254-6D55-42EFB5BE1D0E}"/>
              </a:ext>
            </a:extLst>
          </p:cNvPr>
          <p:cNvSpPr txBox="1"/>
          <p:nvPr/>
        </p:nvSpPr>
        <p:spPr>
          <a:xfrm>
            <a:off x="838198" y="7244959"/>
            <a:ext cx="105155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effectLst/>
                <a:latin typeface="Arial" panose="020B0604020202020204" pitchFamily="34" charset="0"/>
              </a:rPr>
              <a:t>In der </a:t>
            </a:r>
            <a:r>
              <a:rPr lang="en-GB" b="1" i="0" dirty="0" err="1">
                <a:effectLst/>
                <a:latin typeface="Arial" panose="020B0604020202020204" pitchFamily="34" charset="0"/>
              </a:rPr>
              <a:t>Vergangenheit</a:t>
            </a:r>
            <a:r>
              <a:rPr lang="en-GB" b="1" i="0" dirty="0">
                <a:effectLst/>
                <a:latin typeface="Arial" panose="020B0604020202020204" pitchFamily="34" charset="0"/>
              </a:rPr>
              <a:t>:</a:t>
            </a:r>
          </a:p>
          <a:p>
            <a:r>
              <a:rPr lang="en-GB" b="0" i="0" dirty="0">
                <a:effectLst/>
                <a:latin typeface="Arial" panose="020B0604020202020204" pitchFamily="34" charset="0"/>
              </a:rPr>
              <a:t>* bis </a:t>
            </a:r>
            <a:r>
              <a:rPr lang="en-GB" dirty="0">
                <a:latin typeface="Arial" panose="020B0604020202020204" pitchFamily="34" charset="0"/>
              </a:rPr>
              <a:t>2020: die </a:t>
            </a:r>
            <a:r>
              <a:rPr lang="en-GB" dirty="0" err="1">
                <a:latin typeface="Arial" panose="020B0604020202020204" pitchFamily="34" charset="0"/>
              </a:rPr>
              <a:t>erste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Seite</a:t>
            </a:r>
            <a:r>
              <a:rPr lang="en-GB" dirty="0">
                <a:latin typeface="Arial" panose="020B0604020202020204" pitchFamily="34" charset="0"/>
              </a:rPr>
              <a:t> der </a:t>
            </a:r>
            <a:r>
              <a:rPr lang="en-GB" dirty="0" err="1">
                <a:latin typeface="Arial" panose="020B0604020202020204" pitchFamily="34" charset="0"/>
              </a:rPr>
              <a:t>Publikation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Ordnungsnummer</a:t>
            </a:r>
            <a:endParaRPr lang="en-GB" dirty="0">
              <a:latin typeface="Arial" panose="020B0604020202020204" pitchFamily="34" charset="0"/>
            </a:endParaRPr>
          </a:p>
          <a:p>
            <a:r>
              <a:rPr lang="en-CH" dirty="0">
                <a:latin typeface="Arial" panose="020B0604020202020204" pitchFamily="34" charset="0"/>
              </a:rPr>
              <a:t>** bis 1997: mit </a:t>
            </a:r>
            <a:r>
              <a:rPr lang="en-GB" dirty="0" err="1">
                <a:latin typeface="Arial" panose="020B0604020202020204" pitchFamily="34" charset="0"/>
              </a:rPr>
              <a:t>Bandzahl</a:t>
            </a:r>
            <a:r>
              <a:rPr lang="en-GB" dirty="0">
                <a:latin typeface="Arial" panose="020B0604020202020204" pitchFamily="34" charset="0"/>
              </a:rPr>
              <a:t> {</a:t>
            </a:r>
            <a:r>
              <a:rPr lang="en-GB" dirty="0" err="1">
                <a:latin typeface="Arial" panose="020B0604020202020204" pitchFamily="34" charset="0"/>
              </a:rPr>
              <a:t>volume_roman</a:t>
            </a:r>
            <a:r>
              <a:rPr lang="en-GB" dirty="0">
                <a:latin typeface="Arial" panose="020B0604020202020204" pitchFamily="34" charset="0"/>
              </a:rPr>
              <a:t>} </a:t>
            </a:r>
            <a:r>
              <a:rPr lang="en-GB" dirty="0" err="1">
                <a:latin typeface="Arial" panose="020B0604020202020204" pitchFamily="34" charset="0"/>
              </a:rPr>
              <a:t>als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römische</a:t>
            </a:r>
            <a:r>
              <a:rPr lang="en-GB" dirty="0">
                <a:latin typeface="Arial" panose="020B0604020202020204" pitchFamily="34" charset="0"/>
              </a:rPr>
              <a:t> Ziffer </a:t>
            </a:r>
            <a:r>
              <a:rPr lang="en-GB" b="1" dirty="0" err="1">
                <a:latin typeface="Arial" panose="020B0604020202020204" pitchFamily="34" charset="0"/>
              </a:rPr>
              <a:t>vor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Seitenzahl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Ordnungsnummer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 </a:t>
            </a:r>
            <a:r>
              <a:rPr lang="en-GB" dirty="0" err="1">
                <a:latin typeface="Arial" panose="020B0604020202020204" pitchFamily="34" charset="0"/>
              </a:rPr>
              <a:t>BBl</a:t>
            </a:r>
            <a:r>
              <a:rPr lang="en-GB" dirty="0">
                <a:latin typeface="Arial" panose="020B0604020202020204" pitchFamily="34" charset="0"/>
              </a:rPr>
              <a:t> 1996 II 335)</a:t>
            </a:r>
          </a:p>
          <a:p>
            <a:r>
              <a:rPr lang="en-GB" dirty="0">
                <a:latin typeface="Arial" panose="020B0604020202020204" pitchFamily="34" charset="0"/>
              </a:rPr>
              <a:t>*** bis 1947: </a:t>
            </a:r>
            <a:r>
              <a:rPr lang="en-GB" dirty="0" err="1">
                <a:latin typeface="Arial" panose="020B0604020202020204" pitchFamily="34" charset="0"/>
              </a:rPr>
              <a:t>arabische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Ziffern</a:t>
            </a:r>
            <a:r>
              <a:rPr lang="en-GB" dirty="0">
                <a:latin typeface="Arial" panose="020B0604020202020204" pitchFamily="34" charset="0"/>
              </a:rPr>
              <a:t> für </a:t>
            </a:r>
            <a:r>
              <a:rPr lang="en-GB" dirty="0" err="1">
                <a:latin typeface="Arial" panose="020B0604020202020204" pitchFamily="34" charset="0"/>
              </a:rPr>
              <a:t>neue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Folge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 AS 2 684) und </a:t>
            </a:r>
            <a:r>
              <a:rPr lang="en-GB" dirty="0" err="1">
                <a:latin typeface="Arial" panose="020B0604020202020204" pitchFamily="34" charset="0"/>
              </a:rPr>
              <a:t>römische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Ziffern</a:t>
            </a:r>
            <a:r>
              <a:rPr lang="en-GB" dirty="0">
                <a:latin typeface="Arial" panose="020B0604020202020204" pitchFamily="34" charset="0"/>
              </a:rPr>
              <a:t> für </a:t>
            </a:r>
            <a:r>
              <a:rPr lang="en-GB" dirty="0" err="1">
                <a:latin typeface="Arial" panose="020B0604020202020204" pitchFamily="34" charset="0"/>
              </a:rPr>
              <a:t>alte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Folge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.:) </a:t>
            </a:r>
            <a:r>
              <a:rPr lang="en-GB" b="1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Jahr – </a:t>
            </a:r>
            <a:r>
              <a:rPr lang="en-GB" dirty="0">
                <a:solidFill>
                  <a:srgbClr val="FF0000"/>
                </a:solidFill>
                <a:latin typeface="Arial" panose="020B0604020202020204" pitchFamily="34" charset="0"/>
              </a:rPr>
              <a:t>von </a:t>
            </a:r>
            <a:r>
              <a:rPr lang="en-GB" dirty="0" err="1">
                <a:solidFill>
                  <a:srgbClr val="FF0000"/>
                </a:solidFill>
                <a:latin typeface="Arial" panose="020B0604020202020204" pitchFamily="34" charset="0"/>
              </a:rPr>
              <a:t>wann</a:t>
            </a:r>
            <a:r>
              <a:rPr lang="en-GB" dirty="0">
                <a:solidFill>
                  <a:srgbClr val="FF0000"/>
                </a:solidFill>
                <a:latin typeface="Arial" panose="020B0604020202020204" pitchFamily="34" charset="0"/>
              </a:rPr>
              <a:t> bis </a:t>
            </a:r>
            <a:r>
              <a:rPr lang="en-GB" dirty="0" err="1">
                <a:solidFill>
                  <a:srgbClr val="FF0000"/>
                </a:solidFill>
                <a:latin typeface="Arial" panose="020B0604020202020204" pitchFamily="34" charset="0"/>
              </a:rPr>
              <a:t>wann</a:t>
            </a:r>
            <a:r>
              <a:rPr lang="en-GB" dirty="0">
                <a:solidFill>
                  <a:srgbClr val="FF0000"/>
                </a:solidFill>
                <a:latin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901383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46FD8-0B9F-F08D-EA26-74500718C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5473C-A48C-D47B-5FB7-7810588B3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Zitierregeln - Weitere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B3131D-926C-E152-0F46-562E59B52E78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rgbClr val="FF0000"/>
                </a:solidFill>
              </a:rPr>
              <a:t>Forstmoser / Ogorek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8AD752-07F9-A98F-877B-B32D68FB5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195432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486DF-C5B4-C97C-ED3E-76A38768A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2F0F7-600B-CA5E-083C-7018623FC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Zitierregeln vs. </a:t>
            </a:r>
            <a:r>
              <a:rPr lang="de-CH" dirty="0"/>
              <a:t>URI </a:t>
            </a:r>
            <a:r>
              <a:rPr lang="en-CH" dirty="0"/>
              <a:t>Template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7F63B1-EAE1-744F-8CC8-2021D21A0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39891"/>
              </p:ext>
            </p:extLst>
          </p:nvPr>
        </p:nvGraphicFramePr>
        <p:xfrm>
          <a:off x="838198" y="1690688"/>
          <a:ext cx="10515599" cy="248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28399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217637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719143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cf. Zitierregeln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fga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Bundesblatt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fga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≈ (</a:t>
                      </a:r>
                      <a:r>
                        <a:rPr lang="en-GB" dirty="0" err="1"/>
                        <a:t>vgl</a:t>
                      </a:r>
                      <a:r>
                        <a:rPr lang="en-GB" dirty="0"/>
                        <a:t>. </a:t>
                      </a:r>
                      <a:r>
                        <a:rPr lang="en-GB" dirty="0" err="1"/>
                        <a:t>Ausn</a:t>
                      </a:r>
                      <a:r>
                        <a:rPr lang="en-GB" dirty="0"/>
                        <a:t>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356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0" dirty="0"/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0" dirty="0"/>
                        <a:t>Amtliche 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≈ (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vgl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Ausn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961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cc/{year}/{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seq</a:t>
                      </a:r>
                      <a:r>
                        <a:rPr lang="en-GB" dirty="0"/>
                        <a:t> ≠ sys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0221"/>
                  </a:ext>
                </a:extLst>
              </a:tr>
              <a:tr h="219990">
                <a:tc>
                  <a:txBody>
                    <a:bodyPr/>
                    <a:lstStyle/>
                    <a:p>
                      <a:r>
                        <a:rPr lang="en-CH" strike="noStrike" dirty="0">
                          <a:solidFill>
                            <a:srgbClr val="00B050"/>
                          </a:solidFill>
                        </a:rPr>
                        <a:t>treaty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trike="noStrike" dirty="0">
                          <a:solidFill>
                            <a:srgbClr val="00B050"/>
                          </a:solidFill>
                        </a:rPr>
                        <a:t>V</a:t>
                      </a:r>
                      <a:r>
                        <a:rPr lang="en-CH" strike="noStrike" dirty="0">
                          <a:solidFill>
                            <a:srgbClr val="00B050"/>
                          </a:solidFill>
                        </a:rPr>
                        <a:t>ölkerrechtliche Verträge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rgbClr val="00B050"/>
                          </a:solidFill>
                        </a:rPr>
                        <a:t>treaty</a:t>
                      </a:r>
                      <a:r>
                        <a:rPr lang="en-GB" dirty="0">
                          <a:solidFill>
                            <a:srgbClr val="00B050"/>
                          </a:solidFill>
                        </a:rPr>
                        <a:t>/{year}/{treaty number}</a:t>
                      </a:r>
                      <a:endParaRPr lang="en-CH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trike="noStrike" dirty="0">
                          <a:solidFill>
                            <a:srgbClr val="00B050"/>
                          </a:solidFill>
                        </a:rPr>
                        <a:t>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517399"/>
                  </a:ext>
                </a:extLst>
              </a:tr>
              <a:tr h="219990">
                <a:tc>
                  <a:txBody>
                    <a:bodyPr/>
                    <a:lstStyle/>
                    <a:p>
                      <a:r>
                        <a:rPr lang="en-CH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Bundesgerichtsentscheid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bge/{year_relative} {volume_roman} {number_page}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36339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8918A4D0-C65E-34CE-93D9-332D3F42146E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rgbClr val="FF0000"/>
                </a:solidFill>
              </a:rPr>
              <a:t>Entscheid</a:t>
            </a:r>
          </a:p>
        </p:txBody>
      </p:sp>
    </p:spTree>
    <p:extLst>
      <p:ext uri="{BB962C8B-B14F-4D97-AF65-F5344CB8AC3E}">
        <p14:creationId xmlns:p14="http://schemas.microsoft.com/office/powerpoint/2010/main" val="1608795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555C4-2B32-8309-63A1-99967491B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D4FDF2-9969-50E7-975F-8AB6F67B6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0679"/>
            <a:ext cx="10614102" cy="43162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Namespace</a:t>
            </a:r>
            <a:r>
              <a:rPr lang="en-GB" dirty="0"/>
              <a:t> 	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hlinkClick r:id="rId2"/>
              </a:rPr>
              <a:t>https://fedlex.data.admin.ch/</a:t>
            </a:r>
            <a:r>
              <a:rPr lang="en-GB" dirty="0">
                <a:hlinkClick r:id="rId2"/>
              </a:rPr>
              <a:t>eli/</a:t>
            </a:r>
            <a:endParaRPr lang="en-GB" dirty="0"/>
          </a:p>
          <a:p>
            <a:pPr marL="0" indent="0">
              <a:buNone/>
            </a:pPr>
            <a:r>
              <a:rPr lang="en-GB" b="1" dirty="0"/>
              <a:t>Work</a:t>
            </a:r>
          </a:p>
          <a:p>
            <a:r>
              <a:rPr lang="en-GB" dirty="0"/>
              <a:t>1</a:t>
            </a:r>
            <a:r>
              <a:rPr lang="en-GB" baseline="30000" dirty="0"/>
              <a:t>st</a:t>
            </a:r>
            <a:r>
              <a:rPr lang="en-GB" dirty="0"/>
              <a:t> Level		{collection}</a:t>
            </a:r>
          </a:p>
          <a:p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Level				{year}</a:t>
            </a:r>
          </a:p>
          <a:p>
            <a:r>
              <a:rPr lang="en-GB" dirty="0"/>
              <a:t>3</a:t>
            </a:r>
            <a:r>
              <a:rPr lang="en-GB" baseline="30000" dirty="0"/>
              <a:t>rd</a:t>
            </a:r>
            <a:r>
              <a:rPr lang="en-GB" dirty="0"/>
              <a:t> Level					</a:t>
            </a:r>
            <a:r>
              <a:rPr lang="en-GB" b="1" dirty="0"/>
              <a:t>{</a:t>
            </a:r>
            <a:r>
              <a:rPr lang="en-GB" b="1" dirty="0" err="1"/>
              <a:t>naturalidentifier</a:t>
            </a:r>
            <a:r>
              <a:rPr lang="en-GB" b="1" dirty="0"/>
              <a:t>}</a:t>
            </a:r>
          </a:p>
          <a:p>
            <a:pPr marL="0" indent="0">
              <a:buNone/>
            </a:pPr>
            <a:r>
              <a:rPr lang="en-GB" b="1" dirty="0"/>
              <a:t>Expression</a:t>
            </a:r>
          </a:p>
          <a:p>
            <a:r>
              <a:rPr lang="en-GB" dirty="0"/>
              <a:t>4</a:t>
            </a:r>
            <a:r>
              <a:rPr lang="en-GB" baseline="30000" dirty="0"/>
              <a:t>th</a:t>
            </a:r>
            <a:r>
              <a:rPr lang="en-GB" dirty="0"/>
              <a:t> Level						{</a:t>
            </a:r>
            <a:r>
              <a:rPr lang="en-GB" dirty="0" err="1"/>
              <a:t>langauge</a:t>
            </a:r>
            <a:r>
              <a:rPr lang="en-GB" dirty="0"/>
              <a:t>}</a:t>
            </a:r>
          </a:p>
          <a:p>
            <a:pPr marL="0" indent="0">
              <a:buNone/>
            </a:pPr>
            <a:r>
              <a:rPr lang="en-GB" b="1" dirty="0"/>
              <a:t>Manifestation</a:t>
            </a:r>
          </a:p>
          <a:p>
            <a:r>
              <a:rPr lang="en-GB" dirty="0"/>
              <a:t>5</a:t>
            </a:r>
            <a:r>
              <a:rPr lang="en-GB" baseline="30000" dirty="0"/>
              <a:t>th</a:t>
            </a:r>
            <a:r>
              <a:rPr lang="en-GB" dirty="0"/>
              <a:t> Level								{format}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47E8C-ACE8-544C-E22A-E41180580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URI Template – </a:t>
            </a:r>
            <a:r>
              <a:rPr lang="en-GB" dirty="0" err="1"/>
              <a:t>Fedlex</a:t>
            </a:r>
            <a:r>
              <a:rPr lang="en-GB" dirty="0"/>
              <a:t> </a:t>
            </a:r>
            <a:r>
              <a:rPr lang="en-GB" dirty="0" err="1"/>
              <a:t>Namepace</a:t>
            </a:r>
            <a:r>
              <a:rPr lang="en-CH" baseline="30000" dirty="0"/>
              <a:t>7</a:t>
            </a:r>
            <a:endParaRPr lang="en-C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C0CF7E-D69E-8703-5C01-73E75612A306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aseline="30000" dirty="0"/>
              <a:t>7 </a:t>
            </a:r>
            <a:r>
              <a:rPr lang="en-GB" dirty="0"/>
              <a:t>URIs Template for Swiss Legal Resources (</a:t>
            </a:r>
            <a:r>
              <a:rPr lang="en-GB" u="sng" dirty="0"/>
              <a:t>https://</a:t>
            </a:r>
            <a:r>
              <a:rPr lang="en-GB" u="sng" dirty="0" err="1"/>
              <a:t>fedlex.data.admin.ch</a:t>
            </a:r>
            <a:r>
              <a:rPr lang="en-GB" u="sng" dirty="0"/>
              <a:t>/de-CH/home/convention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932110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1D4E5-DFE8-131A-5B93-7265DE38D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303C4-56C3-1633-FC52-FCA76C04A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</a:t>
            </a:r>
            <a:r>
              <a:rPr lang="en-GB" dirty="0"/>
              <a:t>– </a:t>
            </a:r>
            <a:r>
              <a:rPr lang="en-CH" dirty="0"/>
              <a:t>{naturalidentifier}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EA122A-46A2-EAEB-EAE7-162368FAB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26593"/>
              </p:ext>
            </p:extLst>
          </p:nvPr>
        </p:nvGraphicFramePr>
        <p:xfrm>
          <a:off x="838198" y="1690688"/>
          <a:ext cx="10515599" cy="248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28399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217637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719143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Variationen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fga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Bundesblatt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fga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356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0" dirty="0"/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0" dirty="0"/>
                        <a:t>Amtliche 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961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cc/{year}/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0221"/>
                  </a:ext>
                </a:extLst>
              </a:tr>
              <a:tr h="219990">
                <a:tc>
                  <a:txBody>
                    <a:bodyPr/>
                    <a:lstStyle/>
                    <a:p>
                      <a:r>
                        <a:rPr lang="en-CH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treaty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V</a:t>
                      </a:r>
                      <a:r>
                        <a:rPr lang="en-CH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ölkerrechtliche Verträge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800" strike="noStrike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treaty/{year}/{treaty 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517399"/>
                  </a:ext>
                </a:extLst>
              </a:tr>
              <a:tr h="219990">
                <a:tc>
                  <a:txBody>
                    <a:bodyPr/>
                    <a:lstStyle/>
                    <a:p>
                      <a:r>
                        <a:rPr lang="en-CH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bge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Bundesgerichtsentscheid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bge/{year_relative} {volume_roman} {number_page}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36339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8490F96-EBEA-5499-247D-C1CDBF402210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rgbClr val="FF0000"/>
                </a:solidFill>
              </a:rPr>
              <a:t>Anzahl Variationen?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7E6197-EF77-1ED2-D33B-C09603F5C49A}"/>
              </a:ext>
            </a:extLst>
          </p:cNvPr>
          <p:cNvSpPr txBox="1"/>
          <p:nvPr/>
        </p:nvSpPr>
        <p:spPr>
          <a:xfrm>
            <a:off x="838197" y="4207922"/>
            <a:ext cx="10515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Der {</a:t>
            </a:r>
            <a:r>
              <a:rPr lang="en-GB" b="1" dirty="0" err="1"/>
              <a:t>naturalidentifier</a:t>
            </a:r>
            <a:r>
              <a:rPr lang="en-GB" b="1" dirty="0"/>
              <a:t>} </a:t>
            </a:r>
          </a:p>
          <a:p>
            <a:r>
              <a:rPr lang="en-GB" b="1" dirty="0" err="1"/>
              <a:t>Betrifft</a:t>
            </a:r>
            <a:r>
              <a:rPr lang="en-GB" b="1" dirty="0"/>
              <a:t> </a:t>
            </a:r>
            <a:r>
              <a:rPr lang="en-GB" b="1" dirty="0" err="1"/>
              <a:t>fga</a:t>
            </a:r>
            <a:r>
              <a:rPr lang="en-GB" b="1" dirty="0"/>
              <a:t>, </a:t>
            </a:r>
            <a:r>
              <a:rPr lang="en-GB" b="1" dirty="0" err="1"/>
              <a:t>oc</a:t>
            </a:r>
            <a:r>
              <a:rPr lang="en-GB" b="1" dirty="0"/>
              <a:t> und cc:</a:t>
            </a:r>
            <a:endParaRPr lang="en-GB" dirty="0"/>
          </a:p>
          <a:p>
            <a:r>
              <a:rPr lang="en-GB" dirty="0" err="1"/>
              <a:t>Chronologisch</a:t>
            </a:r>
            <a:r>
              <a:rPr lang="en-GB" dirty="0"/>
              <a:t> </a:t>
            </a:r>
            <a:r>
              <a:rPr lang="en-GB" dirty="0" err="1"/>
              <a:t>fortlaufende</a:t>
            </a:r>
            <a:r>
              <a:rPr lang="en-GB" dirty="0"/>
              <a:t> Nummer des </a:t>
            </a:r>
            <a:r>
              <a:rPr lang="en-GB" dirty="0" err="1"/>
              <a:t>Erlasses</a:t>
            </a:r>
            <a:r>
              <a:rPr lang="en-GB" dirty="0"/>
              <a:t> (/ </a:t>
            </a:r>
            <a:r>
              <a:rPr lang="en-GB" dirty="0" err="1"/>
              <a:t>Textes</a:t>
            </a:r>
            <a:r>
              <a:rPr lang="en-GB" dirty="0"/>
              <a:t>) in der AS (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BBl</a:t>
            </a:r>
            <a:r>
              <a:rPr lang="en-GB" dirty="0"/>
              <a:t>).</a:t>
            </a:r>
          </a:p>
          <a:p>
            <a:pPr marL="285750" indent="-285750">
              <a:buFont typeface="Symbol" pitchFamily="2" charset="2"/>
              <a:buChar char="Þ"/>
            </a:pPr>
            <a:r>
              <a:rPr lang="en-GB" dirty="0" err="1"/>
              <a:t>vgl</a:t>
            </a:r>
            <a:r>
              <a:rPr lang="en-GB" dirty="0"/>
              <a:t>. </a:t>
            </a:r>
            <a:r>
              <a:rPr lang="en-GB" dirty="0" err="1"/>
              <a:t>Zitierregeln</a:t>
            </a:r>
            <a:r>
              <a:rPr lang="en-GB" dirty="0"/>
              <a:t>: </a:t>
            </a:r>
            <a:r>
              <a:rPr lang="en-GB" dirty="0" err="1"/>
              <a:t>ohne</a:t>
            </a:r>
            <a:r>
              <a:rPr lang="en-GB" dirty="0"/>
              <a:t> </a:t>
            </a:r>
            <a:r>
              <a:rPr lang="en-GB" dirty="0" err="1"/>
              <a:t>Ausgabenummer</a:t>
            </a:r>
            <a:r>
              <a:rPr lang="en-GB" dirty="0"/>
              <a:t> (</a:t>
            </a:r>
            <a:r>
              <a:rPr lang="en-GB" dirty="0" err="1"/>
              <a:t>z.B.</a:t>
            </a:r>
            <a:r>
              <a:rPr lang="en-GB" dirty="0"/>
              <a:t> 127)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Seitenzahl</a:t>
            </a:r>
            <a:r>
              <a:rPr lang="en-GB" dirty="0"/>
              <a:t> (</a:t>
            </a:r>
            <a:r>
              <a:rPr lang="en-GB" dirty="0" err="1"/>
              <a:t>z.B.</a:t>
            </a:r>
            <a:r>
              <a:rPr lang="en-GB" dirty="0"/>
              <a:t> 4147).</a:t>
            </a:r>
          </a:p>
        </p:txBody>
      </p:sp>
    </p:spTree>
    <p:extLst>
      <p:ext uri="{BB962C8B-B14F-4D97-AF65-F5344CB8AC3E}">
        <p14:creationId xmlns:p14="http://schemas.microsoft.com/office/powerpoint/2010/main" val="27668409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481D4-4F09-F3BA-DF30-B63949711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33F39-C21F-B641-EE9D-D8AEAFA5E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</a:t>
            </a:r>
            <a:r>
              <a:rPr lang="en-GB" dirty="0"/>
              <a:t>– basic act &gt; main act</a:t>
            </a:r>
            <a:endParaRPr lang="en-C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01F255-E42E-DDBD-2B57-7AAE95D12D6F}"/>
              </a:ext>
            </a:extLst>
          </p:cNvPr>
          <p:cNvSpPr txBox="1"/>
          <p:nvPr/>
        </p:nvSpPr>
        <p:spPr>
          <a:xfrm>
            <a:off x="838197" y="1690688"/>
            <a:ext cx="10515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 err="1">
                <a:cs typeface="Arial" panose="020B0604020202020204" pitchFamily="34" charset="0"/>
              </a:rPr>
              <a:t>Normalfall</a:t>
            </a:r>
            <a:r>
              <a:rPr lang="en-GB" b="1" dirty="0">
                <a:cs typeface="Arial" panose="020B0604020202020204" pitchFamily="34" charset="0"/>
              </a:rPr>
              <a:t>: </a:t>
            </a:r>
            <a:r>
              <a:rPr lang="en-GB" dirty="0">
                <a:cs typeface="Arial" panose="020B0604020202020204" pitchFamily="34" charset="0"/>
              </a:rPr>
              <a:t>basic act &gt; main act</a:t>
            </a:r>
          </a:p>
          <a:p>
            <a:r>
              <a:rPr lang="en-GB" dirty="0">
                <a:cs typeface="Arial" panose="020B0604020202020204" pitchFamily="34" charset="0"/>
              </a:rPr>
              <a:t>Die </a:t>
            </a:r>
            <a:r>
              <a:rPr lang="en-GB" dirty="0" err="1">
                <a:cs typeface="Arial" panose="020B0604020202020204" pitchFamily="34" charset="0"/>
              </a:rPr>
              <a:t>bereinigte</a:t>
            </a:r>
            <a:r>
              <a:rPr lang="en-GB" dirty="0">
                <a:cs typeface="Arial" panose="020B0604020202020204" pitchFamily="34" charset="0"/>
              </a:rPr>
              <a:t> SR </a:t>
            </a:r>
            <a:r>
              <a:rPr lang="en-GB" dirty="0" err="1">
                <a:cs typeface="Arial" panose="020B0604020202020204" pitchFamily="34" charset="0"/>
              </a:rPr>
              <a:t>Fassung</a:t>
            </a:r>
            <a:r>
              <a:rPr lang="en-GB" dirty="0">
                <a:cs typeface="Arial" panose="020B0604020202020204" pitchFamily="34" charset="0"/>
              </a:rPr>
              <a:t> (main act) </a:t>
            </a:r>
            <a:r>
              <a:rPr lang="en-GB" dirty="0" err="1">
                <a:cs typeface="Arial" panose="020B0604020202020204" pitchFamily="34" charset="0"/>
              </a:rPr>
              <a:t>wird</a:t>
            </a:r>
            <a:r>
              <a:rPr lang="en-GB" dirty="0">
                <a:cs typeface="Arial" panose="020B0604020202020204" pitchFamily="34" charset="0"/>
              </a:rPr>
              <a:t> für </a:t>
            </a:r>
            <a:r>
              <a:rPr lang="en-GB" dirty="0" err="1">
                <a:cs typeface="Arial" panose="020B0604020202020204" pitchFamily="34" charset="0"/>
              </a:rPr>
              <a:t>gewöhnlich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aus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dem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Grunderlass</a:t>
            </a:r>
            <a:r>
              <a:rPr lang="en-GB" dirty="0">
                <a:cs typeface="Arial" panose="020B0604020202020204" pitchFamily="34" charset="0"/>
              </a:rPr>
              <a:t> der </a:t>
            </a:r>
            <a:r>
              <a:rPr lang="en-GB" dirty="0" err="1">
                <a:cs typeface="Arial" panose="020B0604020202020204" pitchFamily="34" charset="0"/>
              </a:rPr>
              <a:t>massgebenden</a:t>
            </a:r>
            <a:r>
              <a:rPr lang="en-GB" dirty="0">
                <a:cs typeface="Arial" panose="020B0604020202020204" pitchFamily="34" charset="0"/>
              </a:rPr>
              <a:t> AS </a:t>
            </a:r>
            <a:r>
              <a:rPr lang="en-GB" dirty="0" err="1">
                <a:cs typeface="Arial" panose="020B0604020202020204" pitchFamily="34" charset="0"/>
              </a:rPr>
              <a:t>Fassung</a:t>
            </a:r>
            <a:r>
              <a:rPr lang="en-GB" dirty="0">
                <a:cs typeface="Arial" panose="020B0604020202020204" pitchFamily="34" charset="0"/>
              </a:rPr>
              <a:t> (basic act) </a:t>
            </a:r>
            <a:r>
              <a:rPr lang="en-GB" dirty="0" err="1">
                <a:cs typeface="Arial" panose="020B0604020202020204" pitchFamily="34" charset="0"/>
              </a:rPr>
              <a:t>abgeleitet</a:t>
            </a:r>
            <a:r>
              <a:rPr lang="en-GB" dirty="0">
                <a:cs typeface="Arial" panose="020B0604020202020204" pitchFamily="34" charset="0"/>
              </a:rPr>
              <a:t>. </a:t>
            </a:r>
            <a:r>
              <a:rPr lang="en-GB" dirty="0" err="1">
                <a:cs typeface="Arial" panose="020B0604020202020204" pitchFamily="34" charset="0"/>
              </a:rPr>
              <a:t>Deshalb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kann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derselbe</a:t>
            </a:r>
            <a:r>
              <a:rPr lang="en-GB" dirty="0">
                <a:cs typeface="Arial" panose="020B0604020202020204" pitchFamily="34" charset="0"/>
              </a:rPr>
              <a:t> {</a:t>
            </a:r>
            <a:r>
              <a:rPr lang="en-GB" dirty="0" err="1">
                <a:cs typeface="Arial" panose="020B0604020202020204" pitchFamily="34" charset="0"/>
              </a:rPr>
              <a:t>naturalidentifier</a:t>
            </a:r>
            <a:r>
              <a:rPr lang="en-GB" dirty="0">
                <a:cs typeface="Arial" panose="020B0604020202020204" pitchFamily="34" charset="0"/>
              </a:rPr>
              <a:t>} für </a:t>
            </a:r>
            <a:r>
              <a:rPr lang="en-GB" dirty="0" err="1">
                <a:cs typeface="Arial" panose="020B0604020202020204" pitchFamily="34" charset="0"/>
              </a:rPr>
              <a:t>beide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Fassungen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genutzt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werden</a:t>
            </a:r>
            <a:r>
              <a:rPr lang="en-GB" dirty="0"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96210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DB40C-A5D7-C592-87A3-16C5F2513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DF992-E9DE-3520-972E-C5803229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{naturalidentifier} = FGA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AA47A3-0922-0E46-15DC-602D29886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696601"/>
              </p:ext>
            </p:extLst>
          </p:nvPr>
        </p:nvGraphicFramePr>
        <p:xfrm>
          <a:off x="838198" y="1690688"/>
          <a:ext cx="105155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43897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235592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685690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Beispiel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0" dirty="0"/>
                        <a:t>fga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0" dirty="0"/>
                        <a:t>Bundesblatt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fga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fga/2020/759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95552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0AA2E87-A5B3-D521-9409-608DD2FB4905}"/>
              </a:ext>
            </a:extLst>
          </p:cNvPr>
          <p:cNvSpPr txBox="1"/>
          <p:nvPr/>
        </p:nvSpPr>
        <p:spPr>
          <a:xfrm>
            <a:off x="838198" y="3429000"/>
            <a:ext cx="1051559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naturalidentifier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vor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1999: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&lt;1999</a:t>
            </a: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{</a:t>
            </a:r>
            <a:r>
              <a:rPr lang="en-GB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volume_arabic</a:t>
            </a: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}_{page-de}_{page-</a:t>
            </a:r>
            <a:r>
              <a:rPr lang="en-GB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</a:t>
            </a: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}_{page-it}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// Seiten der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abgeglichenen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Sprachversionen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Beispiel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1: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fga/1994/2_1_1_1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Symbol" pitchFamily="2" charset="2"/>
              <a:buChar char="Þ"/>
            </a:pPr>
            <a:r>
              <a:rPr lang="en-CH" dirty="0">
                <a:latin typeface="Arial" panose="020B0604020202020204" pitchFamily="34" charset="0"/>
                <a:cs typeface="Arial" panose="020B0604020202020204" pitchFamily="34" charset="0"/>
              </a:rPr>
              <a:t>“2” stellt die Band- und ”1” jeweils die Seitenzahl auf DE, FR und IT dar. </a:t>
            </a:r>
            <a:r>
              <a:rPr lang="en-CH" b="1" dirty="0">
                <a:latin typeface="Arial" panose="020B0604020202020204" pitchFamily="34" charset="0"/>
                <a:cs typeface="Arial" panose="020B0604020202020204" pitchFamily="34" charset="0"/>
              </a:rPr>
              <a:t>Reihenfolge beachten!</a:t>
            </a:r>
          </a:p>
          <a:p>
            <a:endParaRPr lang="en-CH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Sofern nur eine Sprachversion existiert, bleiben die anderen Slots leer.</a:t>
            </a:r>
            <a:endParaRPr lang="en-CH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Beispiel 2: 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/fga/1994/1_569__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Symbol" pitchFamily="2" charset="2"/>
              <a:buChar char="Þ"/>
            </a:pP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BBl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1994 I 569 existiert nur 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auf Deutsch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, weshalb zwischen den «_» 2x leer bleibt.</a:t>
            </a:r>
            <a:endParaRPr lang="de-CH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919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438F4-5DA2-3AE8-AF6A-38BC36929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C5DB4-5534-03CB-18F6-DFA6CEC69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AS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201914-2FD0-7E11-0A86-CDC4FFD8A1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320307"/>
              </p:ext>
            </p:extLst>
          </p:nvPr>
        </p:nvGraphicFramePr>
        <p:xfrm>
          <a:off x="838198" y="1690688"/>
          <a:ext cx="105155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28399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262242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67453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Beispiel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0" dirty="0"/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0" dirty="0"/>
                        <a:t>Amtliche 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**/{year}/{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oc/2020/759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96125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A0EE4E2-72A3-318A-0827-5A2DA6C92DF7}"/>
              </a:ext>
            </a:extLst>
          </p:cNvPr>
          <p:cNvSpPr txBox="1"/>
          <p:nvPr/>
        </p:nvSpPr>
        <p:spPr>
          <a:xfrm>
            <a:off x="838197" y="3429000"/>
            <a:ext cx="105155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cs typeface="Arial" panose="020B0604020202020204" pitchFamily="34" charset="0"/>
              </a:rPr>
              <a:t>* {</a:t>
            </a:r>
            <a:r>
              <a:rPr lang="en-GB" b="1" dirty="0" err="1">
                <a:cs typeface="Arial" panose="020B0604020202020204" pitchFamily="34" charset="0"/>
              </a:rPr>
              <a:t>naturalidentifier</a:t>
            </a:r>
            <a:r>
              <a:rPr lang="en-GB" b="1" dirty="0">
                <a:cs typeface="Arial" panose="020B0604020202020204" pitchFamily="34" charset="0"/>
              </a:rPr>
              <a:t>} </a:t>
            </a:r>
            <a:r>
              <a:rPr lang="en-GB" dirty="0" err="1">
                <a:cs typeface="Arial" panose="020B0604020202020204" pitchFamily="34" charset="0"/>
              </a:rPr>
              <a:t>vor</a:t>
            </a:r>
            <a:r>
              <a:rPr lang="en-GB" dirty="0">
                <a:cs typeface="Arial" panose="020B0604020202020204" pitchFamily="34" charset="0"/>
              </a:rPr>
              <a:t> 1999:</a:t>
            </a:r>
          </a:p>
          <a:p>
            <a:r>
              <a:rPr lang="en-GB" b="1" dirty="0">
                <a:cs typeface="Arial" panose="020B0604020202020204" pitchFamily="34" charset="0"/>
              </a:rPr>
              <a:t>&lt;1999</a:t>
            </a:r>
            <a:r>
              <a:rPr lang="en-GB" dirty="0">
                <a:cs typeface="Arial" panose="020B0604020202020204" pitchFamily="34" charset="0"/>
              </a:rPr>
              <a:t>: {</a:t>
            </a:r>
            <a:r>
              <a:rPr lang="en-GB" dirty="0" err="1">
                <a:cs typeface="Arial" panose="020B0604020202020204" pitchFamily="34" charset="0"/>
              </a:rPr>
              <a:t>volume_arabic</a:t>
            </a:r>
            <a:r>
              <a:rPr lang="en-GB" dirty="0">
                <a:cs typeface="Arial" panose="020B0604020202020204" pitchFamily="34" charset="0"/>
              </a:rPr>
              <a:t>}</a:t>
            </a:r>
            <a:r>
              <a:rPr lang="en-GB" dirty="0">
                <a:highlight>
                  <a:srgbClr val="FFFF00"/>
                </a:highlight>
                <a:cs typeface="Arial" panose="020B0604020202020204" pitchFamily="34" charset="0"/>
              </a:rPr>
              <a:t>_</a:t>
            </a:r>
            <a:r>
              <a:rPr lang="en-GB" dirty="0">
                <a:cs typeface="Arial" panose="020B0604020202020204" pitchFamily="34" charset="0"/>
              </a:rPr>
              <a:t>{page-de}_{page-</a:t>
            </a:r>
            <a:r>
              <a:rPr lang="en-GB" dirty="0" err="1">
                <a:cs typeface="Arial" panose="020B0604020202020204" pitchFamily="34" charset="0"/>
              </a:rPr>
              <a:t>fr</a:t>
            </a:r>
            <a:r>
              <a:rPr lang="en-GB" dirty="0">
                <a:cs typeface="Arial" panose="020B0604020202020204" pitchFamily="34" charset="0"/>
              </a:rPr>
              <a:t>}_{page-it}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//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nur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als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 PDF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erhältlich</a:t>
            </a:r>
            <a:endParaRPr lang="en-GB" dirty="0">
              <a:solidFill>
                <a:schemeClr val="bg1">
                  <a:lumMod val="75000"/>
                </a:schemeClr>
              </a:solidFill>
              <a:cs typeface="Arial" panose="020B0604020202020204" pitchFamily="34" charset="0"/>
            </a:endParaRPr>
          </a:p>
          <a:p>
            <a:endParaRPr lang="en-GB" dirty="0">
              <a:solidFill>
                <a:schemeClr val="bg1">
                  <a:lumMod val="75000"/>
                </a:schemeClr>
              </a:solidFill>
              <a:cs typeface="Arial" panose="020B0604020202020204" pitchFamily="34" charset="0"/>
            </a:endParaRPr>
          </a:p>
          <a:p>
            <a:r>
              <a:rPr lang="en-GB" b="1" dirty="0">
                <a:cs typeface="Arial" panose="020B0604020202020204" pitchFamily="34" charset="0"/>
              </a:rPr>
              <a:t>** </a:t>
            </a:r>
            <a:r>
              <a:rPr lang="en-GB" dirty="0" err="1">
                <a:cs typeface="Arial" panose="020B0604020202020204" pitchFamily="34" charset="0"/>
              </a:rPr>
              <a:t>Verweis</a:t>
            </a:r>
            <a:r>
              <a:rPr lang="en-GB" dirty="0">
                <a:cs typeface="Arial" panose="020B0604020202020204" pitchFamily="34" charset="0"/>
              </a:rPr>
              <a:t> auf </a:t>
            </a:r>
            <a:r>
              <a:rPr lang="en-GB" dirty="0" err="1">
                <a:cs typeface="Arial" panose="020B0604020202020204" pitchFamily="34" charset="0"/>
              </a:rPr>
              <a:t>Bereinigte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Sammlung</a:t>
            </a:r>
            <a:r>
              <a:rPr lang="en-GB" dirty="0">
                <a:cs typeface="Arial" panose="020B0604020202020204" pitchFamily="34" charset="0"/>
              </a:rPr>
              <a:t>:</a:t>
            </a:r>
          </a:p>
          <a:p>
            <a:r>
              <a:rPr lang="en-GB" b="1" dirty="0">
                <a:cs typeface="Arial" panose="020B0604020202020204" pitchFamily="34" charset="0"/>
              </a:rPr>
              <a:t>&lt;1947</a:t>
            </a:r>
            <a:r>
              <a:rPr lang="en-GB" dirty="0">
                <a:cs typeface="Arial" panose="020B0604020202020204" pitchFamily="34" charset="0"/>
              </a:rPr>
              <a:t>: </a:t>
            </a:r>
            <a:r>
              <a:rPr lang="en-GB" dirty="0">
                <a:solidFill>
                  <a:srgbClr val="FF0000"/>
                </a:solidFill>
                <a:cs typeface="Arial" panose="020B0604020202020204" pitchFamily="34" charset="0"/>
              </a:rPr>
              <a:t>{</a:t>
            </a:r>
            <a:r>
              <a:rPr lang="en-GB" dirty="0" err="1">
                <a:solidFill>
                  <a:srgbClr val="FF0000"/>
                </a:solidFill>
                <a:cs typeface="Arial" panose="020B0604020202020204" pitchFamily="34" charset="0"/>
              </a:rPr>
              <a:t>volume_arabic</a:t>
            </a:r>
            <a:r>
              <a:rPr lang="en-GB" dirty="0">
                <a:solidFill>
                  <a:srgbClr val="FF0000"/>
                </a:solidFill>
                <a:cs typeface="Arial" panose="020B0604020202020204" pitchFamily="34" charset="0"/>
              </a:rPr>
              <a:t>}</a:t>
            </a:r>
            <a:r>
              <a:rPr lang="en-GB" dirty="0">
                <a:highlight>
                  <a:srgbClr val="FFFF00"/>
                </a:highlight>
                <a:cs typeface="Arial" panose="020B0604020202020204" pitchFamily="34" charset="0"/>
              </a:rPr>
              <a:t>/</a:t>
            </a:r>
            <a:r>
              <a:rPr lang="en-GB" dirty="0">
                <a:cs typeface="Arial" panose="020B0604020202020204" pitchFamily="34" charset="0"/>
              </a:rPr>
              <a:t>{page-de}_{page-</a:t>
            </a:r>
            <a:r>
              <a:rPr lang="en-GB" dirty="0" err="1">
                <a:cs typeface="Arial" panose="020B0604020202020204" pitchFamily="34" charset="0"/>
              </a:rPr>
              <a:t>fr</a:t>
            </a:r>
            <a:r>
              <a:rPr lang="en-GB" dirty="0">
                <a:cs typeface="Arial" panose="020B0604020202020204" pitchFamily="34" charset="0"/>
              </a:rPr>
              <a:t>}_{page-it}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//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existiert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nur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als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Verweis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, ({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oldcc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} ?) </a:t>
            </a:r>
          </a:p>
          <a:p>
            <a:r>
              <a:rPr lang="en-GB" b="1" dirty="0">
                <a:cs typeface="Arial" panose="020B0604020202020204" pitchFamily="34" charset="0"/>
              </a:rPr>
              <a:t>&lt;1874</a:t>
            </a:r>
            <a:r>
              <a:rPr lang="en-GB" dirty="0">
                <a:cs typeface="Arial" panose="020B0604020202020204" pitchFamily="34" charset="0"/>
              </a:rPr>
              <a:t>: {</a:t>
            </a:r>
            <a:r>
              <a:rPr lang="en-GB" dirty="0" err="1">
                <a:cs typeface="Arial" panose="020B0604020202020204" pitchFamily="34" charset="0"/>
              </a:rPr>
              <a:t>volume_</a:t>
            </a:r>
            <a:r>
              <a:rPr lang="en-GB" dirty="0" err="1">
                <a:highlight>
                  <a:srgbClr val="FFFF00"/>
                </a:highlight>
                <a:cs typeface="Arial" panose="020B0604020202020204" pitchFamily="34" charset="0"/>
              </a:rPr>
              <a:t>roman</a:t>
            </a:r>
            <a:r>
              <a:rPr lang="en-GB" dirty="0">
                <a:cs typeface="Arial" panose="020B0604020202020204" pitchFamily="34" charset="0"/>
              </a:rPr>
              <a:t>}</a:t>
            </a:r>
            <a:r>
              <a:rPr lang="en-GB" dirty="0">
                <a:highlight>
                  <a:srgbClr val="FFFF00"/>
                </a:highlight>
                <a:cs typeface="Arial" panose="020B0604020202020204" pitchFamily="34" charset="0"/>
              </a:rPr>
              <a:t>/</a:t>
            </a:r>
            <a:r>
              <a:rPr lang="en-GB" dirty="0">
                <a:cs typeface="Arial" panose="020B0604020202020204" pitchFamily="34" charset="0"/>
              </a:rPr>
              <a:t>{page-de}_{page-</a:t>
            </a:r>
            <a:r>
              <a:rPr lang="en-GB" dirty="0" err="1">
                <a:cs typeface="Arial" panose="020B0604020202020204" pitchFamily="34" charset="0"/>
              </a:rPr>
              <a:t>fr</a:t>
            </a:r>
            <a:r>
              <a:rPr lang="en-GB" dirty="0">
                <a:cs typeface="Arial" panose="020B0604020202020204" pitchFamily="34" charset="0"/>
              </a:rPr>
              <a:t>}_{page-it}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//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existiert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nur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als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Verweis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, ({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oldcc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} ?)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E275B5-9390-4CE7-2A1B-5CACCB73B02C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rgbClr val="FF0000"/>
                </a:solidFill>
              </a:rPr>
              <a:t>oc arabic?</a:t>
            </a:r>
          </a:p>
        </p:txBody>
      </p:sp>
    </p:spTree>
    <p:extLst>
      <p:ext uri="{BB962C8B-B14F-4D97-AF65-F5344CB8AC3E}">
        <p14:creationId xmlns:p14="http://schemas.microsoft.com/office/powerpoint/2010/main" val="15922916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AA68B-2A0F-92CC-D4D4-26F9E45A9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8BA20-3484-BF46-5BD5-C9534040E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SR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9E8918-9C86-AAB2-7D96-4989BD3C2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872719"/>
              </p:ext>
            </p:extLst>
          </p:nvPr>
        </p:nvGraphicFramePr>
        <p:xfrm>
          <a:off x="838198" y="1690688"/>
          <a:ext cx="10515599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28399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239939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696841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Beispiel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0" dirty="0"/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0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cc/{year}/{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}/{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pointintime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cc/2020/759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022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43C0588-62CD-3ACD-4B92-406AB7DD5EEB}"/>
              </a:ext>
            </a:extLst>
          </p:cNvPr>
          <p:cNvSpPr txBox="1"/>
          <p:nvPr/>
        </p:nvSpPr>
        <p:spPr>
          <a:xfrm>
            <a:off x="838197" y="3429000"/>
            <a:ext cx="105155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*</a:t>
            </a:r>
            <a:r>
              <a:rPr lang="en-GB" dirty="0"/>
              <a:t>  </a:t>
            </a:r>
            <a:r>
              <a:rPr lang="en-GB" b="1" dirty="0"/>
              <a:t>= optional</a:t>
            </a:r>
          </a:p>
          <a:p>
            <a:r>
              <a:rPr lang="en-GB" dirty="0"/>
              <a:t>{</a:t>
            </a:r>
            <a:r>
              <a:rPr lang="en-GB" dirty="0" err="1"/>
              <a:t>naturalidentifier</a:t>
            </a:r>
            <a:r>
              <a:rPr lang="en-GB" dirty="0"/>
              <a:t>}/</a:t>
            </a:r>
            <a:r>
              <a:rPr lang="en-GB" b="1" dirty="0"/>
              <a:t>{</a:t>
            </a:r>
            <a:r>
              <a:rPr lang="en-GB" b="1" dirty="0" err="1"/>
              <a:t>pointintime</a:t>
            </a:r>
            <a:r>
              <a:rPr lang="en-GB" b="1" dirty="0"/>
              <a:t>}</a:t>
            </a:r>
            <a:r>
              <a:rPr lang="en-GB" dirty="0"/>
              <a:t>: Zu </a:t>
            </a:r>
            <a:r>
              <a:rPr lang="en-GB" dirty="0" err="1"/>
              <a:t>einem</a:t>
            </a:r>
            <a:r>
              <a:rPr lang="en-GB" dirty="0"/>
              <a:t> </a:t>
            </a:r>
            <a:r>
              <a:rPr lang="en-GB" dirty="0" err="1"/>
              <a:t>beliebigen</a:t>
            </a:r>
            <a:r>
              <a:rPr lang="en-GB" dirty="0"/>
              <a:t> </a:t>
            </a:r>
            <a:r>
              <a:rPr lang="en-GB" dirty="0" err="1"/>
              <a:t>Zeitpunkt</a:t>
            </a:r>
            <a:r>
              <a:rPr lang="en-GB" dirty="0"/>
              <a:t> </a:t>
            </a:r>
            <a:r>
              <a:rPr lang="en-GB" dirty="0" err="1"/>
              <a:t>gültige</a:t>
            </a:r>
            <a:r>
              <a:rPr lang="en-GB" dirty="0"/>
              <a:t> </a:t>
            </a:r>
            <a:r>
              <a:rPr lang="en-GB" dirty="0" err="1"/>
              <a:t>Fassung</a:t>
            </a:r>
            <a:r>
              <a:rPr lang="en-GB" dirty="0"/>
              <a:t> (Format: YYYYMMDD)</a:t>
            </a:r>
          </a:p>
          <a:p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 err="1"/>
              <a:t>Beispiel</a:t>
            </a:r>
            <a:r>
              <a:rPr lang="en-GB" dirty="0"/>
              <a:t>: VIZBM </a:t>
            </a:r>
            <a:r>
              <a:rPr lang="en-GB" b="1" dirty="0"/>
              <a:t>am 01.11.2015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>
                <a:hlinkClick r:id="rId4"/>
              </a:rPr>
              <a:t>cc/2015/659/20151101</a:t>
            </a:r>
            <a:endParaRPr lang="en-GB" dirty="0"/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 err="1">
                <a:highlight>
                  <a:srgbClr val="FFFF00"/>
                </a:highlight>
              </a:rPr>
              <a:t>Beispiel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/>
              <a:t>neu </a:t>
            </a:r>
            <a:r>
              <a:rPr lang="en-GB" dirty="0" err="1"/>
              <a:t>mit</a:t>
            </a:r>
            <a:r>
              <a:rPr lang="en-GB" dirty="0"/>
              <a:t> query: DSV</a:t>
            </a:r>
            <a:r>
              <a:rPr lang="en-GB" b="1" dirty="0"/>
              <a:t> am 05.01.2025</a:t>
            </a:r>
            <a:br>
              <a:rPr lang="en-GB" b="1" dirty="0"/>
            </a:br>
            <a:r>
              <a:rPr lang="en-GB" dirty="0">
                <a:hlinkClick r:id="rId5"/>
              </a:rPr>
              <a:t>cc/2022/568/de</a:t>
            </a:r>
            <a:r>
              <a:rPr lang="en-GB" dirty="0">
                <a:highlight>
                  <a:srgbClr val="FFFF00"/>
                </a:highlight>
                <a:hlinkClick r:id="rId5"/>
              </a:rPr>
              <a:t>?version=20250105</a:t>
            </a:r>
            <a:endParaRPr lang="en-GB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176493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E4F67-4454-C4AE-7BE4-1BF385F6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26D33-524E-1D6E-E20B-531EE983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SR, mehrere Versionen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0A651B-FDFC-5F8D-8DCA-0B21A8DE3A8D}"/>
              </a:ext>
            </a:extLst>
          </p:cNvPr>
          <p:cNvSpPr txBox="1"/>
          <p:nvPr/>
        </p:nvSpPr>
        <p:spPr>
          <a:xfrm>
            <a:off x="838198" y="1690688"/>
            <a:ext cx="1051559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 err="1"/>
              <a:t>Spezialfall</a:t>
            </a:r>
            <a:r>
              <a:rPr lang="en-GB" b="1" dirty="0"/>
              <a:t>: </a:t>
            </a:r>
            <a:r>
              <a:rPr lang="en-GB" dirty="0" err="1"/>
              <a:t>Existieren</a:t>
            </a:r>
            <a:r>
              <a:rPr lang="en-GB" dirty="0"/>
              <a:t> </a:t>
            </a:r>
            <a:r>
              <a:rPr lang="en-GB" dirty="0" err="1"/>
              <a:t>mehrere</a:t>
            </a:r>
            <a:r>
              <a:rPr lang="en-GB" dirty="0"/>
              <a:t> SR </a:t>
            </a:r>
            <a:r>
              <a:rPr lang="en-GB" dirty="0" err="1"/>
              <a:t>Fassungen</a:t>
            </a:r>
            <a:r>
              <a:rPr lang="en-GB" b="1" dirty="0"/>
              <a:t>, </a:t>
            </a:r>
            <a:r>
              <a:rPr lang="en-GB" dirty="0" err="1"/>
              <a:t>wird</a:t>
            </a:r>
            <a:r>
              <a:rPr lang="en-GB" dirty="0"/>
              <a:t> </a:t>
            </a:r>
            <a:r>
              <a:rPr lang="en-GB" dirty="0" err="1"/>
              <a:t>jeder</a:t>
            </a:r>
            <a:r>
              <a:rPr lang="en-GB" dirty="0"/>
              <a:t> </a:t>
            </a:r>
            <a:r>
              <a:rPr lang="en-GB" dirty="0" err="1"/>
              <a:t>weiteren</a:t>
            </a:r>
            <a:r>
              <a:rPr lang="en-GB" dirty="0"/>
              <a:t> </a:t>
            </a:r>
            <a:r>
              <a:rPr lang="en-GB" dirty="0" err="1"/>
              <a:t>Fassung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Ordnungsnummer</a:t>
            </a:r>
            <a:r>
              <a:rPr lang="en-GB" dirty="0"/>
              <a:t> </a:t>
            </a:r>
            <a:r>
              <a:rPr lang="en-GB" dirty="0" err="1"/>
              <a:t>beginnend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der Ziffer 2 </a:t>
            </a:r>
            <a:r>
              <a:rPr lang="en-GB" dirty="0" err="1"/>
              <a:t>angehängt</a:t>
            </a:r>
            <a:r>
              <a:rPr lang="en-GB" dirty="0"/>
              <a:t>.</a:t>
            </a:r>
            <a:br>
              <a:rPr lang="en-GB" dirty="0"/>
            </a:br>
            <a:endParaRPr lang="en-GB" dirty="0"/>
          </a:p>
          <a:p>
            <a:r>
              <a:rPr lang="en-GB" b="1" dirty="0"/>
              <a:t>cc/{year}/{naturalidentifier</a:t>
            </a:r>
            <a:r>
              <a:rPr lang="en-GB" b="1" dirty="0">
                <a:highlight>
                  <a:srgbClr val="FFFF00"/>
                </a:highlight>
              </a:rPr>
              <a:t>}-{ordernumber}</a:t>
            </a:r>
            <a:r>
              <a:rPr lang="en-GB" b="1" dirty="0">
                <a:solidFill>
                  <a:schemeClr val="bg1">
                    <a:lumMod val="75000"/>
                  </a:schemeClr>
                </a:solidFill>
              </a:rPr>
              <a:t> // (Achtung: </a:t>
            </a:r>
            <a:r>
              <a:rPr lang="en-GB" b="1" dirty="0" err="1">
                <a:solidFill>
                  <a:schemeClr val="bg1">
                    <a:lumMod val="75000"/>
                  </a:schemeClr>
                </a:solidFill>
              </a:rPr>
              <a:t>Bindestrich</a:t>
            </a:r>
            <a:r>
              <a:rPr lang="en-GB" b="1" dirty="0">
                <a:solidFill>
                  <a:schemeClr val="bg1">
                    <a:lumMod val="75000"/>
                  </a:schemeClr>
                </a:solidFill>
              </a:rPr>
              <a:t>!)</a:t>
            </a:r>
          </a:p>
          <a:p>
            <a:br>
              <a:rPr lang="en-GB" dirty="0"/>
            </a:br>
            <a:r>
              <a:rPr lang="en-GB" dirty="0" err="1"/>
              <a:t>Beispiel</a:t>
            </a:r>
            <a:r>
              <a:rPr lang="en-GB" dirty="0"/>
              <a:t>:</a:t>
            </a:r>
          </a:p>
          <a:p>
            <a:r>
              <a:rPr lang="en-GB" dirty="0"/>
              <a:t>/</a:t>
            </a:r>
            <a:r>
              <a:rPr lang="en-GB" dirty="0" err="1">
                <a:highlight>
                  <a:srgbClr val="FFFF00"/>
                </a:highlight>
              </a:rPr>
              <a:t>oc</a:t>
            </a:r>
            <a:r>
              <a:rPr lang="en-GB" dirty="0"/>
              <a:t>/2004/25	</a:t>
            </a:r>
            <a:r>
              <a:rPr lang="en-GB" dirty="0" err="1"/>
              <a:t>völkerrechtlicher</a:t>
            </a:r>
            <a:r>
              <a:rPr lang="en-GB" dirty="0"/>
              <a:t> </a:t>
            </a:r>
            <a:r>
              <a:rPr lang="en-GB" dirty="0" err="1"/>
              <a:t>Vertrag</a:t>
            </a:r>
            <a:r>
              <a:rPr lang="en-GB" dirty="0"/>
              <a:t>* </a:t>
            </a:r>
            <a:r>
              <a:rPr lang="en-GB" dirty="0" err="1"/>
              <a:t>zw</a:t>
            </a:r>
            <a:r>
              <a:rPr lang="en-GB" dirty="0"/>
              <a:t>. EFTA und </a:t>
            </a:r>
            <a:r>
              <a:rPr lang="en-GB" dirty="0" err="1"/>
              <a:t>Mazedonien</a:t>
            </a:r>
            <a:r>
              <a:rPr lang="en-GB" dirty="0"/>
              <a:t> (basic act) 	=&gt; AS 2004 365</a:t>
            </a:r>
          </a:p>
          <a:p>
            <a:r>
              <a:rPr lang="en-GB" dirty="0"/>
              <a:t>/cc/2004/25	</a:t>
            </a:r>
            <a:r>
              <a:rPr lang="en-GB" dirty="0" err="1"/>
              <a:t>bereinigte</a:t>
            </a:r>
            <a:r>
              <a:rPr lang="en-GB" dirty="0"/>
              <a:t> </a:t>
            </a:r>
            <a:r>
              <a:rPr lang="en-GB" dirty="0" err="1"/>
              <a:t>Fassung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Änderungen</a:t>
            </a:r>
            <a:r>
              <a:rPr lang="en-GB" dirty="0"/>
              <a:t> (main act) 	=&gt; SR 0.632.315.201.1</a:t>
            </a:r>
          </a:p>
          <a:p>
            <a:r>
              <a:rPr lang="en-GB" dirty="0"/>
              <a:t>/cc/2004/25</a:t>
            </a:r>
            <a:r>
              <a:rPr lang="en-GB" dirty="0">
                <a:highlight>
                  <a:srgbClr val="FFFF00"/>
                </a:highlight>
              </a:rPr>
              <a:t>-2</a:t>
            </a:r>
            <a:r>
              <a:rPr lang="en-GB" dirty="0"/>
              <a:t>	SR 0.632.315.201.11:	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DFC9F7-827C-9126-A419-BFDEFC5476CB}"/>
              </a:ext>
            </a:extLst>
          </p:cNvPr>
          <p:cNvSpPr/>
          <p:nvPr/>
        </p:nvSpPr>
        <p:spPr>
          <a:xfrm>
            <a:off x="10552770" y="0"/>
            <a:ext cx="1639230" cy="1204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TBD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5E551B-2EB6-67CF-7B9B-C4FAD6A40A87}"/>
              </a:ext>
            </a:extLst>
          </p:cNvPr>
          <p:cNvSpPr txBox="1"/>
          <p:nvPr/>
        </p:nvSpPr>
        <p:spPr>
          <a:xfrm>
            <a:off x="2673504" y="4300702"/>
            <a:ext cx="6105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* </a:t>
            </a:r>
            <a:r>
              <a:rPr lang="en-GB" dirty="0" err="1"/>
              <a:t>übersetzt</a:t>
            </a:r>
            <a:r>
              <a:rPr lang="en-GB" dirty="0"/>
              <a:t>, </a:t>
            </a:r>
            <a:r>
              <a:rPr lang="en-GB" dirty="0" err="1"/>
              <a:t>genehmigt</a:t>
            </a:r>
            <a:r>
              <a:rPr lang="en-GB" dirty="0"/>
              <a:t> (BV) und </a:t>
            </a:r>
            <a:r>
              <a:rPr lang="en-GB" dirty="0" err="1"/>
              <a:t>ratifiziert</a:t>
            </a:r>
            <a:r>
              <a:rPr lang="en-GB" dirty="0"/>
              <a:t> (BR)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426576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C3C8B-E52F-24AE-0394-B0BA57A1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8E187-139A-92B2-F8B0-6B486540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SR, Grunderlass ≠ 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460647-68A5-09D1-3626-5639FAB85AD4}"/>
              </a:ext>
            </a:extLst>
          </p:cNvPr>
          <p:cNvSpPr txBox="1"/>
          <p:nvPr/>
        </p:nvSpPr>
        <p:spPr>
          <a:xfrm>
            <a:off x="838198" y="1690688"/>
            <a:ext cx="105155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Für </a:t>
            </a:r>
            <a:r>
              <a:rPr lang="en-GB" dirty="0" err="1"/>
              <a:t>einen</a:t>
            </a:r>
            <a:r>
              <a:rPr lang="en-GB" dirty="0"/>
              <a:t> </a:t>
            </a:r>
            <a:r>
              <a:rPr lang="en-GB" dirty="0" err="1"/>
              <a:t>beliebigen</a:t>
            </a:r>
            <a:r>
              <a:rPr lang="en-GB" dirty="0"/>
              <a:t> </a:t>
            </a:r>
            <a:r>
              <a:rPr lang="en-GB" dirty="0" err="1"/>
              <a:t>Erlass</a:t>
            </a:r>
            <a:r>
              <a:rPr lang="en-GB" dirty="0"/>
              <a:t> in der SR: Wenn der </a:t>
            </a:r>
            <a:r>
              <a:rPr lang="en-GB" dirty="0" err="1"/>
              <a:t>Grunderlass</a:t>
            </a:r>
            <a:r>
              <a:rPr lang="en-GB" dirty="0"/>
              <a:t> in </a:t>
            </a:r>
            <a:r>
              <a:rPr lang="en-GB" dirty="0" err="1"/>
              <a:t>einer</a:t>
            </a:r>
            <a:r>
              <a:rPr lang="en-GB" dirty="0"/>
              <a:t> </a:t>
            </a:r>
            <a:r>
              <a:rPr lang="en-GB" dirty="0" err="1"/>
              <a:t>anderen</a:t>
            </a:r>
            <a:r>
              <a:rPr lang="en-GB" dirty="0"/>
              <a:t> </a:t>
            </a:r>
            <a:r>
              <a:rPr lang="en-GB" dirty="0" err="1"/>
              <a:t>Sammlung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AS </a:t>
            </a:r>
            <a:r>
              <a:rPr lang="en-GB" dirty="0" err="1"/>
              <a:t>veröffentlicht</a:t>
            </a:r>
            <a:r>
              <a:rPr lang="en-GB" dirty="0"/>
              <a:t> </a:t>
            </a:r>
            <a:r>
              <a:rPr lang="en-GB" dirty="0" err="1"/>
              <a:t>wurde</a:t>
            </a:r>
            <a:r>
              <a:rPr lang="en-GB" dirty="0"/>
              <a:t>, </a:t>
            </a:r>
            <a:r>
              <a:rPr lang="en-GB" dirty="0" err="1"/>
              <a:t>wird</a:t>
            </a:r>
            <a:r>
              <a:rPr lang="en-GB" dirty="0"/>
              <a:t> die </a:t>
            </a:r>
            <a:r>
              <a:rPr lang="en-GB" dirty="0" err="1"/>
              <a:t>Sammlung</a:t>
            </a:r>
            <a:r>
              <a:rPr lang="en-GB" dirty="0"/>
              <a:t> </a:t>
            </a:r>
            <a:r>
              <a:rPr lang="en-GB" dirty="0" err="1"/>
              <a:t>nach</a:t>
            </a:r>
            <a:r>
              <a:rPr lang="en-GB" dirty="0"/>
              <a:t> {</a:t>
            </a:r>
            <a:r>
              <a:rPr lang="en-GB" dirty="0" err="1"/>
              <a:t>naturalidentifier</a:t>
            </a:r>
            <a:r>
              <a:rPr lang="en-GB" dirty="0"/>
              <a:t>}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einem</a:t>
            </a:r>
            <a:r>
              <a:rPr lang="en-GB" dirty="0"/>
              <a:t> </a:t>
            </a:r>
            <a:r>
              <a:rPr lang="en-GB" i="1" dirty="0"/>
              <a:t>Underscore</a:t>
            </a:r>
            <a:r>
              <a:rPr lang="en-GB" dirty="0"/>
              <a:t> </a:t>
            </a:r>
            <a:r>
              <a:rPr lang="en-GB" dirty="0" err="1"/>
              <a:t>gekennzeichnet</a:t>
            </a:r>
            <a:r>
              <a:rPr lang="en-GB" dirty="0"/>
              <a:t> :</a:t>
            </a:r>
          </a:p>
          <a:p>
            <a:endParaRPr lang="en-GB" b="1" dirty="0"/>
          </a:p>
          <a:p>
            <a:r>
              <a:rPr lang="en-GB" b="1" dirty="0"/>
              <a:t>cc/{year}/{</a:t>
            </a:r>
            <a:r>
              <a:rPr lang="en-GB" b="1" dirty="0" err="1"/>
              <a:t>naturalidentifier</a:t>
            </a:r>
            <a:r>
              <a:rPr lang="en-GB" b="1" dirty="0">
                <a:highlight>
                  <a:srgbClr val="FFFF00"/>
                </a:highlight>
              </a:rPr>
              <a:t>}_{</a:t>
            </a:r>
            <a:r>
              <a:rPr lang="en-GB" b="1" dirty="0" err="1">
                <a:highlight>
                  <a:srgbClr val="FFFF00"/>
                </a:highlight>
              </a:rPr>
              <a:t>collection_basicact</a:t>
            </a:r>
            <a:r>
              <a:rPr lang="en-GB" b="1" dirty="0">
                <a:highlight>
                  <a:srgbClr val="FFFF00"/>
                </a:highlight>
              </a:rPr>
              <a:t>}</a:t>
            </a:r>
            <a:br>
              <a:rPr lang="en-GB" b="1" dirty="0">
                <a:highlight>
                  <a:srgbClr val="FFFF00"/>
                </a:highlight>
              </a:rPr>
            </a:br>
            <a:endParaRPr lang="en-GB" b="1" dirty="0">
              <a:highlight>
                <a:srgbClr val="FFFF00"/>
              </a:highlight>
            </a:endParaRPr>
          </a:p>
          <a:p>
            <a:r>
              <a:rPr lang="en-GB" dirty="0" err="1"/>
              <a:t>Beispiel</a:t>
            </a:r>
            <a:r>
              <a:rPr lang="en-GB" dirty="0"/>
              <a:t> :</a:t>
            </a:r>
          </a:p>
          <a:p>
            <a:r>
              <a:rPr lang="en-GB" dirty="0"/>
              <a:t>cc/2004/232</a:t>
            </a:r>
            <a:r>
              <a:rPr lang="en-GB" dirty="0">
                <a:highlight>
                  <a:srgbClr val="FFFF00"/>
                </a:highlight>
              </a:rPr>
              <a:t>_fga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//  Der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Grunderlass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ist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im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BBl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fga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erschienen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11399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66E8B-E8F6-FB7D-3BAC-245601C48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90D5A-2E97-58CD-DA44-0C4E0D721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SR, kein digitalisierter Text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1678CD-AD16-4F4B-D1C3-2D5E1C42C78B}"/>
              </a:ext>
            </a:extLst>
          </p:cNvPr>
          <p:cNvSpPr txBox="1"/>
          <p:nvPr/>
        </p:nvSpPr>
        <p:spPr>
          <a:xfrm>
            <a:off x="838198" y="1690688"/>
            <a:ext cx="105155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In </a:t>
            </a:r>
            <a:r>
              <a:rPr lang="en-GB" dirty="0" err="1"/>
              <a:t>einigen</a:t>
            </a:r>
            <a:r>
              <a:rPr lang="en-GB" dirty="0"/>
              <a:t> </a:t>
            </a:r>
            <a:r>
              <a:rPr lang="en-GB" dirty="0" err="1"/>
              <a:t>Fällen</a:t>
            </a:r>
            <a:r>
              <a:rPr lang="en-GB" dirty="0"/>
              <a:t> </a:t>
            </a:r>
            <a:r>
              <a:rPr lang="en-GB" dirty="0" err="1"/>
              <a:t>wurde</a:t>
            </a:r>
            <a:r>
              <a:rPr lang="en-GB" dirty="0"/>
              <a:t> </a:t>
            </a:r>
            <a:r>
              <a:rPr lang="en-GB" dirty="0" err="1"/>
              <a:t>nur</a:t>
            </a:r>
            <a:r>
              <a:rPr lang="en-GB" dirty="0"/>
              <a:t> der </a:t>
            </a:r>
            <a:r>
              <a:rPr lang="en-GB" dirty="0" err="1"/>
              <a:t>Grunderlass</a:t>
            </a:r>
            <a:r>
              <a:rPr lang="en-GB" dirty="0"/>
              <a:t> der AS </a:t>
            </a:r>
            <a:r>
              <a:rPr lang="en-GB" dirty="0" err="1"/>
              <a:t>digitalisiert</a:t>
            </a:r>
            <a:r>
              <a:rPr lang="en-GB" dirty="0"/>
              <a:t> (auf die </a:t>
            </a:r>
            <a:r>
              <a:rPr lang="en-GB" dirty="0" err="1"/>
              <a:t>Veröffentlichung</a:t>
            </a:r>
            <a:r>
              <a:rPr lang="en-GB" dirty="0"/>
              <a:t> der </a:t>
            </a:r>
            <a:r>
              <a:rPr lang="en-GB" dirty="0" err="1"/>
              <a:t>bereinigten</a:t>
            </a:r>
            <a:r>
              <a:rPr lang="en-GB" dirty="0"/>
              <a:t> </a:t>
            </a:r>
            <a:r>
              <a:rPr lang="en-GB" dirty="0" err="1"/>
              <a:t>Fassung</a:t>
            </a:r>
            <a:r>
              <a:rPr lang="en-GB" dirty="0"/>
              <a:t> in der SR </a:t>
            </a:r>
            <a:r>
              <a:rPr lang="en-GB" dirty="0" err="1"/>
              <a:t>wurde</a:t>
            </a:r>
            <a:r>
              <a:rPr lang="en-GB" dirty="0"/>
              <a:t> </a:t>
            </a:r>
            <a:r>
              <a:rPr lang="en-GB" dirty="0" err="1"/>
              <a:t>verzichtet</a:t>
            </a:r>
            <a:r>
              <a:rPr lang="en-GB" dirty="0"/>
              <a:t>). Die URIs der SR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dann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ihre</a:t>
            </a:r>
            <a:r>
              <a:rPr lang="en-GB" dirty="0"/>
              <a:t> {</a:t>
            </a:r>
            <a:r>
              <a:rPr lang="en-GB" dirty="0" err="1"/>
              <a:t>historicaldossierID</a:t>
            </a:r>
            <a:r>
              <a:rPr lang="en-GB" dirty="0"/>
              <a:t>}_cc </a:t>
            </a:r>
            <a:r>
              <a:rPr lang="en-GB" dirty="0" err="1"/>
              <a:t>identifiziert</a:t>
            </a:r>
            <a:r>
              <a:rPr lang="en-GB" dirty="0"/>
              <a:t>, </a:t>
            </a:r>
            <a:r>
              <a:rPr lang="en-GB" dirty="0" err="1"/>
              <a:t>wobei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“</a:t>
            </a:r>
            <a:r>
              <a:rPr lang="en-GB" dirty="0" err="1"/>
              <a:t>Fehlermeldung</a:t>
            </a:r>
            <a:r>
              <a:rPr lang="en-GB" dirty="0"/>
              <a:t>” </a:t>
            </a:r>
            <a:r>
              <a:rPr lang="en-GB" dirty="0" err="1"/>
              <a:t>kommt</a:t>
            </a:r>
            <a:r>
              <a:rPr lang="en-GB" dirty="0"/>
              <a:t>, </a:t>
            </a:r>
            <a:r>
              <a:rPr lang="en-GB" dirty="0" err="1"/>
              <a:t>kein</a:t>
            </a:r>
            <a:r>
              <a:rPr lang="en-GB" dirty="0"/>
              <a:t> </a:t>
            </a:r>
            <a:r>
              <a:rPr lang="en-GB" dirty="0" err="1"/>
              <a:t>digitalisierter</a:t>
            </a:r>
            <a:r>
              <a:rPr lang="en-GB" dirty="0"/>
              <a:t> Text </a:t>
            </a:r>
            <a:r>
              <a:rPr lang="en-GB" dirty="0" err="1"/>
              <a:t>vorliegt</a:t>
            </a:r>
            <a:r>
              <a:rPr lang="en-GB" dirty="0"/>
              <a:t>:</a:t>
            </a:r>
          </a:p>
          <a:p>
            <a:endParaRPr lang="en-GB" b="1" dirty="0"/>
          </a:p>
          <a:p>
            <a:r>
              <a:rPr lang="en-GB" b="1" dirty="0"/>
              <a:t>cc/{year}/</a:t>
            </a:r>
            <a:r>
              <a:rPr lang="en-GB" b="1" dirty="0">
                <a:highlight>
                  <a:srgbClr val="FFFF00"/>
                </a:highlight>
              </a:rPr>
              <a:t>{</a:t>
            </a:r>
            <a:r>
              <a:rPr lang="en-GB" b="1" dirty="0" err="1">
                <a:highlight>
                  <a:srgbClr val="FFFF00"/>
                </a:highlight>
              </a:rPr>
              <a:t>historicaldossierID</a:t>
            </a:r>
            <a:r>
              <a:rPr lang="en-GB" b="1" dirty="0">
                <a:highlight>
                  <a:srgbClr val="FFFF00"/>
                </a:highlight>
              </a:rPr>
              <a:t>}_cc</a:t>
            </a:r>
          </a:p>
          <a:p>
            <a:endParaRPr lang="en-GB" dirty="0"/>
          </a:p>
          <a:p>
            <a:r>
              <a:rPr lang="en-GB" dirty="0" err="1"/>
              <a:t>Beispiel</a:t>
            </a:r>
            <a:r>
              <a:rPr lang="en-GB" dirty="0"/>
              <a:t>:</a:t>
            </a:r>
          </a:p>
          <a:p>
            <a:r>
              <a:rPr lang="en-GB" dirty="0">
                <a:hlinkClick r:id="rId2"/>
              </a:rPr>
              <a:t>cc/1929/</a:t>
            </a:r>
            <a:r>
              <a:rPr lang="en-GB" dirty="0">
                <a:highlight>
                  <a:srgbClr val="FFFF00"/>
                </a:highlight>
                <a:hlinkClick r:id="rId2"/>
              </a:rPr>
              <a:t>0029</a:t>
            </a:r>
            <a:r>
              <a:rPr lang="en-GB" dirty="0">
                <a:hlinkClick r:id="rId2"/>
              </a:rPr>
              <a:t>_cc</a:t>
            </a:r>
            <a:r>
              <a:rPr lang="en-GB" dirty="0"/>
              <a:t> 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// “Für dieses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Dokument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der SR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liegt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kein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digitalisierter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Text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vor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9959272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A0B4E-4973-5EFF-2F7E-BD68400DF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815D9-C4F6-AAC9-D04E-08DF77777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Treaty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0BB73-761E-B74C-D08D-DF223E533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1607"/>
            <a:ext cx="10515600" cy="347535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* Before January 1st, 2021</a:t>
            </a:r>
            <a:r>
              <a:rPr lang="en-GB" dirty="0"/>
              <a:t>: </a:t>
            </a:r>
            <a:r>
              <a:rPr lang="en-GB" dirty="0">
                <a:solidFill>
                  <a:srgbClr val="FF0000"/>
                </a:solidFill>
              </a:rPr>
              <a:t>the existing treaty identifiers will be reused adding a “/” before the treaty number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treaty/{year}{treaty number}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// YYYY + 4 digits ; 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without “/”</a:t>
            </a:r>
            <a:br>
              <a:rPr lang="en-GB" dirty="0">
                <a:highlight>
                  <a:srgbClr val="FFFF00"/>
                </a:highlight>
              </a:rPr>
            </a:br>
            <a:br>
              <a:rPr lang="en-GB" dirty="0">
                <a:highlight>
                  <a:srgbClr val="FFFF00"/>
                </a:highlight>
              </a:rPr>
            </a:br>
            <a:r>
              <a:rPr lang="en-GB" dirty="0"/>
              <a:t>Example:</a:t>
            </a:r>
            <a:br>
              <a:rPr lang="en-GB" dirty="0"/>
            </a:br>
            <a:r>
              <a:rPr lang="en-GB" dirty="0">
                <a:hlinkClick r:id="rId4"/>
              </a:rPr>
              <a:t>treaty/20181072</a:t>
            </a:r>
            <a:r>
              <a:rPr lang="en-GB" dirty="0"/>
              <a:t> 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// Identifier 20181072 will become 2018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/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1072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C7D14F-F4FF-6ADC-4C75-CF93138A4564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W</a:t>
            </a:r>
            <a:r>
              <a:rPr lang="en-CH" dirty="0">
                <a:solidFill>
                  <a:srgbClr val="FF0000"/>
                </a:solidFill>
              </a:rPr>
              <a:t>orking example?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388793E-0D40-FA34-DF4F-2831F4DE2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913755"/>
              </p:ext>
            </p:extLst>
          </p:nvPr>
        </p:nvGraphicFramePr>
        <p:xfrm>
          <a:off x="838198" y="1690688"/>
          <a:ext cx="10515599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28399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239939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696841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Beispiel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0" dirty="0"/>
                        <a:t>treaty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trike="noStrike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CH" strike="noStrike" dirty="0">
                          <a:solidFill>
                            <a:schemeClr val="tx1"/>
                          </a:solidFill>
                        </a:rPr>
                        <a:t>ölkerrechtliche Verträge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800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treaty/{year}</a:t>
                      </a:r>
                      <a:r>
                        <a:rPr lang="en-GB" sz="1800" strike="noStrike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/*</a:t>
                      </a:r>
                      <a:r>
                        <a:rPr lang="en-GB" sz="1800" strike="noStrik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{treaty 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treaty/2021/0242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0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529794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E3C3D-5033-B07D-ED7E-58E0210A5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707E7-B9D7-85F4-7D53-F783E515D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Treaty , EU </a:t>
            </a:r>
            <a:r>
              <a:rPr lang="de-CH" dirty="0" err="1"/>
              <a:t>Conv</a:t>
            </a:r>
            <a:r>
              <a:rPr lang="de-CH" dirty="0"/>
              <a:t>. + Joint Comm.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22FCB-A9FE-6329-F749-527778F39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treaties based on </a:t>
            </a:r>
            <a:r>
              <a:rPr lang="en-GB" b="1" dirty="0"/>
              <a:t>European conventions</a:t>
            </a:r>
            <a:r>
              <a:rPr lang="en-GB" dirty="0"/>
              <a:t>: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treaty/</a:t>
            </a:r>
            <a:r>
              <a:rPr lang="en-GB" dirty="0">
                <a:solidFill>
                  <a:srgbClr val="FF0000"/>
                </a:solidFill>
              </a:rPr>
              <a:t>1234</a:t>
            </a:r>
            <a:r>
              <a:rPr lang="en-GB" dirty="0"/>
              <a:t>/{</a:t>
            </a:r>
            <a:r>
              <a:rPr lang="en-GB" dirty="0">
                <a:highlight>
                  <a:srgbClr val="FFFF00"/>
                </a:highlight>
              </a:rPr>
              <a:t>convention number}</a:t>
            </a:r>
            <a:br>
              <a:rPr lang="en-GB" dirty="0"/>
            </a:br>
            <a:br>
              <a:rPr lang="en-GB" dirty="0"/>
            </a:br>
            <a:r>
              <a:rPr lang="en-GB" dirty="0"/>
              <a:t>Example: </a:t>
            </a:r>
            <a:br>
              <a:rPr lang="en-GB" dirty="0"/>
            </a:br>
            <a:r>
              <a:rPr lang="en-GB" dirty="0" err="1"/>
              <a:t>eli</a:t>
            </a:r>
            <a:r>
              <a:rPr lang="en-GB" dirty="0"/>
              <a:t>/treaty/1234/18037</a:t>
            </a:r>
          </a:p>
          <a:p>
            <a:pPr>
              <a:lnSpc>
                <a:spcPct val="120000"/>
              </a:lnSpc>
            </a:pPr>
            <a:r>
              <a:rPr lang="en-GB" dirty="0"/>
              <a:t>Creation of new treaties from </a:t>
            </a:r>
            <a:r>
              <a:rPr lang="en-GB" b="1" dirty="0"/>
              <a:t>decision of joint committee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treaty/</a:t>
            </a:r>
            <a:r>
              <a:rPr lang="en-GB" dirty="0">
                <a:solidFill>
                  <a:srgbClr val="FF0000"/>
                </a:solidFill>
              </a:rPr>
              <a:t>1357</a:t>
            </a:r>
            <a:r>
              <a:rPr lang="en-GB" dirty="0">
                <a:highlight>
                  <a:srgbClr val="FFFF00"/>
                </a:highlight>
              </a:rPr>
              <a:t>/{decision number}</a:t>
            </a:r>
            <a:br>
              <a:rPr lang="en-GB" dirty="0"/>
            </a:br>
            <a:br>
              <a:rPr lang="en-GB" dirty="0"/>
            </a:br>
            <a:r>
              <a:rPr lang="en-GB" dirty="0"/>
              <a:t>Example: </a:t>
            </a:r>
            <a:br>
              <a:rPr lang="en-GB" dirty="0"/>
            </a:br>
            <a:r>
              <a:rPr lang="en-GB" dirty="0"/>
              <a:t>treaty/1357/18424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4295F8-5DC9-C5CD-8099-76C5585B3900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S</a:t>
            </a:r>
            <a:r>
              <a:rPr lang="en-CH" dirty="0">
                <a:solidFill>
                  <a:srgbClr val="FF0000"/>
                </a:solidFill>
              </a:rPr>
              <a:t>tarre Nummern?</a:t>
            </a:r>
          </a:p>
        </p:txBody>
      </p:sp>
    </p:spTree>
    <p:extLst>
      <p:ext uri="{BB962C8B-B14F-4D97-AF65-F5344CB8AC3E}">
        <p14:creationId xmlns:p14="http://schemas.microsoft.com/office/powerpoint/2010/main" val="36074163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00B18-7795-D989-D5C1-53C8A0660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061CA-D0CD-49A9-4CEF-E28BC2E53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Treaty, Annex + TreatyProcess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853F2-1EBD-605A-99B6-20BF509A4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GB" b="1" dirty="0"/>
              <a:t>Annexes</a:t>
            </a:r>
            <a:r>
              <a:rPr lang="en-GB" dirty="0"/>
              <a:t> to treaties:</a:t>
            </a:r>
            <a:br>
              <a:rPr lang="en-GB" dirty="0"/>
            </a:br>
            <a:r>
              <a:rPr lang="en-GB" dirty="0"/>
              <a:t>treaty/{year}/{treaty number}</a:t>
            </a:r>
            <a:r>
              <a:rPr lang="en-GB" dirty="0">
                <a:highlight>
                  <a:srgbClr val="FFFF00"/>
                </a:highlight>
              </a:rPr>
              <a:t>1</a:t>
            </a:r>
            <a:r>
              <a:rPr lang="en-GB" dirty="0"/>
              <a:t>{annex number}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// “1” + 3 digits starting with “001” ; </a:t>
            </a:r>
            <a:br>
              <a:rPr lang="en-GB" dirty="0">
                <a:solidFill>
                  <a:schemeClr val="bg1">
                    <a:lumMod val="50000"/>
                  </a:schemeClr>
                </a:solidFill>
              </a:rPr>
            </a:br>
            <a:br>
              <a:rPr lang="en-GB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GB" dirty="0"/>
              <a:t>Example:</a:t>
            </a:r>
            <a:br>
              <a:rPr lang="en-GB" dirty="0"/>
            </a:br>
            <a:r>
              <a:rPr lang="en-GB" dirty="0"/>
              <a:t>treaty/1978/0026</a:t>
            </a:r>
            <a:r>
              <a:rPr lang="en-GB" dirty="0">
                <a:highlight>
                  <a:srgbClr val="FFFF00"/>
                </a:highlight>
              </a:rPr>
              <a:t>1</a:t>
            </a:r>
            <a:r>
              <a:rPr lang="en-GB" dirty="0"/>
              <a:t>001</a:t>
            </a:r>
          </a:p>
          <a:p>
            <a:pPr>
              <a:lnSpc>
                <a:spcPct val="120000"/>
              </a:lnSpc>
            </a:pPr>
            <a:r>
              <a:rPr lang="en-GB" b="1" dirty="0"/>
              <a:t>Modifications </a:t>
            </a:r>
            <a:r>
              <a:rPr lang="en-GB" dirty="0"/>
              <a:t>to treaties:</a:t>
            </a:r>
            <a:br>
              <a:rPr lang="en-GB" dirty="0"/>
            </a:br>
            <a:r>
              <a:rPr lang="en-GB" dirty="0"/>
              <a:t>treaty/{year}/{treaty number}</a:t>
            </a:r>
            <a:r>
              <a:rPr lang="en-GB" dirty="0">
                <a:highlight>
                  <a:srgbClr val="FFFF00"/>
                </a:highlight>
              </a:rPr>
              <a:t>2</a:t>
            </a:r>
            <a:r>
              <a:rPr lang="en-GB" dirty="0"/>
              <a:t>{modification number}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//”2” +  3 digits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Example: </a:t>
            </a:r>
            <a:br>
              <a:rPr lang="en-GB" dirty="0"/>
            </a:br>
            <a:r>
              <a:rPr lang="en-GB" dirty="0"/>
              <a:t>treaty/1923/0011</a:t>
            </a:r>
            <a:r>
              <a:rPr lang="en-GB" dirty="0">
                <a:highlight>
                  <a:srgbClr val="FFFF00"/>
                </a:highlight>
              </a:rPr>
              <a:t>2</a:t>
            </a:r>
            <a:r>
              <a:rPr lang="en-GB" dirty="0"/>
              <a:t>012</a:t>
            </a:r>
          </a:p>
        </p:txBody>
      </p:sp>
    </p:spTree>
    <p:extLst>
      <p:ext uri="{BB962C8B-B14F-4D97-AF65-F5344CB8AC3E}">
        <p14:creationId xmlns:p14="http://schemas.microsoft.com/office/powerpoint/2010/main" val="41660921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BD54F-2314-A101-5A12-EB75D0E4F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Language +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89727-F61E-7848-EB62-77CABEA3C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{language}: iso code (ISO-639-1) of the language</a:t>
            </a:r>
          </a:p>
          <a:p>
            <a:pPr lvl="1"/>
            <a:r>
              <a:rPr lang="en-GB" dirty="0"/>
              <a:t>“de”, “</a:t>
            </a:r>
            <a:r>
              <a:rPr lang="en-GB" dirty="0" err="1"/>
              <a:t>fr</a:t>
            </a:r>
            <a:r>
              <a:rPr lang="en-GB" dirty="0"/>
              <a:t>”, “it”, “rm”, “</a:t>
            </a:r>
            <a:r>
              <a:rPr lang="en-GB" dirty="0" err="1"/>
              <a:t>en</a:t>
            </a:r>
            <a:r>
              <a:rPr lang="en-GB" dirty="0"/>
              <a:t>”</a:t>
            </a:r>
          </a:p>
          <a:p>
            <a:r>
              <a:rPr lang="en-GB" dirty="0"/>
              <a:t>{user-format}: code of the functional format of the file.</a:t>
            </a:r>
          </a:p>
          <a:p>
            <a:pPr lvl="1"/>
            <a:r>
              <a:rPr lang="en-GB" dirty="0"/>
              <a:t>“html”, “pdf-x”, “pdf-a”, “pdf-a-an”, “docx”, “docx-an” </a:t>
            </a:r>
          </a:p>
          <a:p>
            <a:pPr lvl="1"/>
            <a:r>
              <a:rPr lang="en-GB" dirty="0"/>
              <a:t>“an” = “anonymized version”, </a:t>
            </a:r>
          </a:p>
          <a:p>
            <a:pPr lvl="1"/>
            <a:r>
              <a:rPr lang="en-GB" dirty="0"/>
              <a:t>“x” = “print version” </a:t>
            </a:r>
          </a:p>
          <a:p>
            <a:pPr lvl="1"/>
            <a:r>
              <a:rPr lang="en-GB" dirty="0"/>
              <a:t>“a” = “display version” (see the property </a:t>
            </a:r>
            <a:r>
              <a:rPr lang="en-GB" dirty="0" err="1"/>
              <a:t>skos:notation</a:t>
            </a:r>
            <a:r>
              <a:rPr lang="en-GB" dirty="0"/>
              <a:t> of the controlled vocabulary</a:t>
            </a:r>
            <a:r>
              <a:rPr lang="en-GB" baseline="30000" dirty="0"/>
              <a:t>8</a:t>
            </a:r>
            <a:r>
              <a:rPr lang="en-GB" dirty="0"/>
              <a:t> for more detail).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E955D1-80F4-D362-A504-4D8F2C87EBF2}"/>
              </a:ext>
            </a:extLst>
          </p:cNvPr>
          <p:cNvSpPr txBox="1"/>
          <p:nvPr/>
        </p:nvSpPr>
        <p:spPr>
          <a:xfrm>
            <a:off x="838200" y="6176963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aseline="30000" dirty="0"/>
              <a:t>8</a:t>
            </a:r>
            <a:r>
              <a:rPr lang="en-GB" dirty="0"/>
              <a:t> https://</a:t>
            </a:r>
            <a:r>
              <a:rPr lang="en-GB" dirty="0" err="1"/>
              <a:t>fedlex.data.admin.ch</a:t>
            </a:r>
            <a:r>
              <a:rPr lang="en-GB" dirty="0"/>
              <a:t>/vocabulary/user-format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2866614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6FB54-2F07-59A7-C5D6-F9181A17F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9BDA7-415B-EB4F-7C9F-8995C76FF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Metadaten – Memorial (Überblick)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35E37B-FF98-8B60-DE7F-DE60A6D0E1C0}"/>
              </a:ext>
            </a:extLst>
          </p:cNvPr>
          <p:cNvSpPr txBox="1"/>
          <p:nvPr/>
        </p:nvSpPr>
        <p:spPr>
          <a:xfrm>
            <a:off x="838197" y="1690688"/>
            <a:ext cx="1051559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Aufzählung</a:t>
            </a:r>
            <a:r>
              <a:rPr lang="en-GB" dirty="0"/>
              <a:t> </a:t>
            </a:r>
            <a:r>
              <a:rPr lang="en-GB" dirty="0" err="1"/>
              <a:t>aller</a:t>
            </a:r>
            <a:r>
              <a:rPr lang="en-GB" dirty="0"/>
              <a:t> </a:t>
            </a:r>
            <a:r>
              <a:rPr lang="en-GB" dirty="0" err="1"/>
              <a:t>Erlasse</a:t>
            </a:r>
            <a:r>
              <a:rPr lang="en-GB" dirty="0"/>
              <a:t> </a:t>
            </a:r>
            <a:r>
              <a:rPr lang="en-GB" dirty="0" err="1"/>
              <a:t>nur</a:t>
            </a:r>
            <a:r>
              <a:rPr lang="en-GB" dirty="0"/>
              <a:t> für AS und FGA </a:t>
            </a:r>
            <a:r>
              <a:rPr lang="en-GB" dirty="0">
                <a:cs typeface="Arial" panose="020B0604020202020204" pitchFamily="34" charset="0"/>
              </a:rPr>
              <a:t>(</a:t>
            </a:r>
            <a:r>
              <a:rPr lang="en-GB" dirty="0" err="1">
                <a:cs typeface="Arial" panose="020B0604020202020204" pitchFamily="34" charset="0"/>
              </a:rPr>
              <a:t>kein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Überblick</a:t>
            </a:r>
            <a:r>
              <a:rPr lang="en-GB" dirty="0">
                <a:cs typeface="Arial" panose="020B0604020202020204" pitchFamily="34" charset="0"/>
              </a:rPr>
              <a:t> für SR)</a:t>
            </a:r>
          </a:p>
          <a:p>
            <a:endParaRPr lang="en-GB" b="1" dirty="0"/>
          </a:p>
          <a:p>
            <a:r>
              <a:rPr lang="en-GB" b="1" dirty="0"/>
              <a:t>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ighlight>
                  <a:srgbClr val="FFFF00"/>
                </a:highlight>
                <a:hlinkClick r:id="rId2"/>
              </a:rPr>
              <a:t>collection</a:t>
            </a:r>
            <a:r>
              <a:rPr lang="en-GB" dirty="0">
                <a:hlinkClick r:id="rId2"/>
              </a:rPr>
              <a:t>/oc</a:t>
            </a:r>
            <a:r>
              <a:rPr lang="en-GB" dirty="0"/>
              <a:t> 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>
                <a:hlinkClick r:id="rId3"/>
              </a:rPr>
              <a:t>de/oc/index</a:t>
            </a:r>
            <a:r>
              <a:rPr lang="en-GB" dirty="0"/>
              <a:t> =&gt; alle Jahre ab 01.09.1998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4"/>
              </a:rPr>
              <a:t>de/</a:t>
            </a:r>
            <a:r>
              <a:rPr lang="en-GB" dirty="0">
                <a:highlight>
                  <a:srgbClr val="FFFF00"/>
                </a:highlight>
                <a:hlinkClick r:id="rId4"/>
              </a:rPr>
              <a:t>oc</a:t>
            </a:r>
            <a:r>
              <a:rPr lang="en-GB" dirty="0">
                <a:hlinkClick r:id="rId4"/>
              </a:rPr>
              <a:t>/index/2010 </a:t>
            </a:r>
            <a:r>
              <a:rPr lang="en-GB" dirty="0"/>
              <a:t>=&gt; alle Jahre ab 01.09.1998 (</a:t>
            </a:r>
            <a:r>
              <a:rPr lang="en-GB" dirty="0" err="1"/>
              <a:t>analog</a:t>
            </a:r>
            <a:r>
              <a:rPr lang="en-GB" dirty="0"/>
              <a:t> </a:t>
            </a:r>
            <a:r>
              <a:rPr lang="en-GB" dirty="0" err="1"/>
              <a:t>Monate</a:t>
            </a:r>
            <a:r>
              <a:rPr lang="en-GB" dirty="0"/>
              <a:t>: </a:t>
            </a:r>
            <a:r>
              <a:rPr lang="en-GB" dirty="0">
                <a:hlinkClick r:id="rId5"/>
              </a:rPr>
              <a:t>/2010/6</a:t>
            </a:r>
            <a:r>
              <a:rPr lang="en-GB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6"/>
              </a:rPr>
              <a:t>collection/oc/</a:t>
            </a:r>
            <a:r>
              <a:rPr lang="en-GB" dirty="0">
                <a:highlight>
                  <a:srgbClr val="FFFF00"/>
                </a:highlight>
                <a:hlinkClick r:id="rId6"/>
              </a:rPr>
              <a:t>2010/23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>
                <a:hlinkClick r:id="rId7"/>
              </a:rPr>
              <a:t>de/oc/</a:t>
            </a:r>
            <a:r>
              <a:rPr lang="en-GB" dirty="0">
                <a:highlight>
                  <a:srgbClr val="FFFF00"/>
                </a:highlight>
                <a:hlinkClick r:id="rId7"/>
              </a:rPr>
              <a:t>index</a:t>
            </a:r>
            <a:r>
              <a:rPr lang="en-GB" dirty="0">
                <a:hlinkClick r:id="rId7"/>
              </a:rPr>
              <a:t>/2010/6/23</a:t>
            </a:r>
            <a:r>
              <a:rPr lang="en-GB" dirty="0"/>
              <a:t> =&gt; Heft Nr. 23 (= {week}) </a:t>
            </a:r>
            <a:r>
              <a:rPr lang="en-GB" dirty="0" err="1"/>
              <a:t>vom</a:t>
            </a:r>
            <a:r>
              <a:rPr lang="en-GB" dirty="0"/>
              <a:t> 15. Juni (={month}) 2010 </a:t>
            </a:r>
          </a:p>
          <a:p>
            <a:endParaRPr lang="en-GB" dirty="0"/>
          </a:p>
          <a:p>
            <a:r>
              <a:rPr lang="en-GB" b="1" dirty="0">
                <a:cs typeface="Arial" panose="020B0604020202020204" pitchFamily="34" charset="0"/>
              </a:rPr>
              <a:t>FGA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cs typeface="Arial" panose="020B0604020202020204" pitchFamily="34" charset="0"/>
                <a:hlinkClick r:id="rId8"/>
              </a:rPr>
              <a:t>collection/fga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bzw</a:t>
            </a:r>
            <a:r>
              <a:rPr lang="en-GB" dirty="0">
                <a:cs typeface="Arial" panose="020B0604020202020204" pitchFamily="34" charset="0"/>
              </a:rPr>
              <a:t>. </a:t>
            </a:r>
            <a:r>
              <a:rPr lang="en-GB" dirty="0">
                <a:cs typeface="Arial" panose="020B0604020202020204" pitchFamily="34" charset="0"/>
                <a:hlinkClick r:id="rId9"/>
              </a:rPr>
              <a:t>de/fga/index</a:t>
            </a:r>
            <a:endParaRPr lang="en-GB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431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15E9D-374F-4DBB-7C2E-20860383F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99DB5-B969-CB54-2981-A9B147AB7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Fedlex Namespace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A668A7-8309-D30C-11CC-A1E6EE83D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685241"/>
              </p:ext>
            </p:extLst>
          </p:nvPr>
        </p:nvGraphicFramePr>
        <p:xfrm>
          <a:off x="838198" y="1522320"/>
          <a:ext cx="10515599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047041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854390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76374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{year}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fga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Bundesblatt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fga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258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fga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volume_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arabic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}_{page-de}_{page-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}_{page-it}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26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Amtliche 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398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oc</a:t>
                      </a:r>
                      <a:r>
                        <a:rPr lang="en-GB" dirty="0"/>
                        <a:t>/{year}/{</a:t>
                      </a:r>
                      <a:r>
                        <a:rPr lang="en-GB" dirty="0" err="1"/>
                        <a:t>volume_arabic</a:t>
                      </a:r>
                      <a:r>
                        <a:rPr lang="en-GB" dirty="0"/>
                        <a:t>}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_</a:t>
                      </a:r>
                      <a:r>
                        <a:rPr lang="en-GB" dirty="0"/>
                        <a:t>{page-de}_{page-</a:t>
                      </a:r>
                      <a:r>
                        <a:rPr lang="en-GB" dirty="0" err="1"/>
                        <a:t>fr</a:t>
                      </a:r>
                      <a:r>
                        <a:rPr lang="en-GB" dirty="0"/>
                        <a:t>}_{page-it}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409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chemeClr val="tx1"/>
                          </a:solidFill>
                        </a:rPr>
                        <a:t>oc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/{year}/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{</a:t>
                      </a:r>
                      <a:r>
                        <a:rPr lang="en-GB" dirty="0" err="1">
                          <a:solidFill>
                            <a:srgbClr val="FF0000"/>
                          </a:solidFill>
                        </a:rPr>
                        <a:t>volume_arabic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}</a:t>
                      </a:r>
                      <a:r>
                        <a:rPr lang="en-GB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/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{page-de}_{page-</a:t>
                      </a:r>
                      <a:r>
                        <a:rPr lang="en-GB" dirty="0" err="1">
                          <a:solidFill>
                            <a:schemeClr val="tx1"/>
                          </a:solidFill>
                        </a:rPr>
                        <a:t>fr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}_{page-it}</a:t>
                      </a:r>
                      <a:endParaRPr lang="en-GB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&lt;1947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97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</a:t>
                      </a:r>
                      <a:r>
                        <a:rPr lang="en-GB" dirty="0"/>
                        <a:t>{</a:t>
                      </a:r>
                      <a:r>
                        <a:rPr lang="en-GB" dirty="0" err="1"/>
                        <a:t>volume_</a:t>
                      </a:r>
                      <a:r>
                        <a:rPr lang="en-GB" dirty="0" err="1">
                          <a:highlight>
                            <a:srgbClr val="FFFF00"/>
                          </a:highlight>
                        </a:rPr>
                        <a:t>roman</a:t>
                      </a:r>
                      <a:r>
                        <a:rPr lang="en-GB" dirty="0"/>
                        <a:t>}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/</a:t>
                      </a:r>
                      <a:r>
                        <a:rPr lang="en-GB" dirty="0"/>
                        <a:t>{page-de}_{page-</a:t>
                      </a:r>
                      <a:r>
                        <a:rPr lang="en-GB" dirty="0" err="1"/>
                        <a:t>fr</a:t>
                      </a:r>
                      <a:r>
                        <a:rPr lang="en-GB" dirty="0"/>
                        <a:t>}_{page-it} 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&lt;1874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2263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25A6326-DF06-DC1B-6722-17C11EC5C0B1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rgbClr val="FF0000"/>
                </a:solidFill>
              </a:rPr>
              <a:t>volume_arabic in Gebrauch?</a:t>
            </a:r>
          </a:p>
        </p:txBody>
      </p:sp>
    </p:spTree>
    <p:extLst>
      <p:ext uri="{BB962C8B-B14F-4D97-AF65-F5344CB8AC3E}">
        <p14:creationId xmlns:p14="http://schemas.microsoft.com/office/powerpoint/2010/main" val="3706221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C5810-A636-F388-C911-3B4EB1B1D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0909F-5ECD-E22F-FD7D-9DFC2BDA5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Fedlex Namespace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2D7A1A-2B88-7236-9B87-33E331AB2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196100"/>
              </p:ext>
            </p:extLst>
          </p:nvPr>
        </p:nvGraphicFramePr>
        <p:xfrm>
          <a:off x="838198" y="1522320"/>
          <a:ext cx="1051559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047041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854390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76374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{year}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0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not digitized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/>
                        <a:t>cc/{year}/</a:t>
                      </a:r>
                      <a:r>
                        <a:rPr lang="en-GB" b="0" dirty="0">
                          <a:highlight>
                            <a:srgbClr val="FFFF00"/>
                          </a:highlight>
                        </a:rPr>
                        <a:t>{</a:t>
                      </a:r>
                      <a:r>
                        <a:rPr lang="en-GB" b="0" dirty="0" err="1">
                          <a:highlight>
                            <a:srgbClr val="FFFF00"/>
                          </a:highlight>
                        </a:rPr>
                        <a:t>historicaldossierID</a:t>
                      </a:r>
                      <a:r>
                        <a:rPr lang="en-GB" b="0" dirty="0">
                          <a:highlight>
                            <a:srgbClr val="FFFF00"/>
                          </a:highlight>
                        </a:rPr>
                        <a:t>}_cc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201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mehrere Versionen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cc/{year}/{</a:t>
                      </a:r>
                      <a:r>
                        <a:rPr lang="en-GB" dirty="0" err="1"/>
                        <a:t>naturalidentifier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}-{</a:t>
                      </a:r>
                      <a:r>
                        <a:rPr lang="en-GB" dirty="0" err="1">
                          <a:highlight>
                            <a:srgbClr val="FFFF00"/>
                          </a:highlight>
                        </a:rPr>
                        <a:t>ordernumber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579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basic act ≠ </a:t>
                      </a:r>
                      <a:r>
                        <a:rPr lang="en-GB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oc</a:t>
                      </a:r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/>
                        <a:t>cc/{year}/{</a:t>
                      </a:r>
                      <a:r>
                        <a:rPr lang="en-GB" b="0" dirty="0" err="1"/>
                        <a:t>naturalidentifier</a:t>
                      </a:r>
                      <a:r>
                        <a:rPr lang="en-GB" b="0" dirty="0"/>
                        <a:t>}</a:t>
                      </a:r>
                      <a:r>
                        <a:rPr lang="en-GB" b="0" dirty="0">
                          <a:highlight>
                            <a:srgbClr val="FFFF00"/>
                          </a:highlight>
                        </a:rPr>
                        <a:t>_{</a:t>
                      </a:r>
                      <a:r>
                        <a:rPr lang="en-GB" b="0" dirty="0" err="1">
                          <a:highlight>
                            <a:srgbClr val="FFFF00"/>
                          </a:highlight>
                        </a:rPr>
                        <a:t>collection_basicact</a:t>
                      </a:r>
                      <a:r>
                        <a:rPr lang="en-GB" b="0" dirty="0">
                          <a:highlight>
                            <a:srgbClr val="FFFF00"/>
                          </a:highlight>
                        </a:rPr>
                        <a:t>}</a:t>
                      </a:r>
                      <a:endParaRPr lang="en-GB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574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optional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cc/{year}/{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/{point in time}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232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treaty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V</a:t>
                      </a:r>
                      <a:r>
                        <a:rPr lang="en-CH" b="1" dirty="0"/>
                        <a:t>ölkerrechtliche Verträge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cc/{year}/{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813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="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029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412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761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76572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50FC072-CC50-14A5-1E45-76C0565EEE1B}"/>
              </a:ext>
            </a:extLst>
          </p:cNvPr>
          <p:cNvSpPr/>
          <p:nvPr/>
        </p:nvSpPr>
        <p:spPr>
          <a:xfrm>
            <a:off x="10459844" y="0"/>
            <a:ext cx="1732156" cy="1248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rgbClr val="FF0000"/>
                </a:solidFill>
              </a:rPr>
              <a:t>volume_arabic in Gebrauch?</a:t>
            </a:r>
          </a:p>
        </p:txBody>
      </p:sp>
    </p:spTree>
    <p:extLst>
      <p:ext uri="{BB962C8B-B14F-4D97-AF65-F5344CB8AC3E}">
        <p14:creationId xmlns:p14="http://schemas.microsoft.com/office/powerpoint/2010/main" val="19887808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7EBDF-C7CB-CC56-CFF1-90572760C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EC66A-766D-EAC6-C319-75E2362C2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Referenced Documents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F6FE2E-B556-C2F5-61C2-7C32FC1959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777638"/>
              </p:ext>
            </p:extLst>
          </p:nvPr>
        </p:nvGraphicFramePr>
        <p:xfrm>
          <a:off x="838198" y="1690688"/>
          <a:ext cx="105156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977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17352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6951271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0" dirty="0">
                          <a:solidFill>
                            <a:schemeClr val="tx1"/>
                          </a:solidFill>
                        </a:rPr>
                        <a:t>oc</a:t>
                      </a:r>
                      <a:r>
                        <a:rPr lang="en-CH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0" dirty="0"/>
                        <a:t>Amtliche 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documents published as “reference” in texts published in the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961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cc</a:t>
                      </a:r>
                      <a:r>
                        <a:rPr lang="en-CH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documents published as "reference” in texts published in the cc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0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fga</a:t>
                      </a:r>
                      <a:r>
                        <a:rPr lang="en-CH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Bundesblatt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documents published as “reference” in texts published in the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fga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541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rgbClr val="FF0000"/>
                          </a:solidFill>
                        </a:rPr>
                        <a:t>o</a:t>
                      </a:r>
                      <a:r>
                        <a:rPr lang="en-CH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rgbClr val="FF0000"/>
                          </a:solidFill>
                        </a:rPr>
                        <a:t>Berichte zu Verordnungen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reports about ordonnances 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“reports” 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Sinne von 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Erläuternder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Bericht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betrifft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das die 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Gesetzgebung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)? Z.B. 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Botschaft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des 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Bundesrats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z.B.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Erläuternder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 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Bericht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 VÜPF</a:t>
                      </a:r>
                      <a:endParaRPr lang="en-GB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4215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FE07464-318D-47E8-C839-96D04F3B2172}"/>
              </a:ext>
            </a:extLst>
          </p:cNvPr>
          <p:cNvSpPr/>
          <p:nvPr/>
        </p:nvSpPr>
        <p:spPr>
          <a:xfrm>
            <a:off x="10552770" y="0"/>
            <a:ext cx="1639230" cy="1204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o</a:t>
            </a:r>
            <a:r>
              <a:rPr lang="en-CH" dirty="0">
                <a:solidFill>
                  <a:srgbClr val="FF0000"/>
                </a:solidFill>
              </a:rPr>
              <a:t>e?</a:t>
            </a:r>
          </a:p>
        </p:txBody>
      </p:sp>
    </p:spTree>
    <p:extLst>
      <p:ext uri="{BB962C8B-B14F-4D97-AF65-F5344CB8AC3E}">
        <p14:creationId xmlns:p14="http://schemas.microsoft.com/office/powerpoint/2010/main" val="39887177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2EBAF-151A-8C34-BFD7-99CC09BE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95081-7131-DDED-A5AB-1230A2268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Referenced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4822F-C480-EA9D-B63A-5C5ADC284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b="1" dirty="0" err="1"/>
              <a:t>Annahme</a:t>
            </a:r>
            <a:r>
              <a:rPr lang="en-GB" b="1" dirty="0"/>
              <a:t>: </a:t>
            </a:r>
            <a:r>
              <a:rPr lang="en-GB" dirty="0"/>
              <a:t>“reference” </a:t>
            </a:r>
            <a:r>
              <a:rPr lang="en-GB" dirty="0" err="1"/>
              <a:t>steht</a:t>
            </a:r>
            <a:r>
              <a:rPr lang="en-GB" dirty="0"/>
              <a:t> für </a:t>
            </a:r>
            <a:r>
              <a:rPr lang="en-GB" dirty="0" err="1"/>
              <a:t>Anhänge</a:t>
            </a:r>
            <a:r>
              <a:rPr lang="en-GB" dirty="0"/>
              <a:t>. Die </a:t>
            </a:r>
            <a:r>
              <a:rPr lang="en-GB" dirty="0" err="1"/>
              <a:t>Endung</a:t>
            </a:r>
            <a:r>
              <a:rPr lang="en-GB" dirty="0"/>
              <a:t> “e” </a:t>
            </a:r>
            <a:r>
              <a:rPr lang="en-GB" dirty="0" err="1"/>
              <a:t>deutet</a:t>
            </a:r>
            <a:r>
              <a:rPr lang="en-GB" dirty="0"/>
              <a:t> auf </a:t>
            </a:r>
            <a:r>
              <a:rPr lang="en-GB" dirty="0" err="1"/>
              <a:t>ein</a:t>
            </a:r>
            <a:r>
              <a:rPr lang="en-GB" dirty="0"/>
              <a:t> </a:t>
            </a:r>
            <a:r>
              <a:rPr lang="en-GB" dirty="0" err="1"/>
              <a:t>Anhangsdokument</a:t>
            </a:r>
            <a:r>
              <a:rPr lang="en-GB" dirty="0"/>
              <a:t> </a:t>
            </a:r>
            <a:r>
              <a:rPr lang="en-GB" dirty="0" err="1"/>
              <a:t>hin</a:t>
            </a:r>
            <a:r>
              <a:rPr lang="en-GB" dirty="0"/>
              <a:t>. </a:t>
            </a:r>
          </a:p>
          <a:p>
            <a:pPr>
              <a:lnSpc>
                <a:spcPct val="120000"/>
              </a:lnSpc>
            </a:pPr>
            <a:r>
              <a:rPr lang="en-GB" b="1" dirty="0" err="1"/>
              <a:t>Vergleich</a:t>
            </a:r>
            <a:r>
              <a:rPr lang="en-GB" dirty="0"/>
              <a:t>: Metadata – Document Structure </a:t>
            </a:r>
            <a:r>
              <a:rPr lang="en-GB" dirty="0" err="1"/>
              <a:t>z.B.</a:t>
            </a:r>
            <a:r>
              <a:rPr lang="en-GB" dirty="0"/>
              <a:t> annex </a:t>
            </a:r>
            <a:r>
              <a:rPr lang="en-GB" dirty="0" err="1"/>
              <a:t>oder</a:t>
            </a:r>
            <a:r>
              <a:rPr lang="en-GB" dirty="0"/>
              <a:t> app. </a:t>
            </a:r>
            <a:r>
              <a:rPr lang="en-GB" dirty="0" err="1"/>
              <a:t>Nächste</a:t>
            </a:r>
            <a:r>
              <a:rPr lang="en-GB" dirty="0"/>
              <a:t> Slide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FDAD0C-0711-EFEC-56FC-5609B3CF59A7}"/>
              </a:ext>
            </a:extLst>
          </p:cNvPr>
          <p:cNvSpPr/>
          <p:nvPr/>
        </p:nvSpPr>
        <p:spPr>
          <a:xfrm>
            <a:off x="10552770" y="0"/>
            <a:ext cx="1639230" cy="1204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rgbClr val="FF0000"/>
                </a:solidFill>
              </a:rPr>
              <a:t>TBD</a:t>
            </a:r>
            <a:endParaRPr lang="en-C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0822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E9159-0307-DFA7-6AD8-F107EAAE1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0DFCF-6700-D25A-017F-B4D0B5A4C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Metadata – </a:t>
            </a:r>
            <a:r>
              <a:rPr lang="de-CH" dirty="0" err="1"/>
              <a:t>Document</a:t>
            </a:r>
            <a:r>
              <a:rPr lang="de-CH" dirty="0"/>
              <a:t> </a:t>
            </a:r>
            <a:r>
              <a:rPr lang="de-CH" dirty="0" err="1"/>
              <a:t>structure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EF828-6E21-02FA-9A3D-0AD43F2C0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Metadata only!</a:t>
            </a:r>
          </a:p>
          <a:p>
            <a:r>
              <a:rPr lang="en-GB" dirty="0"/>
              <a:t>{part}: </a:t>
            </a:r>
          </a:p>
          <a:p>
            <a:pPr lvl="1"/>
            <a:r>
              <a:rPr lang="en-GB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oc/2017/663/</a:t>
            </a:r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annex</a:t>
            </a:r>
            <a:r>
              <a:rPr lang="en-GB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/2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// “annex 2”</a:t>
            </a:r>
          </a:p>
          <a:p>
            <a:pPr lvl="1"/>
            <a:r>
              <a:rPr lang="en-GB" dirty="0" err="1">
                <a:highlight>
                  <a:srgbClr val="FFFF00"/>
                </a:highlight>
              </a:rPr>
              <a:t>oc</a:t>
            </a:r>
            <a:r>
              <a:rPr lang="en-GB" dirty="0">
                <a:highlight>
                  <a:srgbClr val="FFFF00"/>
                </a:highlight>
              </a:rPr>
              <a:t>/20xx/x/app/1</a:t>
            </a:r>
          </a:p>
          <a:p>
            <a:r>
              <a:rPr lang="en-GB" dirty="0"/>
              <a:t>{subdivision}_{id}</a:t>
            </a:r>
          </a:p>
          <a:p>
            <a:pPr lvl="1"/>
            <a:r>
              <a:rPr lang="en-GB" dirty="0">
                <a:hlinkClick r:id="rId5"/>
              </a:rPr>
              <a:t>oc/2021/137/</a:t>
            </a:r>
            <a:r>
              <a:rPr lang="en-GB" dirty="0">
                <a:highlight>
                  <a:srgbClr val="FFFF00"/>
                </a:highlight>
                <a:hlinkClick r:id="rId5"/>
              </a:rPr>
              <a:t>art_1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</a:rPr>
              <a:t>// “Art. 1”</a:t>
            </a:r>
            <a:endParaRPr lang="en-GB" dirty="0">
              <a:highlight>
                <a:srgbClr val="FFFF00"/>
              </a:highlight>
            </a:endParaRPr>
          </a:p>
          <a:p>
            <a:pPr lvl="1"/>
            <a:r>
              <a:rPr lang="en-GB" dirty="0"/>
              <a:t>Multiple subdivisions are separated by a ”/”</a:t>
            </a:r>
          </a:p>
          <a:p>
            <a:pPr lvl="1"/>
            <a:r>
              <a:rPr lang="en-GB" dirty="0"/>
              <a:t>AKN vocabulary</a:t>
            </a:r>
            <a:r>
              <a:rPr lang="en-GB" baseline="30000" dirty="0"/>
              <a:t>9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1C8074-D847-4C9E-54B8-C323A7897EBC}"/>
              </a:ext>
            </a:extLst>
          </p:cNvPr>
          <p:cNvSpPr txBox="1"/>
          <p:nvPr/>
        </p:nvSpPr>
        <p:spPr>
          <a:xfrm>
            <a:off x="838200" y="6176963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aseline="30000" dirty="0"/>
              <a:t>9</a:t>
            </a:r>
            <a:r>
              <a:rPr lang="en-GB" dirty="0"/>
              <a:t> https://</a:t>
            </a:r>
            <a:r>
              <a:rPr lang="en-GB" dirty="0" err="1"/>
              <a:t>fedlex.data.admin.ch</a:t>
            </a:r>
            <a:r>
              <a:rPr lang="en-GB" dirty="0"/>
              <a:t>/vocabulary/subdivision-type</a:t>
            </a:r>
            <a:endParaRPr lang="en-CH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860B1B-C2E8-751E-3538-31C52D7F2967}"/>
              </a:ext>
            </a:extLst>
          </p:cNvPr>
          <p:cNvSpPr/>
          <p:nvPr/>
        </p:nvSpPr>
        <p:spPr>
          <a:xfrm>
            <a:off x="10552770" y="0"/>
            <a:ext cx="1639230" cy="1204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rgbClr val="FF0000"/>
                </a:solidFill>
              </a:rPr>
              <a:t>TBD</a:t>
            </a:r>
            <a:endParaRPr lang="en-C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0868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37AE9-485C-F80E-9340-4BCECFE37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F599D-62D9-5F32-DB82-833248BBC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Weitere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62572F-4ECF-8898-FDDD-D488B3B6B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595034"/>
              </p:ext>
            </p:extLst>
          </p:nvPr>
        </p:nvGraphicFramePr>
        <p:xfrm>
          <a:off x="838198" y="1690688"/>
          <a:ext cx="10515600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67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38826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6923104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Kommentar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Vernehmlassungen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wird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bisher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nicht </a:t>
                      </a: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als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{collection} </a:t>
                      </a: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verwendet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filestore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Namespace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Fedlex</a:t>
                      </a:r>
                      <a:endParaRPr lang="en-GB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Project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:  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2"/>
                        </a:rPr>
                        <a:t>/consultation-procedures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// e.g. 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KomPG</a:t>
                      </a:r>
                      <a:endParaRPr lang="en-GB" sz="1800" b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File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/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eli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/dl/{year}/{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number_sequence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z.B.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eli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/dl/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/2025/62</a:t>
                      </a:r>
                      <a:endParaRPr lang="en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096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ogc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Handels- und Amtsblatt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Anderer Namespace</a:t>
                      </a:r>
                    </a:p>
                    <a:p>
                      <a:r>
                        <a:rPr lang="en-CH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Namespace</a:t>
                      </a:r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shab.ch</a:t>
                      </a:r>
                      <a:b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CH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File</a:t>
                      </a:r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publications/detail/{base64-encoding}</a:t>
                      </a:r>
                      <a:b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z.B.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5e5e2844-bbe5-4714-890c-81e1dc4cf1c6</a:t>
                      </a:r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444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Amtliches Bulletin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Anderer Namespace</a:t>
                      </a:r>
                    </a:p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Namespace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GB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parlament.ch</a:t>
                      </a:r>
                      <a:b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File + Query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/</a:t>
                      </a:r>
                      <a:r>
                        <a:rPr lang="en-GB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geschaeft?AffairId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={year}{</a:t>
                      </a:r>
                      <a:r>
                        <a:rPr lang="en-GB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number_sequence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b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z.B.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20258120</a:t>
                      </a:r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501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19815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A593C-AE1B-01BC-AB3B-E16F280B9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22C8B-84D8-3BEE-68E1-FB93EE6AC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Weitere, nicht (mehr) relevant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C222BD-2C66-CA29-A5AC-6CC0BFB756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990405"/>
              </p:ext>
            </p:extLst>
          </p:nvPr>
        </p:nvGraphicFramePr>
        <p:xfrm>
          <a:off x="838198" y="1690688"/>
          <a:ext cx="10515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67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38826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6923104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Kommentar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oldcc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Bereinigte 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nicht in </a:t>
                      </a: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Gebrauch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{coll.}: cc </a:t>
                      </a: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verweist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auf BS in BAR (</a:t>
                      </a: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oldcc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03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Militäramtsblatt</a:t>
                      </a:r>
                      <a:endParaRPr lang="en-GB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Publikation</a:t>
                      </a:r>
                      <a:r>
                        <a:rPr lang="en-GB" sz="18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gemäss</a:t>
                      </a:r>
                      <a:r>
                        <a:rPr lang="en-GB" sz="18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Medieninformation</a:t>
                      </a:r>
                      <a:r>
                        <a:rPr lang="en-GB" sz="18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vom</a:t>
                      </a:r>
                      <a:r>
                        <a:rPr lang="en-GB" sz="18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14. Mai 2003 </a:t>
                      </a:r>
                      <a:r>
                        <a:rPr lang="en-GB" sz="18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eingestellt</a:t>
                      </a:r>
                      <a:endParaRPr lang="en-CH" sz="18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152893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cmog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Sammelband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des </a:t>
                      </a: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Militäramtsblattes</a:t>
                      </a:r>
                      <a:endParaRPr lang="en-GB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eingestellt</a:t>
                      </a:r>
                      <a:r>
                        <a:rPr lang="en-GB" sz="18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, s. </a:t>
                      </a:r>
                      <a:r>
                        <a:rPr lang="en-GB" sz="18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oben</a:t>
                      </a:r>
                      <a:endParaRPr lang="en-CH" sz="18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832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7716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008AC-8035-D327-6D8B-1219228E0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4B7A9-3BB7-0663-9AE3-8CE99C8A7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Bundesarchiv (BAR)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EE1BB4-7C4A-67F5-149C-92151A4D0506}"/>
              </a:ext>
            </a:extLst>
          </p:cNvPr>
          <p:cNvSpPr txBox="1"/>
          <p:nvPr/>
        </p:nvSpPr>
        <p:spPr>
          <a:xfrm>
            <a:off x="838198" y="1380722"/>
            <a:ext cx="1051559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 err="1"/>
              <a:t>Bundesversammlung</a:t>
            </a:r>
            <a:r>
              <a:rPr lang="en-GB" b="1" dirty="0"/>
              <a:t> 					</a:t>
            </a:r>
            <a:r>
              <a:rPr lang="en-GB" b="1" dirty="0" err="1"/>
              <a:t>Zeitraum</a:t>
            </a:r>
            <a:r>
              <a:rPr lang="en-GB" b="1" dirty="0"/>
              <a:t>	</a:t>
            </a:r>
            <a:r>
              <a:rPr lang="en-GB" b="1" dirty="0" err="1"/>
              <a:t>Abk</a:t>
            </a:r>
            <a:r>
              <a:rPr lang="en-GB" b="1" dirty="0"/>
              <a:t>. / {collection}</a:t>
            </a:r>
          </a:p>
          <a:p>
            <a:r>
              <a:rPr lang="en-GB" dirty="0"/>
              <a:t>    </a:t>
            </a:r>
            <a:r>
              <a:rPr lang="en-GB" dirty="0" err="1"/>
              <a:t>Amtliches</a:t>
            </a:r>
            <a:r>
              <a:rPr lang="en-GB" dirty="0"/>
              <a:t> Bulletin der </a:t>
            </a:r>
            <a:r>
              <a:rPr lang="en-GB" dirty="0" err="1"/>
              <a:t>Bundesversammlung</a:t>
            </a:r>
            <a:r>
              <a:rPr lang="en-GB" dirty="0"/>
              <a:t> 			1891-1999	Curia Vista / </a:t>
            </a:r>
            <a:r>
              <a:rPr lang="en-GB" dirty="0" err="1"/>
              <a:t>ob</a:t>
            </a:r>
            <a:endParaRPr lang="en-GB" dirty="0"/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Protokolle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der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Bundesversammlung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			1921-1970			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Repertorium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der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Verhandlungen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				1848-1891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Übersicht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über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die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Verhandlungen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				1891-1995</a:t>
            </a:r>
          </a:p>
          <a:p>
            <a:r>
              <a:rPr lang="en-GB" b="1" dirty="0" err="1"/>
              <a:t>Bundesrecht</a:t>
            </a:r>
            <a:endParaRPr lang="en-GB" b="1" dirty="0"/>
          </a:p>
          <a:p>
            <a:r>
              <a:rPr lang="en-GB" dirty="0"/>
              <a:t>    </a:t>
            </a:r>
            <a:r>
              <a:rPr lang="en-GB" dirty="0" err="1"/>
              <a:t>Bundesblatt</a:t>
            </a:r>
            <a:r>
              <a:rPr lang="en-GB" dirty="0"/>
              <a:t> 						1849-2008	</a:t>
            </a:r>
            <a:r>
              <a:rPr lang="en-GB" dirty="0" err="1"/>
              <a:t>BBl</a:t>
            </a:r>
            <a:r>
              <a:rPr lang="en-GB" dirty="0"/>
              <a:t> / </a:t>
            </a:r>
            <a:r>
              <a:rPr lang="en-GB" dirty="0" err="1"/>
              <a:t>fga</a:t>
            </a:r>
            <a:endParaRPr lang="en-GB" dirty="0"/>
          </a:p>
          <a:p>
            <a:r>
              <a:rPr lang="en-GB" dirty="0"/>
              <a:t>    </a:t>
            </a:r>
            <a:r>
              <a:rPr lang="en-GB" dirty="0" err="1"/>
              <a:t>Bereinigte</a:t>
            </a:r>
            <a:r>
              <a:rPr lang="en-GB" dirty="0"/>
              <a:t> </a:t>
            </a:r>
            <a:r>
              <a:rPr lang="en-GB" dirty="0" err="1"/>
              <a:t>Sammlung</a:t>
            </a:r>
            <a:r>
              <a:rPr lang="en-GB" dirty="0"/>
              <a:t> 					1848-1947	BS / </a:t>
            </a:r>
            <a:r>
              <a:rPr lang="en-GB" dirty="0" err="1">
                <a:solidFill>
                  <a:srgbClr val="FF0000"/>
                </a:solidFill>
              </a:rPr>
              <a:t>oldcc</a:t>
            </a:r>
            <a:endParaRPr lang="en-GB" dirty="0">
              <a:solidFill>
                <a:srgbClr val="FF0000"/>
              </a:solidFill>
            </a:endParaRPr>
          </a:p>
          <a:p>
            <a:r>
              <a:rPr lang="en-GB" dirty="0"/>
              <a:t>    </a:t>
            </a:r>
            <a:r>
              <a:rPr lang="en-GB" dirty="0" err="1"/>
              <a:t>Amtliche</a:t>
            </a:r>
            <a:r>
              <a:rPr lang="en-GB" dirty="0"/>
              <a:t> </a:t>
            </a:r>
            <a:r>
              <a:rPr lang="en-GB" dirty="0" err="1"/>
              <a:t>Sammlung</a:t>
            </a:r>
            <a:r>
              <a:rPr lang="en-GB" dirty="0"/>
              <a:t> 					1948-1998 	AS / </a:t>
            </a:r>
            <a:r>
              <a:rPr lang="en-GB" dirty="0" err="1"/>
              <a:t>oc</a:t>
            </a:r>
            <a:endParaRPr lang="en-GB" dirty="0"/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Verwaltungspraxis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der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Bundesbehörden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			1987-2017	</a:t>
            </a:r>
            <a:r>
              <a:rPr lang="en-GB" dirty="0">
                <a:solidFill>
                  <a:srgbClr val="FF0000"/>
                </a:solidFill>
              </a:rPr>
              <a:t>VPB / </a:t>
            </a:r>
            <a:r>
              <a:rPr lang="en-GB" dirty="0" err="1">
                <a:solidFill>
                  <a:srgbClr val="FF0000"/>
                </a:solidFill>
              </a:rPr>
              <a:t>vpb</a:t>
            </a:r>
            <a:endParaRPr lang="en-GB" dirty="0">
              <a:solidFill>
                <a:srgbClr val="FF0000"/>
              </a:solidFill>
            </a:endParaRPr>
          </a:p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Bundesrat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Protokolle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des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Bundesrates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				1848-1974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Geschäftsberichte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des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Bundesrates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	 		1848-1995</a:t>
            </a:r>
          </a:p>
          <a:p>
            <a:r>
              <a:rPr lang="en-GB" b="1" dirty="0" err="1">
                <a:solidFill>
                  <a:schemeClr val="bg1">
                    <a:lumMod val="50000"/>
                  </a:schemeClr>
                </a:solidFill>
              </a:rPr>
              <a:t>Weitere</a:t>
            </a:r>
            <a:endParaRPr lang="en-GB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Staatsrechnung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und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Voranschlag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				1848-2006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Eidgenössischer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Staatskalender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				1849-2021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Diplomatische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Dokumente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der Schweiz 			1848-1946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Studien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und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Quellen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					1975-2005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Aktensammlung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aus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der Zeit der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Helvetischen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Republik 	1798-1803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30617D-A12C-1692-A6D9-53DC6A826E8D}"/>
              </a:ext>
            </a:extLst>
          </p:cNvPr>
          <p:cNvSpPr/>
          <p:nvPr/>
        </p:nvSpPr>
        <p:spPr>
          <a:xfrm>
            <a:off x="10552770" y="0"/>
            <a:ext cx="1639230" cy="1204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o</a:t>
            </a:r>
            <a:r>
              <a:rPr lang="en-CH" dirty="0">
                <a:solidFill>
                  <a:srgbClr val="FF0000"/>
                </a:solidFill>
              </a:rPr>
              <a:t>ldcc +</a:t>
            </a:r>
          </a:p>
          <a:p>
            <a:pPr algn="ctr"/>
            <a:r>
              <a:rPr lang="en-CH" dirty="0">
                <a:solidFill>
                  <a:srgbClr val="FF0000"/>
                </a:solidFill>
              </a:rPr>
              <a:t>VPB</a:t>
            </a:r>
          </a:p>
        </p:txBody>
      </p:sp>
    </p:spTree>
    <p:extLst>
      <p:ext uri="{BB962C8B-B14F-4D97-AF65-F5344CB8AC3E}">
        <p14:creationId xmlns:p14="http://schemas.microsoft.com/office/powerpoint/2010/main" val="20720226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C6F38-619C-0219-3871-AC7246DB6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DF8E5-E0CF-5384-ACBB-A5504D87A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cons = </a:t>
            </a:r>
            <a:r>
              <a:rPr lang="de-CH" dirty="0"/>
              <a:t>dl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D1697-EA28-EFE7-8EC5-EF3682791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47556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/>
              <a:t>Does not exist yet!</a:t>
            </a:r>
          </a:p>
          <a:p>
            <a:pPr marL="0" indent="0">
              <a:buNone/>
            </a:pPr>
            <a:r>
              <a:rPr lang="en-GB" dirty="0"/>
              <a:t>URI rules</a:t>
            </a:r>
          </a:p>
          <a:p>
            <a:r>
              <a:rPr lang="en-GB" dirty="0"/>
              <a:t>Legislative </a:t>
            </a:r>
            <a:r>
              <a:rPr lang="en-GB" b="1" dirty="0"/>
              <a:t>projects</a:t>
            </a:r>
            <a:r>
              <a:rPr lang="en-GB" dirty="0"/>
              <a:t> group publications and tasks (process stage of publishing a law):</a:t>
            </a:r>
          </a:p>
          <a:p>
            <a:pPr lvl="1"/>
            <a:r>
              <a:rPr lang="en-GB" dirty="0"/>
              <a:t>/</a:t>
            </a:r>
            <a:r>
              <a:rPr lang="en-GB" dirty="0">
                <a:highlight>
                  <a:srgbClr val="FFFF00"/>
                </a:highlight>
              </a:rPr>
              <a:t>dl/proj/</a:t>
            </a:r>
            <a:r>
              <a:rPr lang="en-GB" dirty="0"/>
              <a:t>{year}/{legislative_process_identifier}</a:t>
            </a:r>
          </a:p>
          <a:p>
            <a:r>
              <a:rPr lang="en-GB" dirty="0"/>
              <a:t>The stage of the legislative process in creating a new law is described as </a:t>
            </a:r>
            <a:r>
              <a:rPr lang="en-GB" b="1" dirty="0"/>
              <a:t>task</a:t>
            </a:r>
            <a:r>
              <a:rPr lang="en-GB" dirty="0"/>
              <a:t> (abbreviation, 4 letters) followed by a number (e.g. cons_1 = consultation, stage 1):</a:t>
            </a:r>
          </a:p>
          <a:p>
            <a:pPr lvl="1"/>
            <a:r>
              <a:rPr lang="en-GB" dirty="0"/>
              <a:t>/dl/proj/{year}/{legislative_process_identifier}</a:t>
            </a:r>
            <a:r>
              <a:rPr lang="en-GB" dirty="0">
                <a:highlight>
                  <a:srgbClr val="FFFF00"/>
                </a:highlight>
              </a:rPr>
              <a:t>/{</a:t>
            </a:r>
            <a:r>
              <a:rPr lang="en-GB" dirty="0" err="1">
                <a:highlight>
                  <a:srgbClr val="FFFF00"/>
                </a:highlight>
              </a:rPr>
              <a:t>task_type</a:t>
            </a:r>
            <a:r>
              <a:rPr lang="en-GB" dirty="0">
                <a:highlight>
                  <a:srgbClr val="FFFF00"/>
                </a:highlight>
              </a:rPr>
              <a:t>}_{</a:t>
            </a:r>
            <a:r>
              <a:rPr lang="en-GB" dirty="0" err="1">
                <a:highlight>
                  <a:srgbClr val="FFFF00"/>
                </a:highlight>
              </a:rPr>
              <a:t>task_sequence</a:t>
            </a:r>
            <a:r>
              <a:rPr lang="en-GB" dirty="0">
                <a:highlight>
                  <a:srgbClr val="FFFF00"/>
                </a:highlight>
              </a:rPr>
              <a:t>}/</a:t>
            </a:r>
          </a:p>
          <a:p>
            <a:r>
              <a:rPr lang="en-GB" dirty="0"/>
              <a:t>(optional)  A task can have a </a:t>
            </a:r>
            <a:r>
              <a:rPr lang="en-GB" b="1" dirty="0"/>
              <a:t>sub-task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/dl/proj/{year}/{legislative_process_identifier</a:t>
            </a:r>
            <a:r>
              <a:rPr lang="en-GB" dirty="0">
                <a:hlinkClick r:id="rId3"/>
              </a:rPr>
              <a:t>}</a:t>
            </a:r>
            <a:r>
              <a:rPr lang="en-GB" dirty="0"/>
              <a:t>/{</a:t>
            </a:r>
            <a:r>
              <a:rPr lang="en-GB" dirty="0" err="1"/>
              <a:t>task_type</a:t>
            </a:r>
            <a:r>
              <a:rPr lang="en-GB" dirty="0"/>
              <a:t>}_{</a:t>
            </a:r>
            <a:r>
              <a:rPr lang="en-GB" dirty="0" err="1"/>
              <a:t>task_sequence</a:t>
            </a:r>
            <a:r>
              <a:rPr lang="en-GB" dirty="0"/>
              <a:t>}/</a:t>
            </a:r>
            <a:r>
              <a:rPr lang="en-GB" dirty="0">
                <a:highlight>
                  <a:srgbClr val="FFFF00"/>
                </a:highlight>
              </a:rPr>
              <a:t>{</a:t>
            </a:r>
            <a:r>
              <a:rPr lang="en-GB" dirty="0" err="1">
                <a:highlight>
                  <a:srgbClr val="FFFF00"/>
                </a:highlight>
              </a:rPr>
              <a:t>sub_task</a:t>
            </a:r>
            <a:r>
              <a:rPr lang="en-GB" dirty="0">
                <a:highlight>
                  <a:srgbClr val="FFFF00"/>
                </a:highlight>
              </a:rPr>
              <a:t>}</a:t>
            </a:r>
          </a:p>
          <a:p>
            <a:r>
              <a:rPr lang="en-GB" dirty="0"/>
              <a:t>(optional)  Multiple consecutive task values are possible (“cons_1”, “parl_2”, etc...) to indicate </a:t>
            </a:r>
            <a:r>
              <a:rPr lang="en-GB" dirty="0" err="1"/>
              <a:t>thestage</a:t>
            </a:r>
            <a:r>
              <a:rPr lang="en-GB" dirty="0"/>
              <a:t> of the legislative process:</a:t>
            </a:r>
          </a:p>
          <a:p>
            <a:pPr lvl="1"/>
            <a:r>
              <a:rPr lang="en-GB" dirty="0"/>
              <a:t>/dl/</a:t>
            </a:r>
            <a:r>
              <a:rPr lang="en-GB" dirty="0" err="1"/>
              <a:t>proj</a:t>
            </a:r>
            <a:r>
              <a:rPr lang="en-GB" dirty="0"/>
              <a:t>/{year}/{</a:t>
            </a:r>
            <a:r>
              <a:rPr lang="en-GB" dirty="0" err="1"/>
              <a:t>legislative_process_identifier</a:t>
            </a:r>
            <a:r>
              <a:rPr lang="en-GB" dirty="0"/>
              <a:t>}/{</a:t>
            </a:r>
            <a:r>
              <a:rPr lang="en-GB" dirty="0" err="1"/>
              <a:t>task_type</a:t>
            </a:r>
            <a:r>
              <a:rPr lang="en-GB" dirty="0"/>
              <a:t>}_{</a:t>
            </a:r>
            <a:r>
              <a:rPr lang="en-GB" dirty="0" err="1"/>
              <a:t>task_sequence</a:t>
            </a:r>
            <a:r>
              <a:rPr lang="en-GB" dirty="0"/>
              <a:t>}/</a:t>
            </a:r>
            <a:r>
              <a:rPr lang="en-GB" dirty="0">
                <a:highlight>
                  <a:srgbClr val="FFFF00"/>
                </a:highlight>
              </a:rPr>
              <a:t>{</a:t>
            </a:r>
            <a:r>
              <a:rPr lang="en-GB" dirty="0" err="1">
                <a:highlight>
                  <a:srgbClr val="FFFF00"/>
                </a:highlight>
              </a:rPr>
              <a:t>task_type</a:t>
            </a:r>
            <a:r>
              <a:rPr lang="en-GB" dirty="0">
                <a:highlight>
                  <a:srgbClr val="FFFF00"/>
                </a:highlight>
              </a:rPr>
              <a:t>}_{</a:t>
            </a:r>
            <a:r>
              <a:rPr lang="en-GB" dirty="0" err="1">
                <a:highlight>
                  <a:srgbClr val="FFFF00"/>
                </a:highlight>
              </a:rPr>
              <a:t>task_sequence</a:t>
            </a:r>
            <a:r>
              <a:rPr lang="en-GB" dirty="0">
                <a:highlight>
                  <a:srgbClr val="FFFF00"/>
                </a:highlight>
              </a:rPr>
              <a:t>}/</a:t>
            </a:r>
          </a:p>
          <a:p>
            <a:r>
              <a:rPr lang="en-GB" dirty="0"/>
              <a:t>Related </a:t>
            </a:r>
            <a:r>
              <a:rPr lang="en-GB" b="1" dirty="0"/>
              <a:t>publications</a:t>
            </a:r>
            <a:r>
              <a:rPr lang="en-GB" dirty="0"/>
              <a:t> (e.g. </a:t>
            </a:r>
            <a:r>
              <a:rPr lang="en-GB" dirty="0" err="1"/>
              <a:t>InitialDraft</a:t>
            </a:r>
            <a:r>
              <a:rPr lang="en-GB" dirty="0"/>
              <a:t>) are attached to a single legislative project with a corresponding sequence number:</a:t>
            </a:r>
          </a:p>
          <a:p>
            <a:pPr lvl="1"/>
            <a:r>
              <a:rPr lang="en-GB" dirty="0"/>
              <a:t>/dl/proj/{year}/{legislative_process_identifier}/{</a:t>
            </a:r>
            <a:r>
              <a:rPr lang="en-GB" dirty="0" err="1"/>
              <a:t>task_type</a:t>
            </a:r>
            <a:r>
              <a:rPr lang="en-GB" dirty="0"/>
              <a:t>}_{</a:t>
            </a:r>
            <a:r>
              <a:rPr lang="en-GB" dirty="0" err="1"/>
              <a:t>task_sequence</a:t>
            </a:r>
            <a:r>
              <a:rPr lang="en-GB" dirty="0"/>
              <a:t>}/</a:t>
            </a:r>
            <a:r>
              <a:rPr lang="en-GB" dirty="0">
                <a:highlight>
                  <a:srgbClr val="FFFF00"/>
                </a:highlight>
              </a:rPr>
              <a:t>{publication}_{</a:t>
            </a:r>
            <a:r>
              <a:rPr lang="en-GB" dirty="0" err="1">
                <a:highlight>
                  <a:srgbClr val="FFFF00"/>
                </a:highlight>
              </a:rPr>
              <a:t>publication_sequence</a:t>
            </a:r>
            <a:r>
              <a:rPr lang="en-GB" dirty="0">
                <a:highlight>
                  <a:srgbClr val="FFFF00"/>
                </a:highlight>
              </a:rPr>
              <a:t>}</a:t>
            </a:r>
          </a:p>
          <a:p>
            <a:r>
              <a:rPr lang="en-GB" dirty="0"/>
              <a:t>On the other hand, {</a:t>
            </a:r>
            <a:r>
              <a:rPr lang="en-GB" dirty="0" err="1"/>
              <a:t>task_sequence</a:t>
            </a:r>
            <a:r>
              <a:rPr lang="en-GB" dirty="0"/>
              <a:t>} can be omitted if there is only one task (cons, </a:t>
            </a:r>
            <a:r>
              <a:rPr lang="en-GB" dirty="0" err="1"/>
              <a:t>parl</a:t>
            </a:r>
            <a:r>
              <a:rPr lang="en-GB" dirty="0"/>
              <a:t>, etc.):</a:t>
            </a:r>
          </a:p>
          <a:p>
            <a:pPr lvl="1"/>
            <a:r>
              <a:rPr lang="en-GB" dirty="0"/>
              <a:t>/dl/proj/{year}/{legislative_process_identifier}/{task type}/{publication}_{</a:t>
            </a:r>
            <a:r>
              <a:rPr lang="en-GB" dirty="0" err="1"/>
              <a:t>publication_sequence</a:t>
            </a: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32843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FB972-EE70-6B9C-51EF-5858A7C3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DE138-14F1-FB60-BB40-AFD720001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cons = </a:t>
            </a:r>
            <a:r>
              <a:rPr lang="de-CH" dirty="0"/>
              <a:t>dl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9D2FD-AA85-9D49-6227-4EADB6EF1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b="1" dirty="0"/>
              <a:t>Does not exist yet!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Example consultation task</a:t>
            </a:r>
          </a:p>
          <a:p>
            <a:r>
              <a:rPr lang="en-GB" dirty="0"/>
              <a:t>A </a:t>
            </a:r>
            <a:r>
              <a:rPr lang="en-GB" b="1" dirty="0"/>
              <a:t>legislative project</a:t>
            </a:r>
            <a:r>
              <a:rPr lang="en-GB" dirty="0"/>
              <a:t> starts with a consultation:</a:t>
            </a:r>
          </a:p>
          <a:p>
            <a:pPr lvl="1"/>
            <a:r>
              <a:rPr lang="en-GB" dirty="0">
                <a:hlinkClick r:id="rId4"/>
              </a:rPr>
              <a:t>dl/proj/2025/34/cons_1</a:t>
            </a:r>
            <a:endParaRPr lang="en-GB" dirty="0"/>
          </a:p>
          <a:p>
            <a:r>
              <a:rPr lang="en-GB" dirty="0"/>
              <a:t>the publication of </a:t>
            </a:r>
            <a:r>
              <a:rPr lang="en-GB" b="1" dirty="0"/>
              <a:t>position statements</a:t>
            </a:r>
            <a:r>
              <a:rPr lang="en-GB" dirty="0"/>
              <a:t> is </a:t>
            </a:r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a </a:t>
            </a:r>
            <a:r>
              <a:rPr lang="en-GB" b="1" dirty="0">
                <a:solidFill>
                  <a:srgbClr val="FF0000"/>
                </a:solidFill>
                <a:highlight>
                  <a:srgbClr val="FFFF00"/>
                </a:highlight>
              </a:rPr>
              <a:t>(sub-)task </a:t>
            </a:r>
            <a:r>
              <a:rPr lang="en-GB" dirty="0"/>
              <a:t>of a consultation:</a:t>
            </a:r>
          </a:p>
          <a:p>
            <a:pPr lvl="1"/>
            <a:r>
              <a:rPr lang="en-GB" dirty="0">
                <a:hlinkClick r:id="rId5"/>
              </a:rPr>
              <a:t>dl/proj/2025/34/cons_1/cons-open</a:t>
            </a:r>
            <a:endParaRPr lang="en-GB" dirty="0"/>
          </a:p>
          <a:p>
            <a:r>
              <a:rPr lang="en-GB" dirty="0"/>
              <a:t>In order to receive position statements the authority needs to </a:t>
            </a:r>
            <a:r>
              <a:rPr lang="en-GB" b="1" dirty="0"/>
              <a:t>publish</a:t>
            </a:r>
            <a:r>
              <a:rPr lang="en-GB" dirty="0"/>
              <a:t> the draft bill (</a:t>
            </a:r>
            <a:r>
              <a:rPr lang="en-GB" dirty="0" err="1"/>
              <a:t>DraftDocument</a:t>
            </a:r>
            <a:r>
              <a:rPr lang="en-GB" dirty="0"/>
              <a:t>) or its abstract (</a:t>
            </a:r>
            <a:r>
              <a:rPr lang="en-GB" dirty="0" err="1"/>
              <a:t>DraftDocumentAbstract</a:t>
            </a:r>
            <a:r>
              <a:rPr lang="en-GB" dirty="0"/>
              <a:t>) first:</a:t>
            </a:r>
          </a:p>
          <a:p>
            <a:pPr lvl="1"/>
            <a:r>
              <a:rPr lang="en-GB" dirty="0">
                <a:hlinkClick r:id="rId6"/>
              </a:rPr>
              <a:t>dl/proj/2025/34/cons_1/doc_1</a:t>
            </a:r>
            <a:endParaRPr lang="en-GB" dirty="0"/>
          </a:p>
          <a:p>
            <a:r>
              <a:rPr lang="en-GB" dirty="0"/>
              <a:t>URI for a </a:t>
            </a:r>
            <a:r>
              <a:rPr lang="en-GB" b="1" dirty="0"/>
              <a:t>publication</a:t>
            </a:r>
            <a:r>
              <a:rPr lang="en-GB" dirty="0"/>
              <a:t> related to the text of a legislative task (</a:t>
            </a:r>
            <a:r>
              <a:rPr lang="en-GB" dirty="0" err="1"/>
              <a:t>DraftRelatedDocument</a:t>
            </a:r>
            <a:r>
              <a:rPr lang="en-GB" dirty="0"/>
              <a:t>) or its abstract (</a:t>
            </a:r>
            <a:r>
              <a:rPr lang="en-GB" dirty="0" err="1"/>
              <a:t>DraftRelatedDocumentAbstract</a:t>
            </a:r>
            <a:r>
              <a:rPr lang="en-GB" dirty="0"/>
              <a:t>)</a:t>
            </a:r>
          </a:p>
          <a:p>
            <a:pPr lvl="1"/>
            <a:r>
              <a:rPr lang="en-GB" dirty="0">
                <a:hlinkClick r:id="rId7"/>
              </a:rPr>
              <a:t>dl/proj/2025/34/cons_1/doc_2</a:t>
            </a:r>
            <a:r>
              <a:rPr lang="en-GB" dirty="0"/>
              <a:t>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// e.g. cover letter, report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45E632-A8D9-30EF-2491-619F882B884F}"/>
              </a:ext>
            </a:extLst>
          </p:cNvPr>
          <p:cNvSpPr/>
          <p:nvPr/>
        </p:nvSpPr>
        <p:spPr>
          <a:xfrm>
            <a:off x="10552770" y="0"/>
            <a:ext cx="1639230" cy="1204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rgbClr val="FF0000"/>
                </a:solidFill>
              </a:rPr>
              <a:t>TBD</a:t>
            </a:r>
            <a:endParaRPr lang="en-C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08763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D7E10-7748-4DD0-E839-872428AEB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4A911-B6A2-43A3-E812-ADF395E7D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Bundesarchiv (BAR)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F3733B-3E0C-588B-2967-424727F5AECA}"/>
              </a:ext>
            </a:extLst>
          </p:cNvPr>
          <p:cNvSpPr txBox="1"/>
          <p:nvPr/>
        </p:nvSpPr>
        <p:spPr>
          <a:xfrm>
            <a:off x="838198" y="1380722"/>
            <a:ext cx="10515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&lt;1999 texts:</a:t>
            </a:r>
          </a:p>
          <a:p>
            <a:pPr marL="285750" indent="-285750">
              <a:buFontTx/>
              <a:buChar char="-"/>
            </a:pPr>
            <a:r>
              <a:rPr lang="en-GB" dirty="0"/>
              <a:t>For the Federal gazette there is one scanned text for each legislative resource. </a:t>
            </a:r>
          </a:p>
          <a:p>
            <a:pPr marL="285750" indent="-285750">
              <a:buFontTx/>
              <a:buChar char="-"/>
            </a:pPr>
            <a:r>
              <a:rPr lang="en-GB" dirty="0"/>
              <a:t>For the Official compilation there is one scanned text for each weekly publication of the official journal.</a:t>
            </a:r>
          </a:p>
          <a:p>
            <a:pPr marL="285750" indent="-285750">
              <a:buFontTx/>
              <a:buChar char="-"/>
            </a:pPr>
            <a:r>
              <a:rPr lang="en-GB" dirty="0"/>
              <a:t>For the Official compilation the scanned version of the text has been structured as an XML document.</a:t>
            </a:r>
          </a:p>
        </p:txBody>
      </p:sp>
    </p:spTree>
    <p:extLst>
      <p:ext uri="{BB962C8B-B14F-4D97-AF65-F5344CB8AC3E}">
        <p14:creationId xmlns:p14="http://schemas.microsoft.com/office/powerpoint/2010/main" val="16876844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C50DB-E1E5-2583-827F-BF4964FCA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E6FE1-16E9-5C09-91B9-72EB24A7D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Metadata – Edition, </a:t>
            </a:r>
            <a:r>
              <a:rPr lang="de-CH" dirty="0"/>
              <a:t>Binder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E059A-B125-5733-BB6F-227B48675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 err="1"/>
              <a:t>Metdata</a:t>
            </a:r>
            <a:r>
              <a:rPr lang="en-GB" b="1" dirty="0"/>
              <a:t> only!</a:t>
            </a:r>
          </a:p>
          <a:p>
            <a:r>
              <a:rPr lang="en-GB" dirty="0">
                <a:highlight>
                  <a:srgbClr val="FFFF00"/>
                </a:highlight>
              </a:rPr>
              <a:t>edition/</a:t>
            </a:r>
            <a:r>
              <a:rPr lang="en-GB" dirty="0"/>
              <a:t>{edition type}/{point in time}/</a:t>
            </a:r>
            <a:r>
              <a:rPr lang="en-GB" b="1" dirty="0"/>
              <a:t>{edition language}/{binder number}</a:t>
            </a:r>
          </a:p>
          <a:p>
            <a:r>
              <a:rPr lang="en-GB" dirty="0">
                <a:highlight>
                  <a:srgbClr val="FFFF00"/>
                </a:highlight>
              </a:rPr>
              <a:t>edition/</a:t>
            </a:r>
            <a:r>
              <a:rPr lang="en-GB" dirty="0"/>
              <a:t>{edition type}/{point in time}/{edition language}/{binder number}/</a:t>
            </a:r>
            <a:r>
              <a:rPr lang="en-GB" b="1" dirty="0"/>
              <a:t>{language}/{format}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0E08A9-EC14-47DF-9129-DF9255486BDD}"/>
              </a:ext>
            </a:extLst>
          </p:cNvPr>
          <p:cNvSpPr/>
          <p:nvPr/>
        </p:nvSpPr>
        <p:spPr>
          <a:xfrm>
            <a:off x="10552770" y="0"/>
            <a:ext cx="1639230" cy="1204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rgbClr val="FF0000"/>
                </a:solidFill>
              </a:rPr>
              <a:t>TBD</a:t>
            </a:r>
            <a:endParaRPr lang="en-C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303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1FA44-24DF-5EAC-D4CE-E6CD1DA01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CBD2CD-90C5-B200-C502-7C485C780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 err="1"/>
              <a:t>Abkürzungen</a:t>
            </a:r>
            <a:r>
              <a:rPr lang="en-GB" dirty="0"/>
              <a:t> der Titel der </a:t>
            </a:r>
            <a:r>
              <a:rPr lang="en-GB" dirty="0" err="1"/>
              <a:t>Bundeserlasse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ABR18v (707 </a:t>
            </a:r>
            <a:r>
              <a:rPr lang="en-GB" dirty="0" err="1"/>
              <a:t>Abküzungen</a:t>
            </a:r>
            <a:r>
              <a:rPr lang="en-GB" dirty="0"/>
              <a:t>)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// aufgehoben</a:t>
            </a:r>
          </a:p>
          <a:p>
            <a:pPr lvl="1"/>
            <a:r>
              <a:rPr lang="en-GB" dirty="0"/>
              <a:t>ABR24 (1130 </a:t>
            </a:r>
            <a:r>
              <a:rPr lang="en-GB" dirty="0" err="1"/>
              <a:t>Abkürzungen</a:t>
            </a:r>
            <a:r>
              <a:rPr lang="en-GB" dirty="0"/>
              <a:t>)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38C93-D19C-DC3D-3673-C98CD516E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Publikation – </a:t>
            </a:r>
            <a:r>
              <a:rPr lang="de-CH" dirty="0" err="1"/>
              <a:t>Termdat</a:t>
            </a:r>
            <a:r>
              <a:rPr lang="en-CH" baseline="30000" dirty="0">
                <a:highlight>
                  <a:srgbClr val="FFFF00"/>
                </a:highlight>
              </a:rPr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D71A5D-ECBC-C124-A414-7F25CE23F70F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aseline="30000" dirty="0"/>
              <a:t>4 </a:t>
            </a:r>
            <a:r>
              <a:rPr lang="en-GB" dirty="0"/>
              <a:t>https://</a:t>
            </a:r>
            <a:r>
              <a:rPr lang="en-GB" dirty="0" err="1"/>
              <a:t>www.fedlex.admin.ch</a:t>
            </a:r>
            <a:r>
              <a:rPr lang="en-GB" dirty="0"/>
              <a:t>/de/</a:t>
            </a:r>
            <a:r>
              <a:rPr lang="en-GB" dirty="0" err="1"/>
              <a:t>oc</a:t>
            </a:r>
            <a:r>
              <a:rPr lang="en-GB" dirty="0"/>
              <a:t>/systematic-records</a:t>
            </a:r>
          </a:p>
        </p:txBody>
      </p:sp>
    </p:spTree>
    <p:extLst>
      <p:ext uri="{BB962C8B-B14F-4D97-AF65-F5344CB8AC3E}">
        <p14:creationId xmlns:p14="http://schemas.microsoft.com/office/powerpoint/2010/main" val="670073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07C5B-CB7D-E158-8AE1-152766F5A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A7DDC-CDDB-C2B7-64B3-09B8B21F9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Entscheide (Kategorie)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44EBC8-AC34-43E9-4888-245B13143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214412"/>
              </p:ext>
            </p:extLst>
          </p:nvPr>
        </p:nvGraphicFramePr>
        <p:xfrm>
          <a:off x="838198" y="1690688"/>
          <a:ext cx="10515600" cy="4784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056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568440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6923104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Kommentar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vpb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Verwaltungspraxis des Bundes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rechtskräftige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Entscheidungen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und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Verlautbarungen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von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grundsätzlicher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Bedeutung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und von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allgemeinem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Interesse:</a:t>
                      </a: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Bundesrat,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Eidg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Departemente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oder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Ämter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der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Bundesverwaltung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eidg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Rekurskommissionen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Bundesgerichts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neu </a:t>
                      </a:r>
                      <a:r>
                        <a:rPr lang="en-GB" sz="1800" b="0" i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bge</a:t>
                      </a:r>
                      <a:endParaRPr lang="en-GB" sz="1800" b="0" i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Rechtsprechung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internationaler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Behörden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155270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r>
                        <a:rPr lang="en-CH" strike="noStrike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bge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0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Amtliche Sammlung der Bundesgerichtsentscheide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inexistent, </a:t>
                      </a: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unter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anderem</a:t>
                      </a:r>
                      <a:r>
                        <a:rPr lang="en-GB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Namespace</a:t>
                      </a:r>
                      <a:endParaRPr lang="en-GB" b="1" strike="noStrike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r>
                        <a:rPr lang="en-GB" b="1" strike="noStrike" dirty="0">
                          <a:solidFill>
                            <a:schemeClr val="tx1"/>
                          </a:solidFill>
                        </a:rPr>
                        <a:t>Namespace</a:t>
                      </a:r>
                      <a:r>
                        <a:rPr lang="en-GB" strike="noStrike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GB" strike="noStrike" dirty="0" err="1">
                          <a:solidFill>
                            <a:schemeClr val="tx1"/>
                          </a:solidFill>
                        </a:rPr>
                        <a:t>relevancy.bger.ch</a:t>
                      </a:r>
                      <a:endParaRPr lang="en-GB" strike="noStrike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trike="noStrike" dirty="0">
                          <a:solidFill>
                            <a:schemeClr val="tx1"/>
                          </a:solidFill>
                        </a:rPr>
                        <a:t>BGE {</a:t>
                      </a:r>
                      <a:r>
                        <a:rPr lang="en-GB" strike="noStrike" dirty="0" err="1">
                          <a:solidFill>
                            <a:schemeClr val="tx1"/>
                          </a:solidFill>
                        </a:rPr>
                        <a:t>year_relative</a:t>
                      </a:r>
                      <a:r>
                        <a:rPr lang="en-GB" strike="noStrike" dirty="0">
                          <a:solidFill>
                            <a:schemeClr val="tx1"/>
                          </a:solidFill>
                        </a:rPr>
                        <a:t>} {</a:t>
                      </a:r>
                      <a:r>
                        <a:rPr lang="en-GB" strike="noStrike" dirty="0" err="1">
                          <a:solidFill>
                            <a:schemeClr val="tx1"/>
                          </a:solidFill>
                        </a:rPr>
                        <a:t>volume_roman</a:t>
                      </a:r>
                      <a:r>
                        <a:rPr lang="en-GB" strike="noStrike" dirty="0">
                          <a:solidFill>
                            <a:schemeClr val="tx1"/>
                          </a:solidFill>
                        </a:rPr>
                        <a:t>} {</a:t>
                      </a:r>
                      <a:r>
                        <a:rPr lang="en-GB" strike="noStrike" dirty="0" err="1">
                          <a:solidFill>
                            <a:schemeClr val="tx1"/>
                          </a:solidFill>
                        </a:rPr>
                        <a:t>number_page</a:t>
                      </a:r>
                      <a:r>
                        <a:rPr lang="en-GB" strike="noStrike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210276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bvger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Bundesverwaltungsgericht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762184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bstger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Bundesstrafgericht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884238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bpatger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Bundespatentgericht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427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2806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B6606-25C4-FA80-095F-DE54E10F1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6397-960E-2FBF-16FA-BF7002CE0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Entscheide (Kategorie)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0CB698-84BB-D1E4-1376-9D8911BBD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900369"/>
              </p:ext>
            </p:extLst>
          </p:nvPr>
        </p:nvGraphicFramePr>
        <p:xfrm>
          <a:off x="838198" y="1690688"/>
          <a:ext cx="1051560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719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445777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6923104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Kommentar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edoeb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Eidg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Datenschutzbeauftragter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Stellungnahmen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Entscheide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818031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Wettbewerbskommission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155270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r>
                        <a:rPr lang="en-GB" strike="noStrike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c</a:t>
                      </a:r>
                      <a:r>
                        <a:rPr lang="en-CH" strike="noStrike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omcom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Kommunikationskommission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trike="noStrik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210276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ubi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Unabhängige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Beschwerdeinstant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für Radio und 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Fernsehen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762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2860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3CE6C-34DF-000D-598F-29F1C989E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07B1F-6FEF-A548-7CB4-758942FE8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Verordnungen (Kategorie)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2FD10C-C1ED-0319-F07B-4673CC984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606840"/>
              </p:ext>
            </p:extLst>
          </p:nvPr>
        </p:nvGraphicFramePr>
        <p:xfrm>
          <a:off x="838198" y="1690688"/>
          <a:ext cx="10515600" cy="465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67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38826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6923104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Kommentar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finma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FINMA Rundschreiben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FINMA Rundschreiben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901377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estv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ESTV Kreisschreiben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Eidgenössische Steuerverwaltung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553240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SSK Kreisschreiben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Schweizerische Steuerkonferenz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354159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SIA Normen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615602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gav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Gesamtarbeitsverträge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706914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nav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Normalarbeitsverträge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487608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International Organization for Standardization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SNV: 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Swiss Association for Standardization (Schweizerische Normen-</a:t>
                      </a:r>
                      <a:r>
                        <a:rPr lang="en-GB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Vereinigung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is the Swiss umbrella organization a member of ISO (established in 1919 as non-profit organization under private law).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SNV is mandated to operate the notification procedure for technical regulations and relevant standards and to act as the national WTO Inquiry Point.</a:t>
                      </a:r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605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3818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DFCF3-2625-6B49-F8DF-B7D963D42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4D4A5-7C6B-23B3-8C32-9FA4051F7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F</a:t>
            </a:r>
            <a:r>
              <a:rPr lang="en-GB" dirty="0"/>
              <a:t>o</a:t>
            </a:r>
            <a:r>
              <a:rPr lang="en-CH" dirty="0"/>
              <a:t>rmulare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B7B4CF-B187-4924-3BF5-144F01D38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551567"/>
              </p:ext>
            </p:extLst>
          </p:nvPr>
        </p:nvGraphicFramePr>
        <p:xfrm>
          <a:off x="838198" y="1690688"/>
          <a:ext cx="10515600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67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738826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6923104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Kommentar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4239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estv/form-{form_nr.}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ESTV Kreisschreiben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Die eidgenössische Steuerverwaltung publiziert eine Vielzahl von F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rmularen, die für Rechtssuchende von enormer (finanzieller) Bedeutung sind.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553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98028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E5CC4-066C-A83E-B939-7BF93FF3B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700D0463-6560-8784-DB00-AD6019E73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02AAA-9F78-C9B7-57D3-D3FC4513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Identifier – SLI Components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D6A885-7052-0F74-2906-733BAF362F05}"/>
              </a:ext>
            </a:extLst>
          </p:cNvPr>
          <p:cNvSpPr/>
          <p:nvPr/>
        </p:nvSpPr>
        <p:spPr>
          <a:xfrm>
            <a:off x="838200" y="1733761"/>
            <a:ext cx="10530000" cy="4443202"/>
          </a:xfrm>
          <a:prstGeom prst="rect">
            <a:avLst/>
          </a:prstGeom>
          <a:solidFill>
            <a:schemeClr val="accent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E2506A-FCCE-04E2-B087-097ABE10360C}"/>
              </a:ext>
            </a:extLst>
          </p:cNvPr>
          <p:cNvSpPr/>
          <p:nvPr/>
        </p:nvSpPr>
        <p:spPr>
          <a:xfrm>
            <a:off x="3468000" y="1733761"/>
            <a:ext cx="2635200" cy="774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Bund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A19222-89E6-2E85-1D2A-C834B2F3D12A}"/>
              </a:ext>
            </a:extLst>
          </p:cNvPr>
          <p:cNvSpPr/>
          <p:nvPr/>
        </p:nvSpPr>
        <p:spPr>
          <a:xfrm>
            <a:off x="6105000" y="1733761"/>
            <a:ext cx="2635200" cy="774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Kanton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FCFF3B-F070-7FC1-DDB2-9B141CD07222}"/>
              </a:ext>
            </a:extLst>
          </p:cNvPr>
          <p:cNvSpPr/>
          <p:nvPr/>
        </p:nvSpPr>
        <p:spPr>
          <a:xfrm>
            <a:off x="8743800" y="1733761"/>
            <a:ext cx="2635200" cy="774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Gemeinde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B14AE1-B743-B1C6-3864-8B6C4CF1F573}"/>
              </a:ext>
            </a:extLst>
          </p:cNvPr>
          <p:cNvSpPr txBox="1"/>
          <p:nvPr/>
        </p:nvSpPr>
        <p:spPr>
          <a:xfrm>
            <a:off x="832799" y="2577010"/>
            <a:ext cx="2595601" cy="4918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>
                <a:solidFill>
                  <a:prstClr val="black"/>
                </a:solidFill>
                <a:latin typeface="Aptos" panose="02110004020202020204"/>
              </a:rPr>
              <a:t>ELI Konvention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>
                <a:solidFill>
                  <a:prstClr val="black"/>
                </a:solidFill>
                <a:latin typeface="Aptos" panose="02110004020202020204"/>
              </a:rPr>
              <a:t>Jurisdiktion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>
                <a:solidFill>
                  <a:schemeClr val="accent6"/>
                </a:solidFill>
                <a:latin typeface="Aptos" panose="02110004020202020204"/>
              </a:rPr>
              <a:t>Typ/Sammlung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>
                <a:solidFill>
                  <a:prstClr val="black"/>
                </a:solidFill>
                <a:latin typeface="Aptos" panose="02110004020202020204"/>
              </a:rPr>
              <a:t>Agent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>
                <a:solidFill>
                  <a:prstClr val="black"/>
                </a:solidFill>
                <a:latin typeface="Aptos" panose="02110004020202020204"/>
              </a:rPr>
              <a:t>Reference/Year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>
                <a:solidFill>
                  <a:srgbClr val="FF0000"/>
                </a:solidFill>
                <a:latin typeface="Aptos" panose="02110004020202020204"/>
              </a:rPr>
              <a:t>Type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 err="1">
                <a:solidFill>
                  <a:prstClr val="black"/>
                </a:solidFill>
                <a:latin typeface="Aptos" panose="02110004020202020204"/>
              </a:rPr>
              <a:t>Subtype</a:t>
            </a: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AC65E5-6F15-BD48-90B7-0B9EC35E027A}"/>
              </a:ext>
            </a:extLst>
          </p:cNvPr>
          <p:cNvSpPr/>
          <p:nvPr/>
        </p:nvSpPr>
        <p:spPr>
          <a:xfrm>
            <a:off x="813000" y="1733761"/>
            <a:ext cx="2635200" cy="774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D0AA50-76B9-08E4-03F4-BC57EADB1C67}"/>
              </a:ext>
            </a:extLst>
          </p:cNvPr>
          <p:cNvSpPr txBox="1"/>
          <p:nvPr/>
        </p:nvSpPr>
        <p:spPr>
          <a:xfrm>
            <a:off x="3448200" y="2577010"/>
            <a:ext cx="2595601" cy="2928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 err="1">
                <a:solidFill>
                  <a:prstClr val="black"/>
                </a:solidFill>
                <a:latin typeface="Aptos" panose="02110004020202020204"/>
              </a:rPr>
              <a:t>eli</a:t>
            </a: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>
                <a:solidFill>
                  <a:prstClr val="black"/>
                </a:solidFill>
                <a:latin typeface="Aptos" panose="02110004020202020204"/>
              </a:rPr>
              <a:t>Jahr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BDAF57-A322-4E07-C892-C29A9F8E3BC3}"/>
              </a:ext>
            </a:extLst>
          </p:cNvPr>
          <p:cNvSpPr txBox="1"/>
          <p:nvPr/>
        </p:nvSpPr>
        <p:spPr>
          <a:xfrm>
            <a:off x="6096000" y="2577010"/>
            <a:ext cx="2595601" cy="1672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 err="1">
                <a:solidFill>
                  <a:prstClr val="black"/>
                </a:solidFill>
              </a:rPr>
              <a:t>akn</a:t>
            </a: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>
                <a:solidFill>
                  <a:prstClr val="black"/>
                </a:solidFill>
              </a:rPr>
              <a:t>CH-ZH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de-CH" sz="2000" dirty="0" err="1">
                <a:solidFill>
                  <a:prstClr val="black"/>
                </a:solidFill>
              </a:rPr>
              <a:t>act</a:t>
            </a: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  <a:p>
            <a:endParaRPr lang="en-CH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E66FF0-BBDD-46EF-6F1E-3CFB9E432A2D}"/>
              </a:ext>
            </a:extLst>
          </p:cNvPr>
          <p:cNvSpPr txBox="1"/>
          <p:nvPr/>
        </p:nvSpPr>
        <p:spPr>
          <a:xfrm>
            <a:off x="8691601" y="2577010"/>
            <a:ext cx="25956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de-CH" sz="2000" dirty="0">
              <a:solidFill>
                <a:prstClr val="black"/>
              </a:solidFill>
              <a:latin typeface="Aptos" panose="02110004020202020204"/>
            </a:endParaRPr>
          </a:p>
          <a:p>
            <a:endParaRPr lang="en-CH" sz="1400" dirty="0"/>
          </a:p>
        </p:txBody>
      </p:sp>
    </p:spTree>
    <p:extLst>
      <p:ext uri="{BB962C8B-B14F-4D97-AF65-F5344CB8AC3E}">
        <p14:creationId xmlns:p14="http://schemas.microsoft.com/office/powerpoint/2010/main" val="95105198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D9449-B6B9-1728-DFAC-B00D2CC31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294D-AFC0-4E96-969E-166CDF100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References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59178B-4908-76C1-7714-2D4171F6B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2024, BK, </a:t>
            </a:r>
            <a:r>
              <a:rPr lang="en-GB" dirty="0" err="1"/>
              <a:t>Schreibweisungen</a:t>
            </a:r>
            <a:r>
              <a:rPr lang="en-GB" dirty="0"/>
              <a:t> - </a:t>
            </a:r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dirty="0" err="1"/>
              <a:t>Zitierregeln</a:t>
            </a:r>
            <a:r>
              <a:rPr lang="en-GB" dirty="0"/>
              <a:t> für AS und </a:t>
            </a:r>
            <a:r>
              <a:rPr lang="en-GB" dirty="0" err="1"/>
              <a:t>BBl</a:t>
            </a:r>
            <a:endParaRPr lang="en-GB" dirty="0"/>
          </a:p>
          <a:p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  <a:p>
            <a:r>
              <a:rPr lang="en-GB" dirty="0">
                <a:hlinkClick r:id="rId2"/>
              </a:rPr>
              <a:t>https://www.fedlex.admin.ch/de/oc/explanations-oc</a:t>
            </a:r>
            <a:endParaRPr lang="en-GB" dirty="0"/>
          </a:p>
          <a:p>
            <a:r>
              <a:rPr lang="en-GB" dirty="0">
                <a:hlinkClick r:id="rId3"/>
              </a:rPr>
              <a:t>https://www.fedlex.admin.ch/de/cc/explanations-cc</a:t>
            </a:r>
            <a:endParaRPr lang="en-GB" dirty="0"/>
          </a:p>
          <a:p>
            <a:r>
              <a:rPr lang="en-GB" dirty="0">
                <a:hlinkClick r:id="rId4"/>
              </a:rPr>
              <a:t>https://www.fedlex.admin.ch/de/oc/systematic-records</a:t>
            </a:r>
            <a:endParaRPr lang="en-GB" dirty="0"/>
          </a:p>
          <a:p>
            <a:r>
              <a:rPr lang="en-GB" dirty="0">
                <a:hlinkClick r:id="rId5"/>
              </a:rPr>
              <a:t>https://www.fedlex.admin.ch/de/sector-specific-agreements/notice-to-users</a:t>
            </a:r>
            <a:endParaRPr lang="en-GB" dirty="0"/>
          </a:p>
          <a:p>
            <a:r>
              <a:rPr lang="en-GB" u="sng" dirty="0">
                <a:hlinkClick r:id="rId6"/>
              </a:rPr>
              <a:t>https://fedlex.data.admin.ch/de-CH/home/convention</a:t>
            </a:r>
            <a:endParaRPr lang="en-GB" u="sng" dirty="0"/>
          </a:p>
          <a:p>
            <a:r>
              <a:rPr lang="en-GB" dirty="0">
                <a:hlinkClick r:id="rId7"/>
              </a:rPr>
              <a:t>https://fedlex.data.admin.ch/vocabulary/subdivision-type</a:t>
            </a:r>
            <a:endParaRPr lang="en-GB" dirty="0"/>
          </a:p>
          <a:p>
            <a:endParaRPr lang="en-GB" u="sng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221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10671</TotalTime>
  <Words>5485</Words>
  <Application>Microsoft Macintosh PowerPoint</Application>
  <PresentationFormat>Widescreen</PresentationFormat>
  <Paragraphs>752</Paragraphs>
  <Slides>70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7" baseType="lpstr">
      <vt:lpstr>Aptos</vt:lpstr>
      <vt:lpstr>Aptos Display</vt:lpstr>
      <vt:lpstr>Arial</vt:lpstr>
      <vt:lpstr>Roboto</vt:lpstr>
      <vt:lpstr>Symbol</vt:lpstr>
      <vt:lpstr>Office Theme</vt:lpstr>
      <vt:lpstr>Document</vt:lpstr>
      <vt:lpstr>eCH Politische Geschäfte</vt:lpstr>
      <vt:lpstr>Agenda</vt:lpstr>
      <vt:lpstr>Vorgehen - Überblick</vt:lpstr>
      <vt:lpstr>Vorgehen – Details</vt:lpstr>
      <vt:lpstr>Vorgehen – Details (Fortsetzung)</vt:lpstr>
      <vt:lpstr>URL - Basics</vt:lpstr>
      <vt:lpstr>URL – Advanced</vt:lpstr>
      <vt:lpstr>URL – ELI</vt:lpstr>
      <vt:lpstr>URL – ELI Components</vt:lpstr>
      <vt:lpstr>URL – ELI Components</vt:lpstr>
      <vt:lpstr>URL – ELI Components</vt:lpstr>
      <vt:lpstr>URL – ELI Components</vt:lpstr>
      <vt:lpstr>URL – Examples</vt:lpstr>
      <vt:lpstr>URL – AKN</vt:lpstr>
      <vt:lpstr>URL – Andere Identifier / Components?</vt:lpstr>
      <vt:lpstr>URL – References</vt:lpstr>
      <vt:lpstr>URL – References</vt:lpstr>
      <vt:lpstr>URL – References</vt:lpstr>
      <vt:lpstr>URL – References</vt:lpstr>
      <vt:lpstr>eCH Politische Geschäfte</vt:lpstr>
      <vt:lpstr>Agenda</vt:lpstr>
      <vt:lpstr>Publikation1</vt:lpstr>
      <vt:lpstr>Publikation – Erlasse/Texte</vt:lpstr>
      <vt:lpstr>Publikation – Sektorielle Abkommen5 </vt:lpstr>
      <vt:lpstr>Publikation – Bereinigung3 </vt:lpstr>
      <vt:lpstr>Publikation – Bereinigung (Widersprüche)</vt:lpstr>
      <vt:lpstr>Publikation – Verweis*</vt:lpstr>
      <vt:lpstr>Publikation – Verweis mit Titel**</vt:lpstr>
      <vt:lpstr>Publikation – Verzicht***</vt:lpstr>
      <vt:lpstr>Exkurs – Systematisches Register4 </vt:lpstr>
      <vt:lpstr>Exkurs – Systematisches Register</vt:lpstr>
      <vt:lpstr>Zitierregeln – Erlasse6</vt:lpstr>
      <vt:lpstr>Zitierregeln – Aufbau</vt:lpstr>
      <vt:lpstr>Zitierregeln - Entscheide</vt:lpstr>
      <vt:lpstr>Zitierregeln – Erlasse6</vt:lpstr>
      <vt:lpstr>Zitierregeln - Weitere</vt:lpstr>
      <vt:lpstr>Zitierregeln vs. URI Template</vt:lpstr>
      <vt:lpstr>URI Template – Fedlex Namepace7</vt:lpstr>
      <vt:lpstr>Identifier – {naturalidentifier}</vt:lpstr>
      <vt:lpstr>Identifier – basic act &gt; main act</vt:lpstr>
      <vt:lpstr>Identifier – {naturalidentifier} = FGA</vt:lpstr>
      <vt:lpstr>Identifier – AS</vt:lpstr>
      <vt:lpstr>Identifier – SR</vt:lpstr>
      <vt:lpstr>Identifier – SR, mehrere Versionen</vt:lpstr>
      <vt:lpstr>Identifier – SR, Grunderlass ≠ AS</vt:lpstr>
      <vt:lpstr>Identifier – SR, kein digitalisierter Text</vt:lpstr>
      <vt:lpstr>Identifier – Treaty</vt:lpstr>
      <vt:lpstr>Identifier – Treaty , EU Conv. + Joint Comm.</vt:lpstr>
      <vt:lpstr>Identifier – Treaty, Annex + TreatyProcess</vt:lpstr>
      <vt:lpstr>Identifier – Language + Format</vt:lpstr>
      <vt:lpstr>Metadaten – Memorial (Überblick)</vt:lpstr>
      <vt:lpstr>Identifier – Fedlex Namespace</vt:lpstr>
      <vt:lpstr>Identifier – Fedlex Namespace</vt:lpstr>
      <vt:lpstr>Identifier – Referenced Documents</vt:lpstr>
      <vt:lpstr>Identifier – Referenced Documents</vt:lpstr>
      <vt:lpstr>Metadata – Document structure</vt:lpstr>
      <vt:lpstr>Identifier – Weitere</vt:lpstr>
      <vt:lpstr>Identifier – Weitere, nicht (mehr) relevant</vt:lpstr>
      <vt:lpstr>Identifier – Bundesarchiv (BAR)</vt:lpstr>
      <vt:lpstr>Identifier – cons = dl</vt:lpstr>
      <vt:lpstr>Identifier – cons = dl</vt:lpstr>
      <vt:lpstr>Identifier – Bundesarchiv (BAR)</vt:lpstr>
      <vt:lpstr>Metadata – Edition, Binder</vt:lpstr>
      <vt:lpstr>Publikation – Termdat4</vt:lpstr>
      <vt:lpstr>Identifier – Entscheide (Kategorie)</vt:lpstr>
      <vt:lpstr>Identifier – Entscheide (Kategorie)</vt:lpstr>
      <vt:lpstr>Identifier – Verordnungen (Kategorie)</vt:lpstr>
      <vt:lpstr>Identifier – Formulare </vt:lpstr>
      <vt:lpstr>Identifier – SLI Components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Gajdos</dc:creator>
  <cp:lastModifiedBy>Martin</cp:lastModifiedBy>
  <cp:revision>45</cp:revision>
  <dcterms:created xsi:type="dcterms:W3CDTF">2025-12-03T08:50:39Z</dcterms:created>
  <dcterms:modified xsi:type="dcterms:W3CDTF">2026-05-11T08:46:03Z</dcterms:modified>
</cp:coreProperties>
</file>