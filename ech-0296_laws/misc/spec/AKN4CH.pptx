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20"/>
    <p:restoredTop sz="94604"/>
  </p:normalViewPr>
  <p:slideViewPr>
    <p:cSldViewPr snapToGrid="0">
      <p:cViewPr varScale="1">
        <p:scale>
          <a:sx n="56" d="100"/>
          <a:sy n="56" d="100"/>
        </p:scale>
        <p:origin x="216" y="1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103B-AEF2-8037-8FBD-3A19BAEE5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21997-9855-C085-5CAE-04ECAFE76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81AEE-1B50-ED0B-13C4-F738BB75C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51E0-D141-2C89-9BCC-A373DDC8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68F1-A2ED-D6E7-EC07-ECB59527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119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FAA-21B0-A1B5-C71B-A3ED1F67F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3B2CE-E845-73F7-F451-3124029C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9C36E-0C80-F26F-C554-F33F82AE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311C8-6E76-5410-33E3-9FF91BD5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D292-FE58-83B2-7EED-69AA6BC0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2730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89E2-B56F-2542-C5D7-2EB8BC6B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9BC0-72E0-B3EC-11BE-FAA7EC439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9AFB5-BC7F-095C-B7F0-7A4FFF04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3C545-A328-E047-C2FE-B97C6D61E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C8D78-7320-3F7C-3726-DD6BAD07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338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09CE-FFDB-1BF7-3EE3-F9AFC159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7A61-DFA7-F9CB-365F-4B689A6F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7A3BC-68D7-2612-A23C-F67A48C8B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E362C-FAEF-D9AC-8115-DDFF0E134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63FC2-9DAE-14B6-64CD-3B323C1E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9D07F-F4C3-B597-ABFA-A23A9BE5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546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F5C0-E378-60A9-8DFF-BDD20BE4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77DDF-ECBF-D996-BC3B-BA1C548C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68618-D395-592D-5E40-D19417A59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2DF96-FE5B-0C15-A8D4-7F1FBA8B8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FBA3C-520E-3619-0A41-268F11866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D9A616-FEC3-94E7-FC83-4DC8CD6C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F7A73B-A684-D6B9-A694-7FAEC58A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70211A-AB9B-49D8-A64D-6FF4740F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8812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8E66-AD34-B12F-B30B-EC69F322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9DC2-22BB-EFC8-8D55-FF46FAE7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D3BB2-778D-0552-7C73-F0A1C631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4E890-BF96-2661-4953-E70F69F4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783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A5D38-F393-4FBC-D528-C3E73365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EED4D9-677F-A8FE-55C1-E572F19E9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679D8-779A-9602-7D6F-6E8672BD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188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1EEBF-715C-0970-6DB1-C0D96C40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062ED-C2C2-4058-F715-A3DABFC8D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0D518-4A1A-D8EC-59D6-FF667FD10C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3821C-E5E2-E32C-CF92-02AFB804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3ABD-B11D-0C23-F892-B4657462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61280-4DA4-D832-C970-798C5F6C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3887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6A1F-C3EE-9168-0376-7517120C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0EA8AC-DCE3-72C4-7B47-9E1583F5C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6050F-97E9-EF55-AC05-B7D6FB0CC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03688-3A70-847F-ED8F-A586EA43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B3747-64B0-0FCA-758B-E483C467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8C200-78BD-6232-E6C2-310570A20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219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FA84-9897-48F7-F797-14355D87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EB94A-CB5B-FCBF-C796-406DFAEE1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5A791-9244-FB29-3D04-3A6C417B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3133E-ED79-65B0-B2BF-B98073F2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96669-F06C-7D73-DB6A-87D415927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77731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EC08A-AAF5-AA9B-9749-C399775F7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41C31-377F-5972-8CE2-AC3D0EEC4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82255-0FCA-6CCB-4D0E-4481B7F8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4ECC8-ED80-23DA-5913-0C91EA79A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2F981-C46F-96B1-29AD-D8945989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926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165DD-9265-2EDE-9C28-2DE25A95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8631A-355D-2B02-7E9B-61F7A193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08B02-8439-C0FF-6010-D807EFCC3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9154F-9ECE-974F-9C95-AA1CF4105B6D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BFAA8-A06E-7A4D-F6A0-EF75044995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AF254-9098-E088-D2D6-44EC1F902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C6FEE-CFBE-934F-9DD2-75D6ABF91FE8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435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9E57-5E6D-B009-D8F1-E7E18260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AKN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34AC8-6C9A-B3F6-370C-7AB895ED7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76054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AE4B-61F3-7605-365A-6B7B2B43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Document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54F1-DC18-7620-F5B2-47A40617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AKN element	Document Type		Schweiz</a:t>
            </a:r>
          </a:p>
          <a:p>
            <a:pPr marL="0" indent="0">
              <a:buNone/>
            </a:pPr>
            <a:r>
              <a:rPr lang="en-CH" dirty="0"/>
              <a:t>act			hierarchicalStructure	Gesetze</a:t>
            </a:r>
          </a:p>
          <a:p>
            <a:pPr marL="0" indent="0">
              <a:buNone/>
            </a:pPr>
            <a:r>
              <a:rPr lang="en-GB" dirty="0"/>
              <a:t>b</a:t>
            </a:r>
            <a:r>
              <a:rPr lang="en-CH" dirty="0"/>
              <a:t>ill			hierarchicalStructure	Gesetzesentwürfe</a:t>
            </a:r>
          </a:p>
          <a:p>
            <a:pPr marL="0" indent="0">
              <a:buNone/>
            </a:pPr>
            <a:r>
              <a:rPr lang="en-GB" dirty="0"/>
              <a:t>d</a:t>
            </a:r>
            <a:r>
              <a:rPr lang="en-CH" dirty="0"/>
              <a:t>oc			openStructure		Beirchte, Anhänge</a:t>
            </a:r>
          </a:p>
          <a:p>
            <a:pPr marL="0" indent="0">
              <a:buNone/>
            </a:pPr>
            <a:r>
              <a:rPr lang="en-CH" dirty="0"/>
              <a:t>officialGazette	collectionStructure	SR, AS, FGA, etc.</a:t>
            </a:r>
          </a:p>
          <a:p>
            <a:pPr marL="0" indent="0">
              <a:buNone/>
            </a:pPr>
            <a:r>
              <a:rPr lang="en-CH" dirty="0"/>
              <a:t>amendment	amendementStructure	mat. Antrag zu Entwurf</a:t>
            </a:r>
          </a:p>
          <a:p>
            <a:pPr marL="0" indent="0">
              <a:buNone/>
            </a:pPr>
            <a:r>
              <a:rPr lang="en-CH" dirty="0"/>
              <a:t>amendementList	collectionStructure	alle Anträge zu Entwurf</a:t>
            </a:r>
          </a:p>
          <a:p>
            <a:pPr marL="0" indent="0">
              <a:buNone/>
            </a:pPr>
            <a:r>
              <a:rPr lang="en-CH" dirty="0"/>
              <a:t>documentCollection	collectionStructureParlamentsdossier</a:t>
            </a:r>
          </a:p>
        </p:txBody>
      </p:sp>
    </p:spTree>
    <p:extLst>
      <p:ext uri="{BB962C8B-B14F-4D97-AF65-F5344CB8AC3E}">
        <p14:creationId xmlns:p14="http://schemas.microsoft.com/office/powerpoint/2010/main" val="197455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9E29-3DFD-2ADC-8D34-B9C39818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Structural Elements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AC1E4C-789A-D763-F7DA-8D7058CD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AKN element					Main element</a:t>
            </a:r>
          </a:p>
          <a:p>
            <a:pPr marL="0" indent="0">
              <a:buNone/>
            </a:pPr>
            <a:r>
              <a:rPr lang="en-CH" dirty="0"/>
              <a:t>act							body </a:t>
            </a:r>
          </a:p>
          <a:p>
            <a:pPr marL="0" indent="0">
              <a:buNone/>
            </a:pPr>
            <a:r>
              <a:rPr lang="en-CH" dirty="0"/>
              <a:t>bill							body </a:t>
            </a:r>
          </a:p>
          <a:p>
            <a:pPr marL="0" indent="0">
              <a:buNone/>
            </a:pPr>
            <a:r>
              <a:rPr lang="en-GB" dirty="0"/>
              <a:t>d</a:t>
            </a:r>
            <a:r>
              <a:rPr lang="en-CH" dirty="0"/>
              <a:t>oc /</a:t>
            </a:r>
            <a:r>
              <a:rPr lang="en-CH" dirty="0">
                <a:solidFill>
                  <a:srgbClr val="FF0000"/>
                </a:solidFill>
              </a:rPr>
              <a:t> debateReport / statement</a:t>
            </a:r>
            <a:r>
              <a:rPr lang="en-CH" dirty="0"/>
              <a:t>		mainBody</a:t>
            </a:r>
          </a:p>
          <a:p>
            <a:pPr marL="0" indent="0">
              <a:buNone/>
            </a:pPr>
            <a:r>
              <a:rPr lang="en-CH" dirty="0"/>
              <a:t>officialGazette					collectionBody</a:t>
            </a:r>
          </a:p>
          <a:p>
            <a:pPr marL="0" indent="0">
              <a:buNone/>
            </a:pPr>
            <a:r>
              <a:rPr lang="en-CH" dirty="0"/>
              <a:t>amendment					amendmentBody</a:t>
            </a:r>
          </a:p>
          <a:p>
            <a:pPr marL="0" indent="0">
              <a:buNone/>
            </a:pPr>
            <a:r>
              <a:rPr lang="en-CH" dirty="0"/>
              <a:t>amendementList					collectionBody</a:t>
            </a:r>
          </a:p>
          <a:p>
            <a:pPr marL="0" indent="0">
              <a:buNone/>
            </a:pPr>
            <a:r>
              <a:rPr lang="en-CH" dirty="0"/>
              <a:t>documentCollection				collectionBody</a:t>
            </a:r>
          </a:p>
        </p:txBody>
      </p:sp>
    </p:spTree>
    <p:extLst>
      <p:ext uri="{BB962C8B-B14F-4D97-AF65-F5344CB8AC3E}">
        <p14:creationId xmlns:p14="http://schemas.microsoft.com/office/powerpoint/2010/main" val="70740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7196-DFAB-8129-5A70-E48EFF4B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Substructural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E52C7-031D-D8BF-AEAA-E786E156D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16480" cy="4351338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hierarchical	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br>
              <a:rPr lang="en-CH" dirty="0"/>
            </a:b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open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34C199-0918-F013-F5B7-487471B49B65}"/>
              </a:ext>
            </a:extLst>
          </p:cNvPr>
          <p:cNvSpPr txBox="1">
            <a:spLocks/>
          </p:cNvSpPr>
          <p:nvPr/>
        </p:nvSpPr>
        <p:spPr>
          <a:xfrm>
            <a:off x="3543300" y="1825625"/>
            <a:ext cx="7810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title, book, tome, part, chapter, section, paragraph, article, clause, division, level, list, subtitle, subpart, subchapter, subsection, subparagraph, subclause, </a:t>
            </a:r>
            <a:r>
              <a:rPr lang="en-GB" dirty="0" err="1"/>
              <a:t>sublist</a:t>
            </a:r>
            <a:r>
              <a:rPr lang="en-GB" dirty="0"/>
              <a:t>, point, indent, </a:t>
            </a:r>
            <a:r>
              <a:rPr lang="en-GB" dirty="0" err="1"/>
              <a:t>alinea</a:t>
            </a:r>
            <a:br>
              <a:rPr lang="en-GB" dirty="0"/>
            </a:br>
            <a:r>
              <a:rPr lang="en-GB" i="1" dirty="0"/>
              <a:t>or </a:t>
            </a:r>
            <a:r>
              <a:rPr lang="en-GB" b="1" i="1" dirty="0" err="1"/>
              <a:t>hcontainer</a:t>
            </a:r>
            <a:endParaRPr lang="en-GB" b="1" i="1" dirty="0"/>
          </a:p>
          <a:p>
            <a:pPr marL="0" indent="0">
              <a:buFont typeface="Arial" panose="020B0604020202020204" pitchFamily="34" charset="0"/>
              <a:buNone/>
            </a:pPr>
            <a:endParaRPr lang="en-GB" b="1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all of the above, without order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1476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18097-A0B6-9CFE-FDFE-32D0CB252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3001-1614-03A6-2184-66FDDA83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Substructural Elements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39B7A-7871-5A6B-C63E-539AE5607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1648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</a:t>
            </a:r>
            <a:r>
              <a:rPr lang="en-CH" dirty="0"/>
              <a:t>ollection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CH" dirty="0"/>
              <a:t>amendment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AB8B36-751B-7480-0E82-A0B64F6D8D24}"/>
              </a:ext>
            </a:extLst>
          </p:cNvPr>
          <p:cNvSpPr txBox="1">
            <a:spLocks/>
          </p:cNvSpPr>
          <p:nvPr/>
        </p:nvSpPr>
        <p:spPr>
          <a:xfrm>
            <a:off x="3543300" y="1825625"/>
            <a:ext cx="7810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e.g. issue of Federal Gazette as combination of several acts</a:t>
            </a:r>
            <a:br>
              <a:rPr lang="en-GB" dirty="0"/>
            </a:br>
            <a:r>
              <a:rPr lang="en-GB" dirty="0"/>
              <a:t>&lt;act&gt; 1, &lt;act&gt; 2, &lt;</a:t>
            </a:r>
            <a:r>
              <a:rPr lang="en-GB" dirty="0">
                <a:solidFill>
                  <a:srgbClr val="FF0000"/>
                </a:solidFill>
              </a:rPr>
              <a:t>debate&gt;</a:t>
            </a:r>
            <a:r>
              <a:rPr lang="en-GB" dirty="0"/>
              <a:t>, etc. + &lt;</a:t>
            </a:r>
            <a:r>
              <a:rPr lang="en-CH" dirty="0"/>
              <a:t>documentRef&gt;</a:t>
            </a:r>
            <a:r>
              <a:rPr lang="en-CH" dirty="0">
                <a:effectLst/>
              </a:rPr>
              <a:t> (URI/IRI) + &lt;component&gt; (optional)</a:t>
            </a:r>
          </a:p>
          <a:p>
            <a:pPr marL="0" indent="0">
              <a:buNone/>
            </a:pPr>
            <a:endParaRPr lang="en-CH" dirty="0"/>
          </a:p>
          <a:p>
            <a:pPr marL="0" indent="0">
              <a:buNone/>
            </a:pPr>
            <a:r>
              <a:rPr lang="en-GB" dirty="0"/>
              <a:t>&lt;</a:t>
            </a:r>
            <a:r>
              <a:rPr lang="en-GB" dirty="0" err="1"/>
              <a:t>amendmentHeading</a:t>
            </a:r>
            <a:r>
              <a:rPr lang="en-GB" dirty="0"/>
              <a:t>&gt;, &lt;</a:t>
            </a:r>
            <a:r>
              <a:rPr lang="en-GB" dirty="0" err="1"/>
              <a:t>amendmentContent</a:t>
            </a:r>
            <a:r>
              <a:rPr lang="en-GB" dirty="0"/>
              <a:t>&gt;, &lt;</a:t>
            </a:r>
            <a:r>
              <a:rPr lang="en-GB" dirty="0" err="1"/>
              <a:t>amendmentReference</a:t>
            </a:r>
            <a:r>
              <a:rPr lang="en-GB" dirty="0"/>
              <a:t>&gt;, and &lt;</a:t>
            </a:r>
            <a:r>
              <a:rPr lang="en-GB" dirty="0" err="1"/>
              <a:t>amendmentJustification</a:t>
            </a:r>
            <a:r>
              <a:rPr lang="en-GB" dirty="0"/>
              <a:t>&gt;</a:t>
            </a:r>
            <a:r>
              <a:rPr lang="en-CH" dirty="0">
                <a:effectLst/>
              </a:rPr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00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0056-DA54-0662-955E-59236617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Other Structural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980DC-A1C8-FE32-CC8B-7F0CFAB15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&lt;metadata&gt;</a:t>
            </a:r>
          </a:p>
          <a:p>
            <a:pPr marL="0" indent="0">
              <a:buNone/>
            </a:pPr>
            <a:r>
              <a:rPr lang="en-GB" dirty="0"/>
              <a:t>&lt;preface&gt; / &lt;header&gt;	(long) title</a:t>
            </a:r>
            <a:br>
              <a:rPr lang="en-GB" dirty="0"/>
            </a:br>
            <a:r>
              <a:rPr lang="en-GB" dirty="0"/>
              <a:t>				enacting authority</a:t>
            </a:r>
            <a:br>
              <a:rPr lang="en-GB" dirty="0"/>
            </a:br>
            <a:r>
              <a:rPr lang="en-GB" dirty="0"/>
              <a:t>				identification</a:t>
            </a:r>
            <a:br>
              <a:rPr lang="en-GB" dirty="0"/>
            </a:br>
            <a:r>
              <a:rPr lang="en-GB" dirty="0"/>
              <a:t>				date</a:t>
            </a:r>
            <a:br>
              <a:rPr lang="en-GB" dirty="0"/>
            </a:br>
            <a:r>
              <a:rPr lang="en-GB" dirty="0"/>
              <a:t>				toc</a:t>
            </a:r>
          </a:p>
          <a:p>
            <a:pPr marL="0" indent="0">
              <a:buNone/>
            </a:pPr>
            <a:r>
              <a:rPr lang="en-GB" dirty="0"/>
              <a:t>&lt;preamble&gt;		&lt;formula&gt;: Enacting sentence(s)</a:t>
            </a:r>
            <a:br>
              <a:rPr lang="en-GB" dirty="0"/>
            </a:br>
            <a:r>
              <a:rPr lang="en-GB" dirty="0"/>
              <a:t>				&lt;recitals&gt;: motivations and justification</a:t>
            </a:r>
            <a:br>
              <a:rPr lang="en-GB" dirty="0"/>
            </a:br>
            <a:r>
              <a:rPr lang="en-GB" dirty="0"/>
              <a:t>				&lt;citations&gt;: references to other legal docs</a:t>
            </a:r>
          </a:p>
        </p:txBody>
      </p:sp>
    </p:spTree>
    <p:extLst>
      <p:ext uri="{BB962C8B-B14F-4D97-AF65-F5344CB8AC3E}">
        <p14:creationId xmlns:p14="http://schemas.microsoft.com/office/powerpoint/2010/main" val="302270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33F5D-6FE1-654B-CC05-624ED688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A1B5-7E31-8BE8-84A6-578C826D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Other Structural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9FBD-131D-FB5E-6075-5AEC3B869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89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&lt;conclusions&gt;		closing formulas date and signature</a:t>
            </a:r>
          </a:p>
          <a:p>
            <a:pPr marL="0" indent="0">
              <a:buNone/>
            </a:pPr>
            <a:r>
              <a:rPr lang="en-GB" dirty="0"/>
              <a:t>&lt;</a:t>
            </a:r>
            <a:r>
              <a:rPr lang="en-GB" dirty="0" err="1"/>
              <a:t>authorialNote</a:t>
            </a:r>
            <a:r>
              <a:rPr lang="en-GB" dirty="0"/>
              <a:t>&gt;		added by the author of the document</a:t>
            </a:r>
            <a:br>
              <a:rPr lang="en-GB" dirty="0"/>
            </a:br>
            <a:r>
              <a:rPr lang="en-GB" dirty="0"/>
              <a:t>&lt;attachments&gt;		integral part or informative or technical</a:t>
            </a:r>
            <a:br>
              <a:rPr lang="en-GB" dirty="0"/>
            </a:br>
            <a:r>
              <a:rPr lang="en-GB" dirty="0"/>
              <a:t>				e.g. international agreement approved by act</a:t>
            </a:r>
          </a:p>
          <a:p>
            <a:pPr marL="0" indent="0">
              <a:buNone/>
            </a:pPr>
            <a:r>
              <a:rPr lang="en-GB" dirty="0"/>
              <a:t>&lt;components&gt;		independent works, expressions, or manifestations. Each component can have a&lt; </a:t>
            </a:r>
            <a:r>
              <a:rPr lang="en-GB" dirty="0" err="1"/>
              <a:t>num</a:t>
            </a:r>
            <a:r>
              <a:rPr lang="en-GB" dirty="0"/>
              <a:t>&gt; and/or a &lt;heading&gt; before the document</a:t>
            </a:r>
          </a:p>
        </p:txBody>
      </p:sp>
    </p:spTree>
    <p:extLst>
      <p:ext uri="{BB962C8B-B14F-4D97-AF65-F5344CB8AC3E}">
        <p14:creationId xmlns:p14="http://schemas.microsoft.com/office/powerpoint/2010/main" val="129568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4524</TotalTime>
  <Words>421</Words>
  <Application>Microsoft Macintosh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AKN</vt:lpstr>
      <vt:lpstr>Document Types</vt:lpstr>
      <vt:lpstr>Structural Elements</vt:lpstr>
      <vt:lpstr>Substructural Elements</vt:lpstr>
      <vt:lpstr>Substructural Elements (2)</vt:lpstr>
      <vt:lpstr>Other Structural Elements</vt:lpstr>
      <vt:lpstr>Other Structural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</dc:creator>
  <cp:lastModifiedBy>Martin</cp:lastModifiedBy>
  <cp:revision>2</cp:revision>
  <dcterms:created xsi:type="dcterms:W3CDTF">2026-05-19T08:39:06Z</dcterms:created>
  <dcterms:modified xsi:type="dcterms:W3CDTF">2026-05-22T12:03:53Z</dcterms:modified>
</cp:coreProperties>
</file>