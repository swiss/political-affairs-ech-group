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10_73E124A2.xml" ContentType="application/vnd.ms-powerpoint.comments+xml"/>
  <Override PartName="/ppt/comments/modernComment_106_CE91B77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62" r:id="rId6"/>
    <p:sldId id="259" r:id="rId7"/>
    <p:sldId id="265" r:id="rId8"/>
    <p:sldId id="261" r:id="rId9"/>
    <p:sldId id="268" r:id="rId10"/>
    <p:sldId id="276" r:id="rId11"/>
    <p:sldId id="275" r:id="rId12"/>
    <p:sldId id="321" r:id="rId13"/>
    <p:sldId id="322" r:id="rId14"/>
    <p:sldId id="260" r:id="rId15"/>
    <p:sldId id="269" r:id="rId16"/>
    <p:sldId id="263" r:id="rId17"/>
    <p:sldId id="271" r:id="rId18"/>
    <p:sldId id="267" r:id="rId19"/>
    <p:sldId id="270" r:id="rId20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E6D608-4515-559E-CC8D-810749FBC7E9}" name="Martin" initials="MBG" userId="Martin" providerId="None"/>
  <p188:author id="{EDF292FB-9B88-1505-DBAB-923E900319F0}" name="Martin Gajdos" initials="MG" userId="1bda1dfa5796232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5662"/>
    <p:restoredTop sz="94589"/>
  </p:normalViewPr>
  <p:slideViewPr>
    <p:cSldViewPr snapToGrid="0">
      <p:cViewPr varScale="1">
        <p:scale>
          <a:sx n="57" d="100"/>
          <a:sy n="57" d="100"/>
        </p:scale>
        <p:origin x="200" y="1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modernComment_106_CE91B7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64B5EB-69E4-3443-B45C-6C98B5D9FA56}" authorId="{65E6D608-4515-559E-CC8D-810749FBC7E9}" created="2026-03-31T13:12:22.86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65656177" sldId="262"/>
      <ac:spMk id="8" creationId="{0BB9F98E-1A8F-AD31-3088-AAD5011BCA24}"/>
      <ac:txMk cp="0" len="32">
        <ac:context len="267" hash="2247054450"/>
      </ac:txMk>
    </ac:txMkLst>
    <p188:pos x="9037320" y="969826"/>
    <p188:replyLst>
      <p188:reply id="{2921417A-29C4-9240-B47D-6D602AA2EC10}" authorId="{65E6D608-4515-559E-CC8D-810749FBC7E9}" created="2026-03-31T13:15:16.111">
        <p188:txBody>
          <a:bodyPr/>
          <a:lstStyle/>
          <a:p>
            <a:r>
              <a:rPr lang="en-CH"/>
              <a:t>in strukturierter Form</a:t>
            </a:r>
          </a:p>
        </p188:txBody>
      </p188:reply>
      <p188:reply id="{2ABFDD66-4485-CF4A-8E57-DA8EE94500DE}" authorId="{65E6D608-4515-559E-CC8D-810749FBC7E9}" created="2026-03-31T13:15:36.369">
        <p188:txBody>
          <a:bodyPr/>
          <a:lstStyle/>
          <a:p>
            <a:r>
              <a:rPr lang="en-CH"/>
              <a:t>macht Gioma Fumasoli</a:t>
            </a:r>
          </a:p>
        </p188:txBody>
      </p188:reply>
    </p188:replyLst>
    <p188:txBody>
      <a:bodyPr/>
      <a:lstStyle/>
      <a:p>
        <a:r>
          <a:rPr lang="en-CH"/>
          <a:t>Was sind die Inhalte der Dokumente?</a:t>
        </a:r>
      </a:p>
    </p188:txBody>
  </p188:cm>
  <p188:cm id="{913D1CE1-9D49-DE4D-9765-4114CA9CC35D}" authorId="{65E6D608-4515-559E-CC8D-810749FBC7E9}" created="2026-03-31T13:12:39.98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465656177" sldId="262"/>
      <ac:spMk id="8" creationId="{0BB9F98E-1A8F-AD31-3088-AAD5011BCA24}"/>
      <ac:txMk cp="176" len="36">
        <ac:context len="267" hash="2247054450"/>
      </ac:txMk>
    </ac:txMkLst>
    <p188:pos x="9324703" y="2929255"/>
    <p188:txBody>
      <a:bodyPr/>
      <a:lstStyle/>
      <a:p>
        <a:r>
          <a:rPr lang="en-CH"/>
          <a:t>Was sagen die Texte aus? </a:t>
        </a:r>
      </a:p>
    </p188:txBody>
  </p188:cm>
</p188:cmLst>
</file>

<file path=ppt/comments/modernComment_110_73E124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308807-3C4E-EA43-A69C-5C2DC5259B31}" authorId="{65E6D608-4515-559E-CC8D-810749FBC7E9}" created="2026-03-31T13:11:55.19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44134818" sldId="272"/>
      <ac:spMk id="8" creationId="{B0465777-1DEF-83F3-F5D7-048B5C4F5695}"/>
      <ac:txMk cp="0" len="41">
        <ac:context len="484" hash="1317253004"/>
      </ac:txMk>
    </ac:txMkLst>
    <p188:pos x="9507583" y="969826"/>
    <p188:replyLst>
      <p188:reply id="{36083201-33E9-A343-BAE8-CDA361908AEF}" authorId="{65E6D608-4515-559E-CC8D-810749FBC7E9}" created="2026-03-31T13:16:59.251">
        <p188:txBody>
          <a:bodyPr/>
          <a:lstStyle/>
          <a:p>
            <a:r>
              <a:rPr lang="en-CH"/>
              <a:t>ELI</a:t>
            </a:r>
          </a:p>
        </p188:txBody>
      </p188:reply>
    </p188:replyLst>
    <p188:txBody>
      <a:bodyPr/>
      <a:lstStyle/>
      <a:p>
        <a:r>
          <a:rPr lang="en-CH"/>
          <a:t>Wie verweisen wir auf ein Gesetz?</a:t>
        </a:r>
      </a:p>
    </p188:txBody>
  </p188:cm>
  <p188:cm id="{D2342373-99C7-D54E-A222-4595761EC694}" authorId="{65E6D608-4515-559E-CC8D-810749FBC7E9}" created="2026-03-31T13:12:09.7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944134818" sldId="272"/>
      <ac:spMk id="8" creationId="{B0465777-1DEF-83F3-F5D7-048B5C4F5695}"/>
      <ac:txMk cp="177" len="27">
        <ac:context len="484" hash="1317253004"/>
      </ac:txMk>
    </ac:txMkLst>
    <p188:pos x="7522029" y="2380615"/>
    <p188:replyLst>
      <p188:reply id="{AAF1786D-8C48-574E-8E20-4ADABAA78BB5}" authorId="{65E6D608-4515-559E-CC8D-810749FBC7E9}" created="2026-03-31T13:16:53.190">
        <p188:txBody>
          <a:bodyPr/>
          <a:lstStyle/>
          <a:p>
            <a:r>
              <a:rPr lang="en-CH"/>
              <a:t>Jolux und ELI-DL</a:t>
            </a:r>
          </a:p>
        </p188:txBody>
      </p188:reply>
    </p188:replyLst>
    <p188:txBody>
      <a:bodyPr/>
      <a:lstStyle/>
      <a:p>
        <a:r>
          <a:rPr lang="en-CH"/>
          <a:t>Wo sind die Dokumente?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79DD3-FCF5-A349-8C5D-C03206EA3074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51CAB-1166-6741-9FCE-1F90CBA4617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88187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76A9-3EC9-39A3-ED88-DAE2D67C8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3F474-09CA-FC5E-DBAD-89E0749EC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DEFD4-AC13-68BD-D023-370DB6C5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F5BA9-583A-64BB-40F0-4CA0700C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B5428-0459-0397-B4CD-C586C7CA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4173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5567-1BFD-A46D-8828-7455C2CF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AB2AD-26FB-D90D-5FCB-FBBE8DAE2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C3254-B29C-C681-8544-306048FF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CB5AB-C592-1776-0D58-5B65CB220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CC81C-9D3D-D09B-5DF2-4BB9082C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6388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E54A-D0BD-C8A7-52D9-705F7800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14488-E017-707D-09E7-8523E1D31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F1174-D332-A2E0-489A-34D68C8C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2CA0B-CFA3-88EA-4B4E-AE0F36EB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675AA-A27F-ECF3-8F25-3CA89F5B2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36048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C653-D82E-386C-DA60-09CD1D7C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B250E-6F9E-1DD2-603B-2AFB772E1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20C8E-802F-EC4E-ECF3-495D1613C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FCF44-EF82-2C28-BD89-A26A912F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281B1-B45A-5FA4-DCFE-DE5C42CA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E9931-7282-7FEF-C23D-34CB1CDF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0472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03F52-D5D8-B3F1-24DE-8BE889A7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DF008-83E2-DA25-8917-5EA180308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96243-8C23-8521-F64E-7C7B05844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995A3-01C3-1B6B-7F5D-38DB3F8AF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807B-DECD-EEBC-FEDD-D1F854912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B1068-F026-029E-E4D4-57190CAE6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84D825-3916-BBED-3EA6-03C2ED8A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38E0C-4078-A248-9AC8-D2FA08FE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40809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3F7C-F53E-3181-C83D-36CE1770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7ABC3C-27A2-37CB-BCF3-3654503A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34811-4DCC-6141-4669-23AA47E4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4BB34-DA15-C40C-3D52-1E9DB0886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8514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7C44A-C338-A212-40CC-598DFE3A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828C1B-54DF-94AE-EBB4-E86FE6E8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3352C-C7E1-2466-505E-9CB9467E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9109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A0C89-2CCC-EF6C-7265-9869979F2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D1A45-DB89-4A5B-10F2-DB048342D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B40AD-7E2C-653B-F187-BB3DF194A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D54C5-808A-B8AC-2FDF-75CE6299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4BC78-EDC5-C303-F557-A658B8DD3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39700-A533-3B07-443F-D5CBFE545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4702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7408-F05E-64CD-147D-6459B1A5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394D45-737A-DC9B-5EE1-DF56397166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8BC61-DC7C-DF37-EC26-A56B374C7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1ED6D-B9FB-6DE7-0182-5519E96C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908E6-4B4F-4009-3A03-AE7080F2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B6F2A-F84A-E15F-DDD6-9E7F87D1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05064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73D38-3E9F-2B8D-C96A-82C080AA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62767-2972-B1AB-1AE4-B511EEAC1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D5C97-D762-A18E-C5B6-3F8AD9766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8AACA-064F-9A24-5F73-89B7FFBF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456B6-41E5-6022-DDD3-7DB4419B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62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53A865-1BDC-8AC7-69DE-4595EA185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9E2663-ACBA-CAB3-2013-42C547467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0A09A-3CFA-378E-4C04-ED6A61FF2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BE94C-87D5-78AC-518D-0B21AB66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C9E62-FE9B-80FC-9492-D6042443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2870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40D5D-DCC1-8E52-4537-E74D8D3E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BF54D-2768-42A5-78AC-E4ED90357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8C3F3-18A1-C8D8-7124-9669527F0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C59E8-D88B-9347-A847-90ED74936EE3}" type="datetimeFigureOut">
              <a:rPr lang="en-CH" smtClean="0"/>
              <a:t>22.04.2026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A6200-1FBB-BFBC-AD51-4010A71F9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4A22A-A10B-F73B-B990-9BDF8D083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78873-6E32-6F4D-8CCE-B036B138211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36201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doc-crm.org/frbroo/" TargetMode="External"/><Relationship Id="rId2" Type="http://schemas.microsoft.com/office/2018/10/relationships/comments" Target="../comments/modernComment_110_73E124A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idoc-crm.org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CE91B77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p.europa.eu/documents/2050822/2138819/ELI+-+A+Technical+Implementation+Guide.pdf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hyperlink" Target="https://docs.oasis-open.org/legaldocml/akn-nc/v1.0/os/akn-nc-v1.0-os.html#_Toc53169229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bger.li/OR_4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de/docs/Learn_web_development/Howto/Web_mechanics/What_is_a_URL" TargetMode="External"/><Relationship Id="rId2" Type="http://schemas.openxmlformats.org/officeDocument/2006/relationships/hyperlink" Target="https://developers.google.com/search/docs/crawling-indexing/url-structure?hl=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Clean_UR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arpspire.com/posts/url-design/" TargetMode="External"/><Relationship Id="rId2" Type="http://schemas.openxmlformats.org/officeDocument/2006/relationships/hyperlink" Target="https://blog.jim-nielsen.com/2023/examples-of-great-url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lexpounds.com/blog/2018/12/29/four-cool-url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redditlaqueristas.json" TargetMode="External"/><Relationship Id="rId2" Type="http://schemas.openxmlformats.org/officeDocument/2006/relationships/hyperlink" Target="https://github.com/django/django/compare/4.2.7...mai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git/git/blob/master/README.md?plain=1#L18-L20" TargetMode="External"/><Relationship Id="rId4" Type="http://schemas.openxmlformats.org/officeDocument/2006/relationships/hyperlink" Target="https://traintimes.org.uk/LBG/brighton/13:30/tomorrow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setz.li/" TargetMode="External"/><Relationship Id="rId2" Type="http://schemas.openxmlformats.org/officeDocument/2006/relationships/hyperlink" Target="https://zhlex.ch/-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zhlaw.ch/" TargetMode="External"/><Relationship Id="rId4" Type="http://schemas.openxmlformats.org/officeDocument/2006/relationships/hyperlink" Target="https://bdlf.fr.ch/app/de/texts_of_law/33.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5BC9-1EE1-B56E-24F0-7CA101A83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eCH Politische Geschäfte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FCAF8-B9E3-0042-64B9-042BF7A8B4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Erlasse und Gesetzestexte</a:t>
            </a:r>
          </a:p>
          <a:p>
            <a:r>
              <a:rPr lang="en-CH" dirty="0"/>
              <a:t>Vorgehen &amp; Identifier </a:t>
            </a:r>
            <a:r>
              <a:rPr lang="en-CH"/>
              <a:t>Primer (URL</a:t>
            </a:r>
            <a:r>
              <a:rPr lang="en-CH" dirty="0"/>
              <a:t>)</a:t>
            </a:r>
          </a:p>
          <a:p>
            <a:r>
              <a:rPr lang="en-CH" dirty="0"/>
              <a:t>03.12.2025</a:t>
            </a:r>
          </a:p>
        </p:txBody>
      </p:sp>
    </p:spTree>
    <p:extLst>
      <p:ext uri="{BB962C8B-B14F-4D97-AF65-F5344CB8AC3E}">
        <p14:creationId xmlns:p14="http://schemas.microsoft.com/office/powerpoint/2010/main" val="2383093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9C61-C9B2-EF6D-80ED-CA43CB6B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14D0A-51A5-1599-0BF5-BEF543663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Vorgehen 	5	-10’</a:t>
            </a:r>
          </a:p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Identifier </a:t>
            </a:r>
            <a:r>
              <a:rPr lang="en-CH"/>
              <a:t>Primer (URL</a:t>
            </a:r>
            <a:r>
              <a:rPr lang="en-CH" dirty="0"/>
              <a:t>) 	40	-45’</a:t>
            </a:r>
          </a:p>
          <a:p>
            <a:pPr>
              <a:tabLst>
                <a:tab pos="4568825" algn="l"/>
                <a:tab pos="4970463" algn="l"/>
              </a:tabLst>
            </a:pPr>
            <a:r>
              <a:rPr lang="en-CH" dirty="0"/>
              <a:t>Fragen und Anregungen	5	-15’</a:t>
            </a:r>
          </a:p>
        </p:txBody>
      </p:sp>
    </p:spTree>
    <p:extLst>
      <p:ext uri="{BB962C8B-B14F-4D97-AF65-F5344CB8AC3E}">
        <p14:creationId xmlns:p14="http://schemas.microsoft.com/office/powerpoint/2010/main" val="359622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0713-5453-FA2A-E448-38E155F06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5775-77EE-3B05-3C54-0E6D7842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Vorgehen - Überblick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D4C850-57D1-8E13-EEA6-C43CBBD847B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b="1" dirty="0"/>
              <a:t>IDENTIFIER			</a:t>
            </a:r>
            <a:r>
              <a:rPr lang="en-GB" b="1" dirty="0" err="1"/>
              <a:t>Einheitlicher</a:t>
            </a:r>
            <a:r>
              <a:rPr lang="en-GB" b="1" dirty="0"/>
              <a:t> Aufbau der URL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CATALOG			</a:t>
            </a:r>
            <a:r>
              <a:rPr lang="en-GB" b="1" dirty="0" err="1"/>
              <a:t>Interoperabilität</a:t>
            </a:r>
            <a:endParaRPr lang="en-GB" b="1" dirty="0"/>
          </a:p>
          <a:p>
            <a:pPr marL="514350" indent="-514350">
              <a:buFont typeface="+mj-lt"/>
              <a:buAutoNum type="arabicPeriod" startAt="3"/>
            </a:pPr>
            <a:r>
              <a:rPr lang="en-GB" b="1" dirty="0"/>
              <a:t>CONTENT			</a:t>
            </a:r>
            <a:r>
              <a:rPr lang="en-GB" b="1" dirty="0" err="1"/>
              <a:t>Elemente</a:t>
            </a:r>
            <a:r>
              <a:rPr lang="en-GB" b="1" dirty="0"/>
              <a:t> des </a:t>
            </a:r>
            <a:r>
              <a:rPr lang="en-GB" b="1" dirty="0" err="1"/>
              <a:t>Dokuments</a:t>
            </a:r>
            <a:endParaRPr lang="en-GB" dirty="0"/>
          </a:p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SEMANTIC 			</a:t>
            </a:r>
            <a:r>
              <a:rPr lang="en-GB" b="1" dirty="0" err="1"/>
              <a:t>Semantische</a:t>
            </a:r>
            <a:r>
              <a:rPr lang="en-GB" b="1" dirty="0"/>
              <a:t> </a:t>
            </a:r>
            <a:r>
              <a:rPr lang="en-GB" b="1" dirty="0" err="1"/>
              <a:t>Beschreibung</a:t>
            </a:r>
            <a:endParaRPr lang="en-GB" b="1" dirty="0"/>
          </a:p>
          <a:p>
            <a:pPr marL="514350" indent="-514350">
              <a:buFont typeface="+mj-lt"/>
              <a:buAutoNum type="arabicPeriod"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03247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05AA-E113-026B-DDDB-3C7E4AD06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79F8-0236-B324-376C-261416DA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Vorgehen – Details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3CF959-40A9-5716-15FD-00B269BC7759}"/>
              </a:ext>
            </a:extLst>
          </p:cNvPr>
          <p:cNvSpPr txBox="1"/>
          <p:nvPr/>
        </p:nvSpPr>
        <p:spPr>
          <a:xfrm>
            <a:off x="838200" y="6275953"/>
            <a:ext cx="10848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* ELI ontology for draft </a:t>
            </a:r>
            <a:r>
              <a:rPr lang="en-GB" b="0" i="1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legislation (ELI-DL</a:t>
            </a: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) is an extension of the </a:t>
            </a:r>
            <a:r>
              <a:rPr lang="en-GB" b="0" i="1" u="sng" dirty="0">
                <a:solidFill>
                  <a:srgbClr val="0A4A8F"/>
                </a:solidFill>
                <a:effectLst/>
                <a:latin typeface="Roboto" panose="02000000000000000000" pitchFamily="2" charset="0"/>
                <a:hlinkClick r:id="rId3"/>
              </a:rPr>
              <a:t>FRBRoo</a:t>
            </a: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 and </a:t>
            </a:r>
            <a:r>
              <a:rPr lang="en-GB" b="0" i="1" u="sng" dirty="0">
                <a:solidFill>
                  <a:srgbClr val="0A4A8F"/>
                </a:solidFill>
                <a:effectLst/>
                <a:latin typeface="Roboto" panose="02000000000000000000" pitchFamily="2" charset="0"/>
                <a:hlinkClick r:id="rId4"/>
              </a:rPr>
              <a:t>CIDOC-CRM</a:t>
            </a:r>
            <a:r>
              <a:rPr lang="en-GB" b="0" i="1" dirty="0">
                <a:solidFill>
                  <a:srgbClr val="242626"/>
                </a:solidFill>
                <a:effectLst/>
                <a:latin typeface="Roboto" panose="02000000000000000000" pitchFamily="2" charset="0"/>
              </a:rPr>
              <a:t> ontologies.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465777-1DEF-83F3-F5D7-048B5C4F569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b="1" dirty="0"/>
              <a:t>IDENTIFIER			</a:t>
            </a:r>
            <a:r>
              <a:rPr lang="en-GB" b="1" dirty="0" err="1"/>
              <a:t>Einheitlicher</a:t>
            </a:r>
            <a:r>
              <a:rPr lang="en-GB" b="1" dirty="0"/>
              <a:t> Aufbau der URL</a:t>
            </a:r>
          </a:p>
          <a:p>
            <a:pPr lvl="1"/>
            <a:r>
              <a:rPr lang="en-GB" dirty="0"/>
              <a:t>ELI </a:t>
            </a:r>
            <a:r>
              <a:rPr lang="en-GB" dirty="0" err="1"/>
              <a:t>kompatibel</a:t>
            </a:r>
            <a:r>
              <a:rPr lang="en-GB" dirty="0"/>
              <a:t> (</a:t>
            </a:r>
            <a:r>
              <a:rPr lang="en-GB" dirty="0" err="1"/>
              <a:t>siehe</a:t>
            </a:r>
            <a:r>
              <a:rPr lang="en-GB" dirty="0"/>
              <a:t> URI HTTP Template in “ELI Implementation Guide”)</a:t>
            </a:r>
          </a:p>
          <a:p>
            <a:pPr lvl="1"/>
            <a:r>
              <a:rPr lang="en-GB" dirty="0" err="1"/>
              <a:t>Möglicherweise</a:t>
            </a:r>
            <a:r>
              <a:rPr lang="en-GB" dirty="0"/>
              <a:t> </a:t>
            </a:r>
            <a:r>
              <a:rPr lang="en-GB" dirty="0" err="1"/>
              <a:t>mehrere</a:t>
            </a:r>
            <a:r>
              <a:rPr lang="en-GB" dirty="0"/>
              <a:t> </a:t>
            </a:r>
            <a:r>
              <a:rPr lang="en-GB" dirty="0" err="1"/>
              <a:t>Varianten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 ZH, Bund, </a:t>
            </a:r>
            <a:r>
              <a:rPr lang="en-GB" dirty="0" err="1"/>
              <a:t>harmonisiert</a:t>
            </a:r>
            <a:r>
              <a:rPr lang="en-GB" dirty="0"/>
              <a:t>)</a:t>
            </a:r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CATALOG			</a:t>
            </a:r>
            <a:r>
              <a:rPr lang="en-GB" b="1" dirty="0" err="1"/>
              <a:t>Interoperabilität</a:t>
            </a:r>
            <a:endParaRPr lang="en-GB" b="1" dirty="0"/>
          </a:p>
          <a:p>
            <a:pPr lvl="1"/>
            <a:r>
              <a:rPr lang="en-GB" dirty="0" err="1"/>
              <a:t>angelehnt</a:t>
            </a:r>
            <a:r>
              <a:rPr lang="en-GB" dirty="0"/>
              <a:t>  </a:t>
            </a:r>
            <a:r>
              <a:rPr lang="en-GB" dirty="0" err="1"/>
              <a:t>Jolux</a:t>
            </a:r>
            <a:r>
              <a:rPr lang="en-GB" dirty="0"/>
              <a:t> </a:t>
            </a:r>
            <a:r>
              <a:rPr lang="en-GB" dirty="0" err="1"/>
              <a:t>Datenmodell</a:t>
            </a:r>
            <a:r>
              <a:rPr lang="en-GB" dirty="0"/>
              <a:t> (</a:t>
            </a:r>
            <a:r>
              <a:rPr lang="en-GB" dirty="0" err="1"/>
              <a:t>gemeinsame</a:t>
            </a:r>
            <a:r>
              <a:rPr lang="en-GB" dirty="0"/>
              <a:t> </a:t>
            </a:r>
            <a:r>
              <a:rPr lang="en-GB" dirty="0" err="1"/>
              <a:t>Entwicklung</a:t>
            </a:r>
            <a:r>
              <a:rPr lang="en-GB" dirty="0"/>
              <a:t> CH &amp; LU)</a:t>
            </a:r>
          </a:p>
          <a:p>
            <a:pPr lvl="1"/>
            <a:r>
              <a:rPr lang="en-GB" dirty="0"/>
              <a:t>ELI-DL Extension für </a:t>
            </a:r>
            <a:r>
              <a:rPr lang="en-GB" dirty="0" err="1"/>
              <a:t>Gesetzgebungsprojekte</a:t>
            </a:r>
            <a:r>
              <a:rPr lang="en-GB" dirty="0"/>
              <a:t> (EU)* ?</a:t>
            </a:r>
          </a:p>
          <a:p>
            <a:pPr lvl="1"/>
            <a:r>
              <a:rPr lang="en-GB" dirty="0"/>
              <a:t>FRBR </a:t>
            </a:r>
            <a:r>
              <a:rPr lang="en-GB" dirty="0" err="1"/>
              <a:t>Dokumente</a:t>
            </a:r>
            <a:endParaRPr lang="en-GB" dirty="0"/>
          </a:p>
          <a:p>
            <a:pPr lvl="1"/>
            <a:r>
              <a:rPr lang="en-GB" dirty="0" err="1"/>
              <a:t>Struktur</a:t>
            </a:r>
            <a:r>
              <a:rPr lang="en-GB" dirty="0"/>
              <a:t> der </a:t>
            </a:r>
            <a:r>
              <a:rPr lang="en-GB" dirty="0" err="1"/>
              <a:t>Metadaten</a:t>
            </a:r>
            <a:r>
              <a:rPr lang="en-GB" dirty="0"/>
              <a:t> (s. AKN: oft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Dokumenten</a:t>
            </a:r>
            <a:r>
              <a:rPr lang="en-GB" dirty="0"/>
              <a:t> </a:t>
            </a:r>
            <a:r>
              <a:rPr lang="en-GB" dirty="0" err="1"/>
              <a:t>erzeugt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Beispiele</a:t>
            </a:r>
            <a:r>
              <a:rPr lang="en-GB" dirty="0"/>
              <a:t>: </a:t>
            </a:r>
            <a:r>
              <a:rPr lang="en-GB" dirty="0" err="1"/>
              <a:t>Gültig</a:t>
            </a:r>
            <a:r>
              <a:rPr lang="en-GB" dirty="0"/>
              <a:t>-ab (</a:t>
            </a:r>
            <a:r>
              <a:rPr lang="en-GB" dirty="0" err="1"/>
              <a:t>Inkrafttreten</a:t>
            </a:r>
            <a:r>
              <a:rPr lang="en-GB" dirty="0"/>
              <a:t>), </a:t>
            </a:r>
            <a:r>
              <a:rPr lang="en-GB" dirty="0" err="1"/>
              <a:t>Beziehungen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anderen</a:t>
            </a:r>
            <a:r>
              <a:rPr lang="en-GB" dirty="0"/>
              <a:t> </a:t>
            </a:r>
            <a:r>
              <a:rPr lang="en-GB" dirty="0" err="1"/>
              <a:t>Dokumenten</a:t>
            </a:r>
            <a:r>
              <a:rPr lang="en-GB" dirty="0"/>
              <a:t> (s. </a:t>
            </a:r>
            <a:r>
              <a:rPr lang="en-GB" dirty="0" err="1"/>
              <a:t>auch</a:t>
            </a:r>
            <a:r>
              <a:rPr lang="en-GB" dirty="0"/>
              <a:t> AKN/FRBR)</a:t>
            </a:r>
          </a:p>
        </p:txBody>
      </p:sp>
    </p:spTree>
    <p:extLst>
      <p:ext uri="{BB962C8B-B14F-4D97-AF65-F5344CB8AC3E}">
        <p14:creationId xmlns:p14="http://schemas.microsoft.com/office/powerpoint/2010/main" val="19441348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00C87-187E-743E-D500-DD4D6F5F8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59FBD-BD05-0C28-6A93-91B48E14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Vorgehen – Details (Fortsetzung)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B9F98E-1A8F-AD31-3088-AAD5011BCA2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3"/>
            </a:pPr>
            <a:r>
              <a:rPr lang="en-GB" b="1" dirty="0"/>
              <a:t>CONTENT			</a:t>
            </a:r>
            <a:r>
              <a:rPr lang="en-GB" b="1" dirty="0" err="1"/>
              <a:t>Elemente</a:t>
            </a:r>
            <a:r>
              <a:rPr lang="en-GB" b="1" dirty="0"/>
              <a:t> des </a:t>
            </a:r>
            <a:r>
              <a:rPr lang="en-GB" b="1" dirty="0" err="1"/>
              <a:t>Dokuments</a:t>
            </a:r>
            <a:endParaRPr lang="en-GB" b="1" dirty="0"/>
          </a:p>
          <a:p>
            <a:pPr lvl="1"/>
            <a:r>
              <a:rPr lang="en-GB" dirty="0"/>
              <a:t>FRBR </a:t>
            </a:r>
            <a:r>
              <a:rPr lang="en-GB" dirty="0" err="1"/>
              <a:t>Ontologie</a:t>
            </a:r>
            <a:r>
              <a:rPr lang="en-GB" dirty="0"/>
              <a:t> und AKN Standard</a:t>
            </a:r>
          </a:p>
          <a:p>
            <a:pPr lvl="1"/>
            <a:r>
              <a:rPr lang="en-GB" dirty="0"/>
              <a:t>Header: </a:t>
            </a:r>
            <a:r>
              <a:rPr lang="en-GB" dirty="0" err="1"/>
              <a:t>Struktur</a:t>
            </a:r>
            <a:r>
              <a:rPr lang="en-GB" dirty="0"/>
              <a:t> und </a:t>
            </a:r>
            <a:r>
              <a:rPr lang="en-GB" dirty="0" err="1"/>
              <a:t>Beschreibung</a:t>
            </a:r>
            <a:r>
              <a:rPr lang="en-GB" dirty="0"/>
              <a:t> des </a:t>
            </a:r>
            <a:r>
              <a:rPr lang="en-GB" dirty="0" err="1"/>
              <a:t>Dokuments</a:t>
            </a:r>
            <a:endParaRPr lang="en-GB" dirty="0"/>
          </a:p>
          <a:p>
            <a:pPr lvl="1"/>
            <a:r>
              <a:rPr lang="en-GB" dirty="0" err="1"/>
              <a:t>Beispiele</a:t>
            </a:r>
            <a:r>
              <a:rPr lang="en-GB" dirty="0"/>
              <a:t>: Titel, Artikel, </a:t>
            </a:r>
            <a:r>
              <a:rPr lang="en-GB" dirty="0" err="1"/>
              <a:t>Absatz</a:t>
            </a:r>
            <a:r>
              <a:rPr lang="en-GB" dirty="0"/>
              <a:t>, IDs der </a:t>
            </a:r>
            <a:r>
              <a:rPr lang="en-GB" dirty="0" err="1"/>
              <a:t>einzelnen</a:t>
            </a:r>
            <a:r>
              <a:rPr lang="en-GB" dirty="0"/>
              <a:t> </a:t>
            </a:r>
            <a:r>
              <a:rPr lang="en-GB" dirty="0" err="1"/>
              <a:t>Elemente</a:t>
            </a:r>
            <a:endParaRPr lang="en-GB" dirty="0"/>
          </a:p>
          <a:p>
            <a:pPr lvl="1"/>
            <a:endParaRPr lang="en-GB" dirty="0"/>
          </a:p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SEMANTIC 			</a:t>
            </a:r>
            <a:r>
              <a:rPr lang="en-GB" b="1" dirty="0" err="1"/>
              <a:t>Semantische</a:t>
            </a:r>
            <a:r>
              <a:rPr lang="en-GB" b="1" dirty="0"/>
              <a:t> </a:t>
            </a:r>
            <a:r>
              <a:rPr lang="en-GB" b="1" dirty="0" err="1"/>
              <a:t>Beschreibung</a:t>
            </a:r>
            <a:endParaRPr lang="en-GB" b="1" dirty="0"/>
          </a:p>
          <a:p>
            <a:pPr lvl="1"/>
            <a:r>
              <a:rPr lang="en-GB" dirty="0" err="1"/>
              <a:t>Inhalt</a:t>
            </a:r>
            <a:r>
              <a:rPr lang="en-GB" dirty="0"/>
              <a:t>: Was </a:t>
            </a:r>
            <a:r>
              <a:rPr lang="en-GB" dirty="0" err="1"/>
              <a:t>sagen</a:t>
            </a:r>
            <a:r>
              <a:rPr lang="en-GB" dirty="0"/>
              <a:t> die Texte </a:t>
            </a:r>
            <a:r>
              <a:rPr lang="en-GB" dirty="0" err="1"/>
              <a:t>aus</a:t>
            </a:r>
            <a:r>
              <a:rPr lang="en-GB" dirty="0"/>
              <a:t>? </a:t>
            </a:r>
          </a:p>
          <a:p>
            <a:pPr lvl="1"/>
            <a:r>
              <a:rPr lang="en-GB" dirty="0" err="1"/>
              <a:t>Maschinenlesbarkeit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56561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F047-F8CC-DCE4-AA24-CDAF5F661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- Basics</a:t>
            </a:r>
          </a:p>
        </p:txBody>
      </p:sp>
      <p:pic>
        <p:nvPicPr>
          <p:cNvPr id="2052" name="Picture 4" descr="vollständige URL">
            <a:extLst>
              <a:ext uri="{FF2B5EF4-FFF2-40B4-BE49-F238E27FC236}">
                <a16:creationId xmlns:a16="http://schemas.microsoft.com/office/drawing/2014/main" id="{DFBADF32-2484-4A5C-8572-2035C57AC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88" y="1690688"/>
            <a:ext cx="10515600" cy="101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02FDA8-815A-E173-24BE-C77ED180A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6647"/>
            <a:ext cx="10515600" cy="3470315"/>
          </a:xfrm>
        </p:spPr>
        <p:txBody>
          <a:bodyPr/>
          <a:lstStyle/>
          <a:p>
            <a:r>
              <a:rPr lang="en-CH" dirty="0"/>
              <a:t>URI ≈ URL</a:t>
            </a:r>
          </a:p>
          <a:p>
            <a:r>
              <a:rPr lang="en-CH" dirty="0"/>
              <a:t>RFC und DOI</a:t>
            </a:r>
          </a:p>
          <a:p>
            <a:r>
              <a:rPr lang="en-CH" dirty="0"/>
              <a:t>Absolute vs. relative URI</a:t>
            </a:r>
          </a:p>
          <a:p>
            <a:r>
              <a:rPr lang="en-CH" dirty="0"/>
              <a:t>Path vs. File/</a:t>
            </a:r>
            <a:r>
              <a:rPr lang="en-CH"/>
              <a:t>format (e</a:t>
            </a:r>
            <a:r>
              <a:rPr lang="en-CH" dirty="0"/>
              <a:t>.g. /myfile vs. myfile.html)</a:t>
            </a:r>
          </a:p>
          <a:p>
            <a:r>
              <a:rPr lang="en-CH" dirty="0"/>
              <a:t>Resolve &amp; Redirect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E581A4-CAFB-E40C-FFE2-A5088AED65C9}"/>
              </a:ext>
            </a:extLst>
          </p:cNvPr>
          <p:cNvCxnSpPr>
            <a:cxnSpLocks/>
          </p:cNvCxnSpPr>
          <p:nvPr/>
        </p:nvCxnSpPr>
        <p:spPr>
          <a:xfrm>
            <a:off x="4045058" y="1177871"/>
            <a:ext cx="727358" cy="594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123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19E7-1C72-591E-B90A-1CD98BF6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4728-2C94-E6E9-70F0-7E498D17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Advanced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FF7473-C4FF-FC1D-D6EC-7B94DC089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de-CH" dirty="0"/>
              <a:t>DOI</a:t>
            </a:r>
          </a:p>
          <a:p>
            <a:r>
              <a:rPr lang="de-CH" dirty="0"/>
              <a:t>URL </a:t>
            </a:r>
            <a:r>
              <a:rPr lang="de-CH" dirty="0" err="1"/>
              <a:t>as</a:t>
            </a:r>
            <a:r>
              <a:rPr lang="de-CH" dirty="0"/>
              <a:t> UI</a:t>
            </a:r>
          </a:p>
          <a:p>
            <a:r>
              <a:rPr lang="de-CH" dirty="0"/>
              <a:t>URL </a:t>
            </a:r>
            <a:r>
              <a:rPr lang="de-CH" dirty="0" err="1"/>
              <a:t>as</a:t>
            </a:r>
            <a:r>
              <a:rPr lang="de-CH" dirty="0"/>
              <a:t> </a:t>
            </a:r>
            <a:r>
              <a:rPr lang="de-CH" dirty="0" err="1"/>
              <a:t>state</a:t>
            </a:r>
            <a:endParaRPr lang="de-CH" dirty="0"/>
          </a:p>
          <a:p>
            <a:r>
              <a:rPr lang="en-CH" dirty="0"/>
              <a:t>HATEOAS</a:t>
            </a:r>
          </a:p>
          <a:p>
            <a:r>
              <a:rPr lang="en-GB" dirty="0"/>
              <a:t>O</a:t>
            </a:r>
            <a:r>
              <a:rPr lang="en-CH" dirty="0"/>
              <a:t>ptional parameters</a:t>
            </a:r>
            <a:endParaRPr lang="en-GB" dirty="0"/>
          </a:p>
          <a:p>
            <a:pPr lvl="1"/>
            <a:r>
              <a:rPr lang="en-GB" dirty="0"/>
              <a:t>Parameters / Query / </a:t>
            </a:r>
            <a:r>
              <a:rPr lang="en-GB"/>
              <a:t>Search (?)</a:t>
            </a:r>
            <a:endParaRPr lang="en-GB" dirty="0"/>
          </a:p>
          <a:p>
            <a:pPr lvl="1"/>
            <a:r>
              <a:rPr lang="en-GB" dirty="0"/>
              <a:t>Fragment / </a:t>
            </a:r>
            <a:r>
              <a:rPr lang="en-GB"/>
              <a:t>Anchor (#)</a:t>
            </a:r>
            <a:endParaRPr lang="en-GB" dirty="0"/>
          </a:p>
          <a:p>
            <a:pPr lvl="1"/>
            <a:r>
              <a:rPr lang="en-GB"/>
              <a:t>Slug (user-friendliness</a:t>
            </a:r>
            <a:r>
              <a:rPr lang="en-GB" dirty="0"/>
              <a:t>; parameter vs. path)</a:t>
            </a:r>
          </a:p>
          <a:p>
            <a:pPr lvl="2"/>
            <a:r>
              <a:rPr lang="en-GB" dirty="0"/>
              <a:t>e.g. /questions/16245767/</a:t>
            </a:r>
            <a:r>
              <a:rPr lang="en-GB" dirty="0">
                <a:highlight>
                  <a:srgbClr val="FFFF00"/>
                </a:highlight>
              </a:rPr>
              <a:t>creating-a-blob-from-a-base64-string-in-javascript</a:t>
            </a:r>
            <a:r>
              <a:rPr lang="en-GB" dirty="0"/>
              <a:t>/</a:t>
            </a:r>
          </a:p>
          <a:p>
            <a:endParaRPr lang="en-GB" dirty="0"/>
          </a:p>
          <a:p>
            <a:pPr lvl="1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08103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752EF-23C2-1FD5-2053-28EF7DBF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FE22-874C-1F68-793E-201731C3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9DD29-55AC-B5DB-16B7-6B477EF13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ELI: </a:t>
            </a:r>
            <a:r>
              <a:rPr lang="en-GB" dirty="0">
                <a:hlinkClick r:id="rId2"/>
              </a:rPr>
              <a:t>URI template for European Union legislation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naturalnumber</a:t>
            </a:r>
            <a:r>
              <a:rPr lang="en-GB" dirty="0"/>
              <a:t>}/</a:t>
            </a:r>
            <a:r>
              <a:rPr lang="en-GB" b="1" dirty="0" err="1"/>
              <a:t>oj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LU: </a:t>
            </a:r>
            <a:r>
              <a:rPr lang="en-GB" dirty="0" err="1"/>
              <a:t>Jolux</a:t>
            </a:r>
            <a:r>
              <a:rPr lang="en-GB" dirty="0"/>
              <a:t> ELI implementation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</a:t>
            </a:r>
            <a:r>
              <a:rPr lang="en-GB" b="1" dirty="0" err="1"/>
              <a:t>etat</a:t>
            </a:r>
            <a:r>
              <a:rPr lang="en-GB" b="1" dirty="0"/>
              <a:t>/leg/</a:t>
            </a:r>
            <a:r>
              <a:rPr lang="en-GB" b="1" dirty="0" err="1"/>
              <a:t>loi</a:t>
            </a:r>
            <a:r>
              <a:rPr lang="en-GB" dirty="0"/>
              <a:t>/{YYYY}/(MM)/{DD}/{</a:t>
            </a:r>
            <a:r>
              <a:rPr lang="en-GB" dirty="0" err="1"/>
              <a:t>naturalnumber</a:t>
            </a:r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CH: </a:t>
            </a:r>
            <a:r>
              <a:rPr lang="en-GB" dirty="0" err="1"/>
              <a:t>Fedlex</a:t>
            </a:r>
            <a:r>
              <a:rPr lang="en-GB" dirty="0"/>
              <a:t> ELI implementation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/{journal}/{YYYY}/{</a:t>
            </a:r>
            <a:r>
              <a:rPr lang="en-GB" dirty="0" err="1"/>
              <a:t>naturalnumber</a:t>
            </a:r>
            <a:r>
              <a:rPr lang="en-GB" dirty="0"/>
              <a:t>}</a:t>
            </a:r>
            <a:br>
              <a:rPr lang="en-GB" dirty="0"/>
            </a:br>
            <a:endParaRPr lang="en-GB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217678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5A94-3BBC-CDE0-1607-1786EB12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221C-CCD2-A27C-7D6B-2EDBA450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pic>
        <p:nvPicPr>
          <p:cNvPr id="6" name="Grafik 34">
            <a:extLst>
              <a:ext uri="{FF2B5EF4-FFF2-40B4-BE49-F238E27FC236}">
                <a16:creationId xmlns:a16="http://schemas.microsoft.com/office/drawing/2014/main" id="{F8AA719F-8AD9-B767-D84F-2EAFAB327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40" b="61078"/>
          <a:stretch>
            <a:fillRect/>
          </a:stretch>
        </p:blipFill>
        <p:spPr bwMode="auto">
          <a:xfrm>
            <a:off x="1661475" y="1690689"/>
            <a:ext cx="8869049" cy="19979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106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3D532-2254-4157-6700-9B41D7294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A097-8EA9-F4FD-6D07-D5B751BFA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pic>
        <p:nvPicPr>
          <p:cNvPr id="6" name="Grafik 34">
            <a:extLst>
              <a:ext uri="{FF2B5EF4-FFF2-40B4-BE49-F238E27FC236}">
                <a16:creationId xmlns:a16="http://schemas.microsoft.com/office/drawing/2014/main" id="{6782E9C4-5B36-7241-08CB-5CD910C5E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44" b="26914"/>
          <a:stretch>
            <a:fillRect/>
          </a:stretch>
        </p:blipFill>
        <p:spPr bwMode="auto">
          <a:xfrm>
            <a:off x="1661475" y="1690688"/>
            <a:ext cx="8869049" cy="32546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45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66B8B-242B-A9BE-8EAF-742FB6D42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15CD-BD87-EAB7-8708-46042A8D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pic>
        <p:nvPicPr>
          <p:cNvPr id="6" name="Grafik 34">
            <a:extLst>
              <a:ext uri="{FF2B5EF4-FFF2-40B4-BE49-F238E27FC236}">
                <a16:creationId xmlns:a16="http://schemas.microsoft.com/office/drawing/2014/main" id="{DB873BAA-3D18-2D2B-D822-6D61A5CDB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74" b="3038"/>
          <a:stretch>
            <a:fillRect/>
          </a:stretch>
        </p:blipFill>
        <p:spPr bwMode="auto">
          <a:xfrm>
            <a:off x="1661475" y="1690689"/>
            <a:ext cx="8869049" cy="2292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395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87DD-13B3-3411-4068-5C5BDDA7C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859D-5F1E-6802-B7DB-865CA762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ELI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958BF-896B-B1CF-6F97-635861B43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Template: </a:t>
            </a:r>
          </a:p>
          <a:p>
            <a:r>
              <a:rPr lang="de-CH" dirty="0"/>
              <a:t>«</a:t>
            </a:r>
            <a:r>
              <a:rPr lang="de-CH" dirty="0" err="1"/>
              <a:t>Jurisdiction</a:t>
            </a:r>
            <a:r>
              <a:rPr lang="de-CH" dirty="0"/>
              <a:t>»: </a:t>
            </a:r>
            <a:r>
              <a:rPr lang="de-CH" dirty="0">
                <a:highlight>
                  <a:srgbClr val="FFFF00"/>
                </a:highlight>
              </a:rPr>
              <a:t>{</a:t>
            </a:r>
            <a:r>
              <a:rPr lang="de-CH" dirty="0" err="1">
                <a:highlight>
                  <a:srgbClr val="FFFF00"/>
                </a:highlight>
              </a:rPr>
              <a:t>jurisdiction</a:t>
            </a:r>
            <a:r>
              <a:rPr lang="de-CH" dirty="0">
                <a:highlight>
                  <a:srgbClr val="FFFF00"/>
                </a:highlight>
              </a:rPr>
              <a:t>}</a:t>
            </a:r>
            <a:r>
              <a:rPr lang="de-CH" dirty="0"/>
              <a:t>/{</a:t>
            </a:r>
            <a:r>
              <a:rPr lang="de-CH" dirty="0" err="1"/>
              <a:t>agent</a:t>
            </a:r>
            <a:r>
              <a:rPr lang="de-CH" dirty="0"/>
              <a:t>}/{</a:t>
            </a:r>
            <a:r>
              <a:rPr lang="de-CH" dirty="0" err="1"/>
              <a:t>subagent</a:t>
            </a:r>
            <a:r>
              <a:rPr lang="de-CH" dirty="0"/>
              <a:t>}</a:t>
            </a:r>
          </a:p>
          <a:p>
            <a:r>
              <a:rPr lang="de-CH" dirty="0"/>
              <a:t>«Reference»: </a:t>
            </a:r>
            <a:r>
              <a:rPr lang="de-CH" dirty="0">
                <a:highlight>
                  <a:srgbClr val="FFFF00"/>
                </a:highlight>
              </a:rPr>
              <a:t>{</a:t>
            </a:r>
            <a:r>
              <a:rPr lang="de-CH" dirty="0" err="1">
                <a:highlight>
                  <a:srgbClr val="FFFF00"/>
                </a:highlight>
              </a:rPr>
              <a:t>year</a:t>
            </a:r>
            <a:r>
              <a:rPr lang="de-CH" dirty="0">
                <a:highlight>
                  <a:srgbClr val="FFFF00"/>
                </a:highlight>
              </a:rPr>
              <a:t>}/{</a:t>
            </a:r>
            <a:r>
              <a:rPr lang="de-CH" dirty="0" err="1">
                <a:highlight>
                  <a:srgbClr val="FFFF00"/>
                </a:highlight>
              </a:rPr>
              <a:t>month</a:t>
            </a:r>
            <a:r>
              <a:rPr lang="de-CH" dirty="0">
                <a:highlight>
                  <a:srgbClr val="FFFF00"/>
                </a:highlight>
              </a:rPr>
              <a:t>}</a:t>
            </a:r>
            <a:r>
              <a:rPr lang="de-CH" dirty="0"/>
              <a:t>/{</a:t>
            </a:r>
            <a:r>
              <a:rPr lang="de-CH" dirty="0" err="1"/>
              <a:t>day</a:t>
            </a:r>
            <a:r>
              <a:rPr lang="de-CH" dirty="0"/>
              <a:t>}/{type}/{</a:t>
            </a:r>
            <a:r>
              <a:rPr lang="de-CH" dirty="0" err="1"/>
              <a:t>subtype</a:t>
            </a:r>
            <a:r>
              <a:rPr lang="de-CH" dirty="0"/>
              <a:t>}/{</a:t>
            </a:r>
            <a:r>
              <a:rPr lang="de-CH" dirty="0" err="1"/>
              <a:t>domain</a:t>
            </a:r>
            <a:r>
              <a:rPr lang="de-CH" dirty="0"/>
              <a:t>}/{</a:t>
            </a:r>
            <a:r>
              <a:rPr lang="de-CH" dirty="0" err="1"/>
              <a:t>naturalidentifier</a:t>
            </a:r>
            <a:r>
              <a:rPr lang="de-CH" dirty="0"/>
              <a:t>}</a:t>
            </a:r>
          </a:p>
          <a:p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699429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D9B0-9908-DE76-AFF2-ECEEE1D6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F646-ED3C-ABE2-5EF8-0AF59870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1D03D-BF38-6694-5983-E1799DDB2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Publication Office of the European Union:</a:t>
            </a:r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naturalnumber</a:t>
            </a:r>
            <a:r>
              <a:rPr lang="en-GB" dirty="0"/>
              <a:t>}/</a:t>
            </a:r>
            <a:r>
              <a:rPr lang="en-GB" b="1" dirty="0" err="1"/>
              <a:t>oj</a:t>
            </a:r>
            <a:endParaRPr lang="en-GB" b="1" dirty="0"/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}/{year}/{natural_ number}/</a:t>
            </a:r>
            <a:r>
              <a:rPr lang="en-GB" dirty="0">
                <a:highlight>
                  <a:srgbClr val="FFFF00"/>
                </a:highlight>
              </a:rPr>
              <a:t>corrigendum</a:t>
            </a:r>
            <a:r>
              <a:rPr lang="en-GB" dirty="0"/>
              <a:t>/{</a:t>
            </a:r>
            <a:r>
              <a:rPr lang="en-GB" dirty="0" err="1"/>
              <a:t>publication_date</a:t>
            </a:r>
            <a:r>
              <a:rPr lang="en-GB" dirty="0"/>
              <a:t>}/</a:t>
            </a:r>
            <a:r>
              <a:rPr lang="en-GB" dirty="0" err="1"/>
              <a:t>oj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corrigendum</a:t>
            </a:r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natural_number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{point in time}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// point in time (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vgl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. AKN)</a:t>
            </a:r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286770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96465-8F01-CC6C-C614-3472F7800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AKN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DC3F3-BA2F-2B0A-DE1E-1A48344D3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</a:t>
            </a:r>
            <a:r>
              <a:rPr lang="en-CH" dirty="0"/>
              <a:t>ibt URL Schema vor, jedoch nicht bindend </a:t>
            </a:r>
          </a:p>
          <a:p>
            <a:pPr lvl="1"/>
            <a:r>
              <a:rPr lang="en-CH" dirty="0">
                <a:hlinkClick r:id="rId2"/>
              </a:rPr>
              <a:t>FENC – “functionally equivalent naming convention</a:t>
            </a:r>
            <a:r>
              <a:rPr lang="en-CH" dirty="0"/>
              <a:t>”</a:t>
            </a:r>
          </a:p>
          <a:p>
            <a:r>
              <a:rPr lang="en-CH" dirty="0"/>
              <a:t>FRBR Modell</a:t>
            </a:r>
          </a:p>
          <a:p>
            <a:r>
              <a:rPr lang="en-GB" dirty="0"/>
              <a:t>Sehr </a:t>
            </a:r>
            <a:r>
              <a:rPr lang="en-GB" dirty="0" err="1"/>
              <a:t>komplex</a:t>
            </a:r>
            <a:r>
              <a:rPr lang="en-GB" dirty="0"/>
              <a:t>, a</a:t>
            </a:r>
            <a:r>
              <a:rPr lang="en-CH" dirty="0"/>
              <a:t>usgeklügeltes Konzept zur Darstellung von </a:t>
            </a:r>
            <a:r>
              <a:rPr lang="en-GB" dirty="0" err="1"/>
              <a:t>Grunderlass</a:t>
            </a:r>
            <a:r>
              <a:rPr lang="en-GB" dirty="0"/>
              <a:t> </a:t>
            </a:r>
            <a:r>
              <a:rPr lang="en-GB" dirty="0" err="1"/>
              <a:t>inkl</a:t>
            </a:r>
            <a:r>
              <a:rPr lang="en-GB" dirty="0"/>
              <a:t>. </a:t>
            </a:r>
            <a:r>
              <a:rPr lang="en-GB" dirty="0" err="1"/>
              <a:t>konsolidierte</a:t>
            </a:r>
            <a:r>
              <a:rPr lang="en-GB" dirty="0"/>
              <a:t> </a:t>
            </a:r>
            <a:r>
              <a:rPr lang="en-GB" dirty="0" err="1"/>
              <a:t>Fassungen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err="1"/>
              <a:t>Versionen</a:t>
            </a:r>
            <a:r>
              <a:rPr lang="en-GB"/>
              <a:t> (Point </a:t>
            </a:r>
            <a:r>
              <a:rPr lang="en-GB" dirty="0"/>
              <a:t>in Time)</a:t>
            </a:r>
            <a:endParaRPr lang="en-CH" dirty="0"/>
          </a:p>
          <a:p>
            <a:endParaRPr lang="en-CH" dirty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CA1FDCE-DC03-87B3-9B87-45D3CCDA9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642523"/>
              </p:ext>
            </p:extLst>
          </p:nvPr>
        </p:nvGraphicFramePr>
        <p:xfrm>
          <a:off x="1010402" y="4534545"/>
          <a:ext cx="2218733" cy="1401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3" imgW="965200" imgH="609600" progId="Word.Document.12">
                  <p:embed/>
                </p:oleObj>
              </mc:Choice>
              <mc:Fallback>
                <p:oleObj name="Document" showAsIcon="1" r:id="rId3" imgW="965200" imgH="6096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0402" y="4534545"/>
                        <a:ext cx="2218733" cy="1401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3771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D569-2265-715A-41F0-D6ABC57D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C366B-2EFD-C719-972A-4F539950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Andere Identifier / Components?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70034-A568-649A-81B7-E1B79F523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Bsp. </a:t>
            </a:r>
            <a:r>
              <a:rPr lang="en-CH" dirty="0">
                <a:hlinkClick r:id="rId2"/>
              </a:rPr>
              <a:t>Art. 41 OR</a:t>
            </a:r>
            <a:endParaRPr lang="en-CH" dirty="0"/>
          </a:p>
          <a:p>
            <a:endParaRPr lang="en-CH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87390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7AD2-E8E8-F8CF-EA0A-398BA84B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013E-9010-51D1-EA40-68C342453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C3025-1D50-A07F-CAE7-AE142BA80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H" b="1" dirty="0"/>
              <a:t>Basics</a:t>
            </a:r>
          </a:p>
          <a:p>
            <a:r>
              <a:rPr lang="en-GB" dirty="0">
                <a:hlinkClick r:id="rId2"/>
              </a:rPr>
              <a:t>https://developers.google.com/search/docs/crawling-indexing/url-structure?hl=de</a:t>
            </a:r>
            <a:br>
              <a:rPr lang="en-GB" dirty="0"/>
            </a:br>
            <a:r>
              <a:rPr lang="en-GB" dirty="0"/>
              <a:t>- Best </a:t>
            </a:r>
            <a:r>
              <a:rPr lang="en-GB"/>
              <a:t>Practices (Google</a:t>
            </a:r>
            <a:r>
              <a:rPr lang="en-GB" dirty="0"/>
              <a:t>)</a:t>
            </a:r>
          </a:p>
          <a:p>
            <a:r>
              <a:rPr lang="en-GB" dirty="0">
                <a:hlinkClick r:id="rId3"/>
              </a:rPr>
              <a:t>https://developer.mozilla.org/de/docs/Learn_web_development/Howto/Web_mechanics/What_is_a_URL</a:t>
            </a:r>
            <a:br>
              <a:rPr lang="en-GB" dirty="0"/>
            </a:br>
            <a:r>
              <a:rPr lang="en-GB" dirty="0"/>
              <a:t>- URL </a:t>
            </a:r>
            <a:r>
              <a:rPr lang="en-GB"/>
              <a:t>Guidance (MDN</a:t>
            </a:r>
            <a:r>
              <a:rPr lang="en-GB" dirty="0"/>
              <a:t>)</a:t>
            </a:r>
          </a:p>
          <a:p>
            <a:r>
              <a:rPr lang="en-GB" dirty="0">
                <a:hlinkClick r:id="rId4"/>
              </a:rPr>
              <a:t>https://en.wikipedia.org/wiki/Clean_URL</a:t>
            </a:r>
            <a:br>
              <a:rPr lang="en-GB" dirty="0"/>
            </a:br>
            <a:r>
              <a:rPr lang="en-GB" dirty="0"/>
              <a:t>- Clean / Semantic </a:t>
            </a:r>
            <a:r>
              <a:rPr lang="en-GB"/>
              <a:t>URLs (Wikipedia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2347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79622-446C-C7B2-E7DA-64002360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3E28-5377-F396-C3FC-355055C95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FF0BF-476F-0DB5-8719-8BCB68ED7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H" b="1" dirty="0"/>
              <a:t>Advanced</a:t>
            </a:r>
          </a:p>
          <a:p>
            <a:r>
              <a:rPr lang="en-GB" dirty="0">
                <a:hlinkClick r:id="rId2"/>
              </a:rPr>
              <a:t>https://blog.jim-nielsen.com/2023/examples-of-great-urls/</a:t>
            </a:r>
            <a:br>
              <a:rPr lang="en-GB" dirty="0"/>
            </a:br>
            <a:r>
              <a:rPr lang="en-GB" dirty="0"/>
              <a:t>-</a:t>
            </a:r>
            <a:r>
              <a:rPr lang="en-CH" dirty="0"/>
              <a:t> Jim Nielsen</a:t>
            </a:r>
            <a:endParaRPr lang="en-GB" dirty="0"/>
          </a:p>
          <a:p>
            <a:r>
              <a:rPr lang="en-GB" dirty="0">
                <a:hlinkClick r:id="rId3"/>
              </a:rPr>
              <a:t>https://warpspire.com/posts/url-design/</a:t>
            </a:r>
            <a:br>
              <a:rPr lang="en-GB" dirty="0"/>
            </a:br>
            <a:r>
              <a:rPr lang="en-GB" dirty="0"/>
              <a:t>- URL Design</a:t>
            </a:r>
          </a:p>
          <a:p>
            <a:r>
              <a:rPr lang="en-GB" dirty="0">
                <a:hlinkClick r:id="rId4"/>
              </a:rPr>
              <a:t>https://alexpounds.com/blog/2018/12/29/four-cool-urls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Interessante</a:t>
            </a:r>
            <a:r>
              <a:rPr lang="en-GB" dirty="0"/>
              <a:t> </a:t>
            </a:r>
            <a:r>
              <a:rPr lang="en-GB" dirty="0" err="1"/>
              <a:t>Beispiele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3775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0B179-64FE-9659-23EA-76187C933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74A96-AC14-67D7-A139-D870BB61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352250-3A35-E911-9F3F-69B7E296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/>
              <a:t>URL as UI</a:t>
            </a:r>
          </a:p>
          <a:p>
            <a:r>
              <a:rPr lang="en-GB" u="sng" dirty="0">
                <a:hlinkClick r:id="rId2"/>
              </a:rPr>
              <a:t>https://github.com/django/django/compare/4.2.7</a:t>
            </a:r>
            <a:r>
              <a:rPr lang="en-GB" u="sng" dirty="0">
                <a:highlight>
                  <a:srgbClr val="FFFF00"/>
                </a:highlight>
                <a:hlinkClick r:id="rId2"/>
              </a:rPr>
              <a:t>...</a:t>
            </a:r>
            <a:r>
              <a:rPr lang="en-GB" u="sng" dirty="0">
                <a:hlinkClick r:id="rId2"/>
              </a:rPr>
              <a:t>main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- Compare two versions of a repository</a:t>
            </a:r>
          </a:p>
          <a:p>
            <a:r>
              <a:rPr lang="en-GB" dirty="0">
                <a:hlinkClick r:id="rId3"/>
              </a:rPr>
              <a:t>https://www.reddit.com/r/redditlaqueristas</a:t>
            </a:r>
            <a:r>
              <a:rPr lang="en-GB" dirty="0">
                <a:highlight>
                  <a:srgbClr val="FFFF00"/>
                </a:highlight>
                <a:hlinkClick r:id="rId3"/>
              </a:rPr>
              <a:t>.json</a:t>
            </a:r>
            <a:r>
              <a:rPr lang="en-GB" dirty="0">
                <a:highlight>
                  <a:srgbClr val="FFFF00"/>
                </a:highlight>
              </a:rPr>
              <a:t> </a:t>
            </a:r>
            <a:br>
              <a:rPr lang="en-GB" dirty="0">
                <a:highlight>
                  <a:srgbClr val="FFFF00"/>
                </a:highlight>
              </a:rPr>
            </a:br>
            <a:r>
              <a:rPr lang="en-GB" dirty="0"/>
              <a:t>- JSON view of a forum</a:t>
            </a:r>
          </a:p>
          <a:p>
            <a:r>
              <a:rPr lang="en-GB" dirty="0">
                <a:hlinkClick r:id="rId4"/>
              </a:rPr>
              <a:t>https://traintimes.org.uk/</a:t>
            </a:r>
            <a:r>
              <a:rPr lang="en-GB" dirty="0">
                <a:highlight>
                  <a:srgbClr val="FFFF00"/>
                </a:highlight>
                <a:hlinkClick r:id="rId4"/>
              </a:rPr>
              <a:t>LBG/brighton/13:30/tomorrow</a:t>
            </a:r>
            <a:r>
              <a:rPr lang="en-CH" dirty="0">
                <a:highlight>
                  <a:srgbClr val="FFFF00"/>
                </a:highlight>
              </a:rPr>
              <a:t> </a:t>
            </a:r>
            <a:br>
              <a:rPr lang="en-CH" dirty="0">
                <a:highlight>
                  <a:srgbClr val="FFFF00"/>
                </a:highlight>
              </a:rPr>
            </a:br>
            <a:r>
              <a:rPr lang="en-CH" dirty="0"/>
              <a:t>- Parameters of train rides as from, to, time of departure, day</a:t>
            </a:r>
          </a:p>
          <a:p>
            <a:pPr fontAlgn="base"/>
            <a:r>
              <a:rPr lang="en-GB" dirty="0">
                <a:hlinkClick r:id="rId5"/>
              </a:rPr>
              <a:t>https://github.com/git/git/blob/master/README.md?plain=1#</a:t>
            </a:r>
            <a:r>
              <a:rPr lang="en-GB" dirty="0">
                <a:highlight>
                  <a:srgbClr val="FFFF00"/>
                </a:highlight>
                <a:hlinkClick r:id="rId5"/>
              </a:rPr>
              <a:t>L18-L20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- Reference to and highlight multiple lines of </a:t>
            </a:r>
            <a:r>
              <a:rPr lang="en-GB"/>
              <a:t>code (’?</a:t>
            </a:r>
            <a:r>
              <a:rPr lang="en-GB" dirty="0"/>
              <a:t>plain=1’ = .md)</a:t>
            </a:r>
            <a:endParaRPr lang="en-CH" dirty="0"/>
          </a:p>
          <a:p>
            <a:pPr fontAlgn="base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1880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930D-F049-7277-6364-E3DB5AD3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6BA02-5FF3-47F2-0059-FC345CE1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URL – 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065CA2-D039-DEDB-511F-8884EB63B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H" b="1" dirty="0"/>
              <a:t>Legal Domain</a:t>
            </a:r>
            <a:endParaRPr lang="en-GB" dirty="0"/>
          </a:p>
          <a:p>
            <a:r>
              <a:rPr lang="en-GB" dirty="0">
                <a:hlinkClick r:id="rId2"/>
              </a:rPr>
              <a:t>https://fedlex.admin.ch/</a:t>
            </a:r>
            <a:r>
              <a:rPr lang="en-GB" dirty="0"/>
              <a:t> 		(</a:t>
            </a:r>
            <a:r>
              <a:rPr lang="en-GB" dirty="0" err="1"/>
              <a:t>offiziell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Rechtssammlung</a:t>
            </a:r>
            <a:r>
              <a:rPr lang="en-GB" dirty="0"/>
              <a:t> Bund</a:t>
            </a:r>
            <a:endParaRPr lang="en-GB" dirty="0">
              <a:hlinkClick r:id="rId3"/>
            </a:endParaRPr>
          </a:p>
          <a:p>
            <a:r>
              <a:rPr lang="en-GB" dirty="0">
                <a:hlinkClick r:id="rId2"/>
              </a:rPr>
              <a:t>https://zhlex.ch/</a:t>
            </a:r>
            <a:r>
              <a:rPr lang="en-GB" dirty="0"/>
              <a:t> 				(</a:t>
            </a:r>
            <a:r>
              <a:rPr lang="en-GB" dirty="0" err="1"/>
              <a:t>offiziell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Rechtssamlung</a:t>
            </a:r>
            <a:r>
              <a:rPr lang="en-GB" dirty="0"/>
              <a:t> Kanton ZH</a:t>
            </a:r>
            <a:endParaRPr lang="en-GB" dirty="0">
              <a:hlinkClick r:id="rId3"/>
            </a:endParaRPr>
          </a:p>
          <a:p>
            <a:r>
              <a:rPr lang="en-GB" dirty="0">
                <a:hlinkClick r:id="rId3"/>
              </a:rPr>
              <a:t>https://bger.li/OR_41</a:t>
            </a:r>
            <a:r>
              <a:rPr lang="en-GB" dirty="0"/>
              <a:t> 			(</a:t>
            </a:r>
            <a:r>
              <a:rPr lang="en-GB" dirty="0" err="1"/>
              <a:t>privat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-&gt; </a:t>
            </a:r>
            <a:r>
              <a:rPr lang="en-GB" dirty="0" err="1"/>
              <a:t>über</a:t>
            </a:r>
            <a:r>
              <a:rPr lang="en-GB" dirty="0"/>
              <a:t> URL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Fundstelle</a:t>
            </a:r>
            <a:r>
              <a:rPr lang="en-GB" dirty="0"/>
              <a:t> </a:t>
            </a:r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Gesetzestext</a:t>
            </a:r>
            <a:endParaRPr lang="en-GB" dirty="0">
              <a:hlinkClick r:id="rId3"/>
            </a:endParaRPr>
          </a:p>
          <a:p>
            <a:r>
              <a:rPr lang="en-GB" dirty="0">
                <a:hlinkClick r:id="rId3"/>
              </a:rPr>
              <a:t>https://gsetz.li</a:t>
            </a:r>
            <a:r>
              <a:rPr lang="en-GB" dirty="0"/>
              <a:t>  				(</a:t>
            </a:r>
            <a:r>
              <a:rPr lang="en-GB" dirty="0" err="1"/>
              <a:t>privat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-&gt; </a:t>
            </a:r>
            <a:r>
              <a:rPr lang="en-GB" dirty="0" err="1"/>
              <a:t>über</a:t>
            </a:r>
            <a:r>
              <a:rPr lang="en-GB" dirty="0"/>
              <a:t> das UI </a:t>
            </a:r>
            <a:r>
              <a:rPr lang="en-GB" dirty="0" err="1"/>
              <a:t>zum</a:t>
            </a:r>
            <a:r>
              <a:rPr lang="en-GB" dirty="0"/>
              <a:t> </a:t>
            </a:r>
            <a:r>
              <a:rPr lang="en-GB" dirty="0" err="1"/>
              <a:t>Gesetzestext</a:t>
            </a:r>
            <a:r>
              <a:rPr lang="en-GB" dirty="0"/>
              <a:t>, </a:t>
            </a:r>
            <a:r>
              <a:rPr lang="en-GB" dirty="0" err="1"/>
              <a:t>z.B.</a:t>
            </a:r>
            <a:r>
              <a:rPr lang="en-GB" dirty="0"/>
              <a:t> FR-</a:t>
            </a:r>
            <a:r>
              <a:rPr lang="en-GB" dirty="0">
                <a:hlinkClick r:id="rId4"/>
              </a:rPr>
              <a:t>KOBV</a:t>
            </a:r>
            <a:r>
              <a:rPr lang="en-GB" dirty="0"/>
              <a:t> (</a:t>
            </a:r>
            <a:r>
              <a:rPr lang="en-GB" dirty="0" err="1"/>
              <a:t>siehe</a:t>
            </a:r>
            <a:r>
              <a:rPr lang="en-GB" dirty="0"/>
              <a:t> /about)</a:t>
            </a:r>
            <a:endParaRPr lang="en-CH" dirty="0"/>
          </a:p>
          <a:p>
            <a:r>
              <a:rPr lang="en-GB" dirty="0">
                <a:hlinkClick r:id="rId5"/>
              </a:rPr>
              <a:t>https://www.zhlaw.ch/</a:t>
            </a:r>
            <a:r>
              <a:rPr lang="en-GB" dirty="0"/>
              <a:t> 			(</a:t>
            </a:r>
            <a:r>
              <a:rPr lang="en-GB" dirty="0" err="1"/>
              <a:t>privat</a:t>
            </a:r>
            <a:r>
              <a:rPr lang="en-GB" dirty="0"/>
              <a:t>) </a:t>
            </a:r>
            <a:br>
              <a:rPr lang="en-GB" dirty="0"/>
            </a:br>
            <a:r>
              <a:rPr lang="en-GB" dirty="0"/>
              <a:t>- </a:t>
            </a:r>
            <a:r>
              <a:rPr lang="en-GB" dirty="0" err="1"/>
              <a:t>Rechtssamlung</a:t>
            </a:r>
            <a:r>
              <a:rPr lang="en-GB" dirty="0"/>
              <a:t> Kanton ZH</a:t>
            </a:r>
          </a:p>
        </p:txBody>
      </p:sp>
    </p:spTree>
    <p:extLst>
      <p:ext uri="{BB962C8B-B14F-4D97-AF65-F5344CB8AC3E}">
        <p14:creationId xmlns:p14="http://schemas.microsoft.com/office/powerpoint/2010/main" val="203301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10666</TotalTime>
  <Words>907</Words>
  <Application>Microsoft Macintosh PowerPoint</Application>
  <PresentationFormat>Widescreen</PresentationFormat>
  <Paragraphs>101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Roboto</vt:lpstr>
      <vt:lpstr>Office Theme</vt:lpstr>
      <vt:lpstr>Document</vt:lpstr>
      <vt:lpstr>eCH Politische Geschäfte</vt:lpstr>
      <vt:lpstr>Agenda</vt:lpstr>
      <vt:lpstr>Vorgehen - Überblick</vt:lpstr>
      <vt:lpstr>Vorgehen – Details</vt:lpstr>
      <vt:lpstr>Vorgehen – Details (Fortsetzung)</vt:lpstr>
      <vt:lpstr>URL - Basics</vt:lpstr>
      <vt:lpstr>URL – Advanced</vt:lpstr>
      <vt:lpstr>URL – ELI</vt:lpstr>
      <vt:lpstr>URL – ELI Components</vt:lpstr>
      <vt:lpstr>URL – ELI Components</vt:lpstr>
      <vt:lpstr>URL – ELI Components</vt:lpstr>
      <vt:lpstr>URL – ELI Components</vt:lpstr>
      <vt:lpstr>URL – Examples</vt:lpstr>
      <vt:lpstr>URL – AKN</vt:lpstr>
      <vt:lpstr>URL – Andere Identifier / Components?</vt:lpstr>
      <vt:lpstr>URL – References</vt:lpstr>
      <vt:lpstr>URL – References</vt:lpstr>
      <vt:lpstr>URL – References</vt:lpstr>
      <vt:lpstr>URL –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Gajdos</dc:creator>
  <cp:lastModifiedBy>Martin</cp:lastModifiedBy>
  <cp:revision>45</cp:revision>
  <dcterms:created xsi:type="dcterms:W3CDTF">2025-12-03T08:50:39Z</dcterms:created>
  <dcterms:modified xsi:type="dcterms:W3CDTF">2026-04-22T11:48:34Z</dcterms:modified>
</cp:coreProperties>
</file>