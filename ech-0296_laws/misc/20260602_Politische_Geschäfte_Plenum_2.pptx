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 Black"/>
      <p:bold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Quattrocento Sans"/>
      <p:regular r:id="rId31"/>
      <p:bold r:id="rId32"/>
      <p:italic r:id="rId33"/>
      <p:boldItalic r:id="rId34"/>
    </p:embeddedFont>
    <p:embeddedFont>
      <p:font typeface="Helvetica Neue"/>
      <p:regular r:id="rId35"/>
      <p:bold r:id="rId36"/>
      <p:italic r:id="rId37"/>
      <p:boldItalic r:id="rId38"/>
    </p:embeddedFont>
    <p:embeddedFont>
      <p:font typeface="Roboto Light"/>
      <p:regular r:id="rId39"/>
      <p:bold r:id="rId40"/>
      <p:italic r:id="rId41"/>
      <p:boldItalic r:id="rId42"/>
    </p:embeddedFont>
    <p:embeddedFont>
      <p:font typeface="Helvetica Neue Light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F4D95F-77B8-40FE-BC4D-E89AF17CE624}">
  <a:tblStyle styleId="{C6F4D95F-77B8-40FE-BC4D-E89AF17CE6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bold.fntdata"/><Relationship Id="rId20" Type="http://schemas.openxmlformats.org/officeDocument/2006/relationships/slide" Target="slides/slide15.xml"/><Relationship Id="rId42" Type="http://schemas.openxmlformats.org/officeDocument/2006/relationships/font" Target="fonts/RobotoLight-boldItalic.fntdata"/><Relationship Id="rId41" Type="http://schemas.openxmlformats.org/officeDocument/2006/relationships/font" Target="fonts/RobotoLight-italic.fntdata"/><Relationship Id="rId22" Type="http://schemas.openxmlformats.org/officeDocument/2006/relationships/slide" Target="slides/slide17.xml"/><Relationship Id="rId44" Type="http://schemas.openxmlformats.org/officeDocument/2006/relationships/font" Target="fonts/HelveticaNeueLight-bold.fntdata"/><Relationship Id="rId21" Type="http://schemas.openxmlformats.org/officeDocument/2006/relationships/slide" Target="slides/slide16.xml"/><Relationship Id="rId43" Type="http://schemas.openxmlformats.org/officeDocument/2006/relationships/font" Target="fonts/HelveticaNeueLight-regular.fntdata"/><Relationship Id="rId24" Type="http://schemas.openxmlformats.org/officeDocument/2006/relationships/slide" Target="slides/slide19.xml"/><Relationship Id="rId46" Type="http://schemas.openxmlformats.org/officeDocument/2006/relationships/font" Target="fonts/HelveticaNeueLight-boldItalic.fntdata"/><Relationship Id="rId23" Type="http://schemas.openxmlformats.org/officeDocument/2006/relationships/slide" Target="slides/slide18.xml"/><Relationship Id="rId45" Type="http://schemas.openxmlformats.org/officeDocument/2006/relationships/font" Target="fonts/HelveticaNeueLigh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Black-boldItalic.fntdata"/><Relationship Id="rId25" Type="http://schemas.openxmlformats.org/officeDocument/2006/relationships/font" Target="fonts/RobotoBlack-bold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QuattrocentoSans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33" Type="http://schemas.openxmlformats.org/officeDocument/2006/relationships/font" Target="fonts/QuattrocentoSans-italic.fntdata"/><Relationship Id="rId10" Type="http://schemas.openxmlformats.org/officeDocument/2006/relationships/slide" Target="slides/slide5.xml"/><Relationship Id="rId32" Type="http://schemas.openxmlformats.org/officeDocument/2006/relationships/font" Target="fonts/QuattrocentoSans-bold.fntdata"/><Relationship Id="rId13" Type="http://schemas.openxmlformats.org/officeDocument/2006/relationships/slide" Target="slides/slide8.xml"/><Relationship Id="rId35" Type="http://schemas.openxmlformats.org/officeDocument/2006/relationships/font" Target="fonts/HelveticaNeue-regular.fntdata"/><Relationship Id="rId12" Type="http://schemas.openxmlformats.org/officeDocument/2006/relationships/slide" Target="slides/slide7.xml"/><Relationship Id="rId34" Type="http://schemas.openxmlformats.org/officeDocument/2006/relationships/font" Target="fonts/QuattrocentoSans-boldItalic.fntdata"/><Relationship Id="rId15" Type="http://schemas.openxmlformats.org/officeDocument/2006/relationships/slide" Target="slides/slide10.xml"/><Relationship Id="rId37" Type="http://schemas.openxmlformats.org/officeDocument/2006/relationships/font" Target="fonts/HelveticaNeue-italic.fntdata"/><Relationship Id="rId14" Type="http://schemas.openxmlformats.org/officeDocument/2006/relationships/slide" Target="slides/slide9.xml"/><Relationship Id="rId36" Type="http://schemas.openxmlformats.org/officeDocument/2006/relationships/font" Target="fonts/HelveticaNeue-bold.fntdata"/><Relationship Id="rId17" Type="http://schemas.openxmlformats.org/officeDocument/2006/relationships/slide" Target="slides/slide12.xml"/><Relationship Id="rId39" Type="http://schemas.openxmlformats.org/officeDocument/2006/relationships/font" Target="fonts/RobotoLight-regular.fntdata"/><Relationship Id="rId16" Type="http://schemas.openxmlformats.org/officeDocument/2006/relationships/slide" Target="slides/slide11.xml"/><Relationship Id="rId38" Type="http://schemas.openxmlformats.org/officeDocument/2006/relationships/font" Target="fonts/HelveticaNeue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755d6bfac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2755d6bfac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47775b899_4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347775b899_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347775b899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347775b899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5dd6040b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5dd6040b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5dd6040b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e5dd6040b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72edb415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e72edb415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5e7c861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e5e7c861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https://github.com/swiss/political-affairs-ech-group/blob/main/ech-0292_meta/misc/meetingnotes.md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5dd6040b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e5dd6040b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72edb415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e72edb415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https://github.com/swiss/political-affairs-ech-group/blob/main/ech-0292_meta/misc/meetingnotes.md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5dd6040b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e5dd6040b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5dd6040b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e5dd6040b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5dd6040b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e5dd6040b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5dd6040b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e5dd6040b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72edb415c_1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e72edb415c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72edb415c_18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e72edb415c_18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72edb415c_18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e72edb415c_18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e5dd6040bd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e5dd6040b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5dd6040b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e5dd6040b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e5dd6040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e5dd6040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light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228600" y="228600"/>
            <a:ext cx="4284000" cy="23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2743200"/>
            <a:ext cx="4284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13" name="Google Shape;13;p2"/>
          <p:cNvCxnSpPr/>
          <p:nvPr/>
        </p:nvCxnSpPr>
        <p:spPr>
          <a:xfrm>
            <a:off x="228600" y="2647950"/>
            <a:ext cx="61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light">
  <p:cSld name="CUSTOM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-7007" y="5042975"/>
            <a:ext cx="9158100" cy="107700"/>
          </a:xfrm>
          <a:prstGeom prst="rect">
            <a:avLst/>
          </a:prstGeom>
          <a:solidFill>
            <a:srgbClr val="E6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words - dark">
  <p:cSld name="CUSTOM_8_1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28600" y="228600"/>
            <a:ext cx="7219200" cy="43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>
                <a:solidFill>
                  <a:srgbClr val="FFFFFF"/>
                </a:solidFill>
              </a:defRPr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ark">
  <p:cSld name="CUSTOM_4">
    <p:bg>
      <p:bgPr>
        <a:solidFill>
          <a:schemeClr val="dk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dark">
  <p:cSld name="TITLE_1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ctrTitle"/>
          </p:nvPr>
        </p:nvSpPr>
        <p:spPr>
          <a:xfrm>
            <a:off x="228600" y="228600"/>
            <a:ext cx="4284000" cy="15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1" name="Google Shape;21;p6"/>
          <p:cNvSpPr txBox="1"/>
          <p:nvPr>
            <p:ph idx="1" type="subTitle"/>
          </p:nvPr>
        </p:nvSpPr>
        <p:spPr>
          <a:xfrm>
            <a:off x="228600" y="2743825"/>
            <a:ext cx="4284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light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228600" y="228600"/>
            <a:ext cx="3550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9pPr>
          </a:lstStyle>
          <a:p/>
        </p:txBody>
      </p:sp>
      <p:sp>
        <p:nvSpPr>
          <p:cNvPr id="24" name="Google Shape;24;p7"/>
          <p:cNvSpPr txBox="1"/>
          <p:nvPr/>
        </p:nvSpPr>
        <p:spPr>
          <a:xfrm>
            <a:off x="4663440" y="228600"/>
            <a:ext cx="4011600" cy="43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4631400" y="228600"/>
            <a:ext cx="4276500" cy="44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―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―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―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―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●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2" type="subTitle"/>
          </p:nvPr>
        </p:nvSpPr>
        <p:spPr>
          <a:xfrm>
            <a:off x="228600" y="1421200"/>
            <a:ext cx="35502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light">
  <p:cSld name="TITLE_AND_BODY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228600" y="228600"/>
            <a:ext cx="8671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9pPr>
          </a:lstStyle>
          <a:p/>
        </p:txBody>
      </p:sp>
      <p:sp>
        <p:nvSpPr>
          <p:cNvPr id="29" name="Google Shape;29;p8"/>
          <p:cNvSpPr txBox="1"/>
          <p:nvPr>
            <p:ph idx="1" type="subTitle"/>
          </p:nvPr>
        </p:nvSpPr>
        <p:spPr>
          <a:xfrm>
            <a:off x="228600" y="723900"/>
            <a:ext cx="64854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30" name="Google Shape;30;p8"/>
          <p:cNvSpPr/>
          <p:nvPr/>
        </p:nvSpPr>
        <p:spPr>
          <a:xfrm>
            <a:off x="-7007" y="5042975"/>
            <a:ext cx="9158100" cy="107700"/>
          </a:xfrm>
          <a:prstGeom prst="rect">
            <a:avLst/>
          </a:prstGeom>
          <a:solidFill>
            <a:srgbClr val="FF2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words - light">
  <p:cSld name="CUSTOM_8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228600" y="228600"/>
            <a:ext cx="7219200" cy="43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9pPr>
          </a:lstStyle>
          <a:p/>
        </p:txBody>
      </p:sp>
      <p:sp>
        <p:nvSpPr>
          <p:cNvPr id="33" name="Google Shape;33;p9"/>
          <p:cNvSpPr/>
          <p:nvPr/>
        </p:nvSpPr>
        <p:spPr>
          <a:xfrm>
            <a:off x="-7007" y="5042975"/>
            <a:ext cx="9158100" cy="107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ccent - dark">
  <p:cSld name="CUSTOM_4_1">
    <p:bg>
      <p:bgPr>
        <a:solidFill>
          <a:schemeClr val="accen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half-and-half">
  <p:cSld name="CUSTOM_5">
    <p:bg>
      <p:bgPr>
        <a:solidFill>
          <a:schemeClr val="accent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4512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1"/>
          <p:cNvSpPr txBox="1"/>
          <p:nvPr>
            <p:ph type="title"/>
          </p:nvPr>
        </p:nvSpPr>
        <p:spPr>
          <a:xfrm>
            <a:off x="228600" y="228600"/>
            <a:ext cx="42840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/>
        </p:nvSpPr>
        <p:spPr>
          <a:xfrm>
            <a:off x="228600" y="1787075"/>
            <a:ext cx="5921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11"/>
          <p:cNvSpPr txBox="1"/>
          <p:nvPr>
            <p:ph idx="1" type="body"/>
          </p:nvPr>
        </p:nvSpPr>
        <p:spPr>
          <a:xfrm>
            <a:off x="228600" y="1229700"/>
            <a:ext cx="4229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―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―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―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―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●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2" type="body"/>
          </p:nvPr>
        </p:nvSpPr>
        <p:spPr>
          <a:xfrm>
            <a:off x="4631400" y="1229700"/>
            <a:ext cx="4284000" cy="3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―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―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―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―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●"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ation - light">
  <p:cSld name="CUSTOM_2_1_1">
    <p:bg>
      <p:bgPr>
        <a:solidFill>
          <a:srgbClr val="9E9E9E">
            <a:alpha val="0"/>
          </a:srgbClr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>
            <a:off x="383000" y="523125"/>
            <a:ext cx="4863300" cy="4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i="1" sz="3600">
                <a:solidFill>
                  <a:srgbClr val="000000"/>
                </a:solidFill>
              </a:defRPr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rgbClr val="000000"/>
                </a:solidFill>
              </a:defRPr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rgbClr val="000000"/>
                </a:solidFill>
              </a:defRPr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rgbClr val="000000"/>
                </a:solidFill>
              </a:defRPr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rgbClr val="000000"/>
                </a:solidFill>
              </a:defRPr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rgbClr val="000000"/>
                </a:solidFill>
              </a:defRPr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rgbClr val="000000"/>
                </a:solidFill>
              </a:defRPr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rgbClr val="000000"/>
                </a:solidFill>
              </a:defRPr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6" name="Google Shape;46;p12"/>
          <p:cNvSpPr txBox="1"/>
          <p:nvPr>
            <p:ph idx="1" type="subTitle"/>
          </p:nvPr>
        </p:nvSpPr>
        <p:spPr>
          <a:xfrm>
            <a:off x="6099000" y="522900"/>
            <a:ext cx="2816400" cy="4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solidFill>
                  <a:schemeClr val="lt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47" name="Google Shape;47;p12"/>
          <p:cNvSpPr/>
          <p:nvPr/>
        </p:nvSpPr>
        <p:spPr>
          <a:xfrm>
            <a:off x="-7007" y="5042975"/>
            <a:ext cx="9158100" cy="107700"/>
          </a:xfrm>
          <a:prstGeom prst="rect">
            <a:avLst/>
          </a:prstGeom>
          <a:solidFill>
            <a:srgbClr val="FF2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ark">
  <p:cSld name="SECTION_HEADER_1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631400" y="494300"/>
            <a:ext cx="4284000" cy="207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1pPr>
            <a:lvl2pPr lvl="1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2pPr>
            <a:lvl3pPr lvl="2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3pPr>
            <a:lvl4pPr lvl="3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4pPr>
            <a:lvl5pPr lvl="4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5pPr>
            <a:lvl6pPr lvl="5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6pPr>
            <a:lvl7pPr lvl="6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7pPr>
            <a:lvl8pPr lvl="7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8pPr>
            <a:lvl9pPr lvl="8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4631400" y="3370100"/>
            <a:ext cx="4284000" cy="13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cxnSp>
        <p:nvCxnSpPr>
          <p:cNvPr id="52" name="Google Shape;52;p13"/>
          <p:cNvCxnSpPr/>
          <p:nvPr/>
        </p:nvCxnSpPr>
        <p:spPr>
          <a:xfrm>
            <a:off x="4631400" y="2970950"/>
            <a:ext cx="6171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light 1">
  <p:cSld name="TITLE_AND_BODY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0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9pPr>
          </a:lstStyle>
          <a:p/>
        </p:txBody>
      </p:sp>
      <p:sp>
        <p:nvSpPr>
          <p:cNvPr id="56" name="Google Shape;56;p14"/>
          <p:cNvSpPr txBox="1"/>
          <p:nvPr/>
        </p:nvSpPr>
        <p:spPr>
          <a:xfrm>
            <a:off x="4663440" y="228600"/>
            <a:ext cx="4011600" cy="43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4631400" y="228600"/>
            <a:ext cx="4276500" cy="44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―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―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―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―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●"/>
              <a:defRPr/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-7007" y="5042975"/>
            <a:ext cx="9158100" cy="107700"/>
          </a:xfrm>
          <a:prstGeom prst="rect">
            <a:avLst/>
          </a:prstGeom>
          <a:solidFill>
            <a:srgbClr val="FF2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228600" y="1581000"/>
            <a:ext cx="35502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dark">
  <p:cSld name="TITLE_AND_BODY_2"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228600" y="228600"/>
            <a:ext cx="3550200" cy="13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4631400" y="228600"/>
            <a:ext cx="4284000" cy="44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―"/>
              <a:defRPr>
                <a:solidFill>
                  <a:srgbClr val="FFFFFF"/>
                </a:solidFill>
              </a:defRPr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―"/>
              <a:defRPr>
                <a:solidFill>
                  <a:srgbClr val="FFFFFF"/>
                </a:solidFill>
              </a:defRPr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―"/>
              <a:defRPr>
                <a:solidFill>
                  <a:srgbClr val="FFFFFF"/>
                </a:solidFill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―"/>
              <a:defRPr>
                <a:solidFill>
                  <a:srgbClr val="FFFFFF"/>
                </a:solidFill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228600" y="1581000"/>
            <a:ext cx="35502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FFFFFF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ccent - light">
  <p:cSld name="CUSTOM_9">
    <p:bg>
      <p:bgPr>
        <a:solidFill>
          <a:schemeClr val="accent2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light 3/4">
  <p:cSld name="CUSTOM_3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idx="1" type="subTitle"/>
          </p:nvPr>
        </p:nvSpPr>
        <p:spPr>
          <a:xfrm>
            <a:off x="228600" y="228600"/>
            <a:ext cx="2000400" cy="41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200"/>
            </a:lvl9pPr>
          </a:lstStyle>
          <a:p/>
        </p:txBody>
      </p:sp>
      <p:sp>
        <p:nvSpPr>
          <p:cNvPr id="70" name="Google Shape;70;p17"/>
          <p:cNvSpPr/>
          <p:nvPr/>
        </p:nvSpPr>
        <p:spPr>
          <a:xfrm>
            <a:off x="-7007" y="5042975"/>
            <a:ext cx="9158100" cy="107700"/>
          </a:xfrm>
          <a:prstGeom prst="rect">
            <a:avLst/>
          </a:prstGeom>
          <a:solidFill>
            <a:srgbClr val="FF2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ccent - light">
  <p:cSld name="SECTION_HEADER_3">
    <p:bg>
      <p:bgPr>
        <a:solidFill>
          <a:schemeClr val="accent2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4631400" y="494300"/>
            <a:ext cx="4284000" cy="207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74" name="Google Shape;74;p18"/>
          <p:cNvSpPr txBox="1"/>
          <p:nvPr>
            <p:ph idx="1" type="subTitle"/>
          </p:nvPr>
        </p:nvSpPr>
        <p:spPr>
          <a:xfrm>
            <a:off x="4631400" y="3370100"/>
            <a:ext cx="4284000" cy="13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cxnSp>
        <p:nvCxnSpPr>
          <p:cNvPr id="75" name="Google Shape;75;p18"/>
          <p:cNvCxnSpPr/>
          <p:nvPr/>
        </p:nvCxnSpPr>
        <p:spPr>
          <a:xfrm>
            <a:off x="4631400" y="2970950"/>
            <a:ext cx="61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ation - dark">
  <p:cSld name="CUSTOM_2_2"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/>
        </p:nvSpPr>
        <p:spPr>
          <a:xfrm>
            <a:off x="50150" y="-162150"/>
            <a:ext cx="904500" cy="1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Arial"/>
              <a:buNone/>
            </a:pPr>
            <a:r>
              <a:t/>
            </a:r>
            <a:endParaRPr b="0" i="0" sz="12600" u="none" cap="none" strike="noStrike">
              <a:solidFill>
                <a:srgbClr val="9E9E9E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9" name="Google Shape;79;p19"/>
          <p:cNvSpPr txBox="1"/>
          <p:nvPr>
            <p:ph type="title"/>
          </p:nvPr>
        </p:nvSpPr>
        <p:spPr>
          <a:xfrm>
            <a:off x="383000" y="523125"/>
            <a:ext cx="4863300" cy="4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i="1" sz="3600">
                <a:solidFill>
                  <a:srgbClr val="FFFFFF"/>
                </a:solidFill>
              </a:defRPr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80" name="Google Shape;80;p19"/>
          <p:cNvSpPr txBox="1"/>
          <p:nvPr>
            <p:ph idx="1" type="subTitle"/>
          </p:nvPr>
        </p:nvSpPr>
        <p:spPr>
          <a:xfrm>
            <a:off x="6099000" y="522900"/>
            <a:ext cx="2816400" cy="4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 section header - accent - dark">
  <p:cSld name="SECTION_HEADER_1_1_1">
    <p:bg>
      <p:bgPr>
        <a:solidFill>
          <a:schemeClr val="accen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type="title"/>
          </p:nvPr>
        </p:nvSpPr>
        <p:spPr>
          <a:xfrm>
            <a:off x="4631400" y="2218825"/>
            <a:ext cx="4284000" cy="20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1pPr>
            <a:lvl2pPr lvl="1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2pPr>
            <a:lvl3pPr lvl="2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3pPr>
            <a:lvl4pPr lvl="3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4pPr>
            <a:lvl5pPr lvl="4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5pPr>
            <a:lvl6pPr lvl="5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6pPr>
            <a:lvl7pPr lvl="6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7pPr>
            <a:lvl8pPr lvl="7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8pPr>
            <a:lvl9pPr lvl="8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84" name="Google Shape;84;p20"/>
          <p:cNvCxnSpPr/>
          <p:nvPr/>
        </p:nvCxnSpPr>
        <p:spPr>
          <a:xfrm>
            <a:off x="4631400" y="1928135"/>
            <a:ext cx="6171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20"/>
          <p:cNvSpPr txBox="1"/>
          <p:nvPr>
            <p:ph idx="1" type="subTitle"/>
          </p:nvPr>
        </p:nvSpPr>
        <p:spPr>
          <a:xfrm>
            <a:off x="4631400" y="1065625"/>
            <a:ext cx="42840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 - dark">
  <p:cSld name="CUSTOM_7">
    <p:bg>
      <p:bgPr>
        <a:solidFill>
          <a:srgbClr val="00000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Marigold">
  <p:cSld name="TITLE_3">
    <p:bg>
      <p:bgPr>
        <a:solidFill>
          <a:schemeClr val="accen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type="ctrTitle"/>
          </p:nvPr>
        </p:nvSpPr>
        <p:spPr>
          <a:xfrm>
            <a:off x="228600" y="228600"/>
            <a:ext cx="4284000" cy="23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1" name="Google Shape;91;p22"/>
          <p:cNvSpPr txBox="1"/>
          <p:nvPr>
            <p:ph idx="1" type="subTitle"/>
          </p:nvPr>
        </p:nvSpPr>
        <p:spPr>
          <a:xfrm>
            <a:off x="228600" y="2743200"/>
            <a:ext cx="4284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92" name="Google Shape;92;p22"/>
          <p:cNvCxnSpPr/>
          <p:nvPr/>
        </p:nvCxnSpPr>
        <p:spPr>
          <a:xfrm>
            <a:off x="228600" y="2618575"/>
            <a:ext cx="61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Navel">
  <p:cSld name="TITLE_3_1">
    <p:bg>
      <p:bgPr>
        <a:solidFill>
          <a:schemeClr val="accent3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/>
          <p:nvPr>
            <p:ph type="ctrTitle"/>
          </p:nvPr>
        </p:nvSpPr>
        <p:spPr>
          <a:xfrm>
            <a:off x="228600" y="228600"/>
            <a:ext cx="4284000" cy="23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6" name="Google Shape;96;p23"/>
          <p:cNvSpPr txBox="1"/>
          <p:nvPr>
            <p:ph idx="1" type="subTitle"/>
          </p:nvPr>
        </p:nvSpPr>
        <p:spPr>
          <a:xfrm>
            <a:off x="228600" y="2743200"/>
            <a:ext cx="4284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97" name="Google Shape;97;p23"/>
          <p:cNvCxnSpPr/>
          <p:nvPr/>
        </p:nvCxnSpPr>
        <p:spPr>
          <a:xfrm>
            <a:off x="228600" y="2618575"/>
            <a:ext cx="61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Pool">
  <p:cSld name="TITLE_3_1_1">
    <p:bg>
      <p:bgPr>
        <a:solidFill>
          <a:schemeClr val="accent6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type="ctrTitle"/>
          </p:nvPr>
        </p:nvSpPr>
        <p:spPr>
          <a:xfrm>
            <a:off x="228600" y="228600"/>
            <a:ext cx="4284000" cy="23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1" name="Google Shape;101;p24"/>
          <p:cNvSpPr txBox="1"/>
          <p:nvPr>
            <p:ph idx="1" type="subTitle"/>
          </p:nvPr>
        </p:nvSpPr>
        <p:spPr>
          <a:xfrm>
            <a:off x="228600" y="2743200"/>
            <a:ext cx="4284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102" name="Google Shape;102;p24"/>
          <p:cNvCxnSpPr/>
          <p:nvPr/>
        </p:nvCxnSpPr>
        <p:spPr>
          <a:xfrm>
            <a:off x="228600" y="2618575"/>
            <a:ext cx="61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Grass">
  <p:cSld name="TITLE_3_1_1_1">
    <p:bg>
      <p:bgPr>
        <a:solidFill>
          <a:schemeClr val="accent5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/>
          <p:nvPr>
            <p:ph type="ctrTitle"/>
          </p:nvPr>
        </p:nvSpPr>
        <p:spPr>
          <a:xfrm>
            <a:off x="228600" y="228600"/>
            <a:ext cx="4284000" cy="23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6" name="Google Shape;106;p25"/>
          <p:cNvSpPr txBox="1"/>
          <p:nvPr>
            <p:ph idx="1" type="subTitle"/>
          </p:nvPr>
        </p:nvSpPr>
        <p:spPr>
          <a:xfrm>
            <a:off x="228600" y="2743200"/>
            <a:ext cx="4284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107" name="Google Shape;107;p25"/>
          <p:cNvCxnSpPr/>
          <p:nvPr/>
        </p:nvCxnSpPr>
        <p:spPr>
          <a:xfrm>
            <a:off x="228600" y="2618575"/>
            <a:ext cx="61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Strawberry">
  <p:cSld name="TITLE_1_2">
    <p:bg>
      <p:bgPr>
        <a:solidFill>
          <a:schemeClr val="accen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ctrTitle"/>
          </p:nvPr>
        </p:nvSpPr>
        <p:spPr>
          <a:xfrm>
            <a:off x="228600" y="228600"/>
            <a:ext cx="4284000" cy="23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1" name="Google Shape;111;p26"/>
          <p:cNvSpPr txBox="1"/>
          <p:nvPr>
            <p:ph idx="1" type="subTitle"/>
          </p:nvPr>
        </p:nvSpPr>
        <p:spPr>
          <a:xfrm>
            <a:off x="228600" y="2743200"/>
            <a:ext cx="4284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112" name="Google Shape;112;p26"/>
          <p:cNvCxnSpPr/>
          <p:nvPr/>
        </p:nvCxnSpPr>
        <p:spPr>
          <a:xfrm>
            <a:off x="228600" y="2618575"/>
            <a:ext cx="6171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Cosmos">
  <p:cSld name="TITLE_1_2_1">
    <p:bg>
      <p:bgPr>
        <a:solidFill>
          <a:schemeClr val="accent4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ctrTitle"/>
          </p:nvPr>
        </p:nvSpPr>
        <p:spPr>
          <a:xfrm>
            <a:off x="228600" y="228600"/>
            <a:ext cx="4284000" cy="23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cxnSp>
        <p:nvCxnSpPr>
          <p:cNvPr id="116" name="Google Shape;116;p27"/>
          <p:cNvCxnSpPr/>
          <p:nvPr/>
        </p:nvCxnSpPr>
        <p:spPr>
          <a:xfrm>
            <a:off x="228600" y="2618575"/>
            <a:ext cx="6171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27"/>
          <p:cNvSpPr txBox="1"/>
          <p:nvPr>
            <p:ph idx="1" type="subTitle"/>
          </p:nvPr>
        </p:nvSpPr>
        <p:spPr>
          <a:xfrm>
            <a:off x="228600" y="2743200"/>
            <a:ext cx="4284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Illustration">
  <p:cSld name="TITLE_1_1_2"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/>
          <p:nvPr/>
        </p:nvSpPr>
        <p:spPr>
          <a:xfrm>
            <a:off x="6812900" y="4676075"/>
            <a:ext cx="1099800" cy="2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8"/>
          <p:cNvPicPr preferRelativeResize="0"/>
          <p:nvPr/>
        </p:nvPicPr>
        <p:blipFill rotWithShape="1">
          <a:blip r:embed="rId2">
            <a:alphaModFix/>
          </a:blip>
          <a:srcRect b="34180" l="0" r="0" t="0"/>
          <a:stretch/>
        </p:blipFill>
        <p:spPr>
          <a:xfrm>
            <a:off x="228600" y="306803"/>
            <a:ext cx="4622950" cy="190219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8"/>
          <p:cNvSpPr/>
          <p:nvPr/>
        </p:nvSpPr>
        <p:spPr>
          <a:xfrm>
            <a:off x="-7007" y="5042975"/>
            <a:ext cx="9158100" cy="107700"/>
          </a:xfrm>
          <a:prstGeom prst="rect">
            <a:avLst/>
          </a:prstGeom>
          <a:solidFill>
            <a:srgbClr val="FF2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light" type="secHead">
  <p:cSld name="SECTION_HEAD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9"/>
          <p:cNvSpPr txBox="1"/>
          <p:nvPr>
            <p:ph type="title"/>
          </p:nvPr>
        </p:nvSpPr>
        <p:spPr>
          <a:xfrm>
            <a:off x="4631400" y="494300"/>
            <a:ext cx="4284000" cy="207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6" name="Google Shape;126;p29"/>
          <p:cNvSpPr txBox="1"/>
          <p:nvPr>
            <p:ph idx="1" type="subTitle"/>
          </p:nvPr>
        </p:nvSpPr>
        <p:spPr>
          <a:xfrm>
            <a:off x="4631400" y="3370100"/>
            <a:ext cx="4284000" cy="13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cxnSp>
        <p:nvCxnSpPr>
          <p:cNvPr id="127" name="Google Shape;127;p29"/>
          <p:cNvCxnSpPr/>
          <p:nvPr/>
        </p:nvCxnSpPr>
        <p:spPr>
          <a:xfrm>
            <a:off x="4631400" y="2970950"/>
            <a:ext cx="61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29"/>
          <p:cNvSpPr/>
          <p:nvPr/>
        </p:nvSpPr>
        <p:spPr>
          <a:xfrm>
            <a:off x="-7007" y="5042975"/>
            <a:ext cx="9158100" cy="107700"/>
          </a:xfrm>
          <a:prstGeom prst="rect">
            <a:avLst/>
          </a:prstGeom>
          <a:solidFill>
            <a:srgbClr val="FF2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light 1">
  <p:cSld name="SECTION_HEADER_2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0"/>
          <p:cNvSpPr txBox="1"/>
          <p:nvPr>
            <p:ph type="title"/>
          </p:nvPr>
        </p:nvSpPr>
        <p:spPr>
          <a:xfrm>
            <a:off x="4631400" y="2218825"/>
            <a:ext cx="4284000" cy="20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>
                <a:solidFill>
                  <a:srgbClr val="000000"/>
                </a:solidFill>
              </a:defRPr>
            </a:lvl1pPr>
            <a:lvl2pPr lvl="1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>
                <a:solidFill>
                  <a:srgbClr val="000000"/>
                </a:solidFill>
              </a:defRPr>
            </a:lvl2pPr>
            <a:lvl3pPr lvl="2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>
                <a:solidFill>
                  <a:srgbClr val="000000"/>
                </a:solidFill>
              </a:defRPr>
            </a:lvl3pPr>
            <a:lvl4pPr lvl="3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>
                <a:solidFill>
                  <a:srgbClr val="000000"/>
                </a:solidFill>
              </a:defRPr>
            </a:lvl4pPr>
            <a:lvl5pPr lvl="4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>
                <a:solidFill>
                  <a:srgbClr val="000000"/>
                </a:solidFill>
              </a:defRPr>
            </a:lvl5pPr>
            <a:lvl6pPr lvl="5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>
                <a:solidFill>
                  <a:srgbClr val="000000"/>
                </a:solidFill>
              </a:defRPr>
            </a:lvl6pPr>
            <a:lvl7pPr lvl="6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>
                <a:solidFill>
                  <a:srgbClr val="000000"/>
                </a:solidFill>
              </a:defRPr>
            </a:lvl7pPr>
            <a:lvl8pPr lvl="7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>
                <a:solidFill>
                  <a:srgbClr val="000000"/>
                </a:solidFill>
              </a:defRPr>
            </a:lvl8pPr>
            <a:lvl9pPr lvl="8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32" name="Google Shape;132;p30"/>
          <p:cNvCxnSpPr/>
          <p:nvPr/>
        </p:nvCxnSpPr>
        <p:spPr>
          <a:xfrm>
            <a:off x="4631400" y="1928135"/>
            <a:ext cx="617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30"/>
          <p:cNvSpPr/>
          <p:nvPr/>
        </p:nvSpPr>
        <p:spPr>
          <a:xfrm>
            <a:off x="-7007" y="5042975"/>
            <a:ext cx="9158100" cy="107700"/>
          </a:xfrm>
          <a:prstGeom prst="rect">
            <a:avLst/>
          </a:prstGeom>
          <a:solidFill>
            <a:srgbClr val="FF2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0"/>
          <p:cNvSpPr txBox="1"/>
          <p:nvPr>
            <p:ph idx="1" type="subTitle"/>
          </p:nvPr>
        </p:nvSpPr>
        <p:spPr>
          <a:xfrm>
            <a:off x="4631400" y="1065625"/>
            <a:ext cx="42840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ccent - light">
  <p:cSld name="SECTION_HEADER_2_1">
    <p:bg>
      <p:bgPr>
        <a:solidFill>
          <a:schemeClr val="accent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1"/>
          <p:cNvSpPr txBox="1"/>
          <p:nvPr>
            <p:ph type="title"/>
          </p:nvPr>
        </p:nvSpPr>
        <p:spPr>
          <a:xfrm>
            <a:off x="4631400" y="2218825"/>
            <a:ext cx="4284000" cy="20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>
                <a:solidFill>
                  <a:srgbClr val="000000"/>
                </a:solidFill>
              </a:defRPr>
            </a:lvl1pPr>
            <a:lvl2pPr lvl="1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>
                <a:solidFill>
                  <a:srgbClr val="000000"/>
                </a:solidFill>
              </a:defRPr>
            </a:lvl2pPr>
            <a:lvl3pPr lvl="2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>
                <a:solidFill>
                  <a:srgbClr val="000000"/>
                </a:solidFill>
              </a:defRPr>
            </a:lvl3pPr>
            <a:lvl4pPr lvl="3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>
                <a:solidFill>
                  <a:srgbClr val="000000"/>
                </a:solidFill>
              </a:defRPr>
            </a:lvl4pPr>
            <a:lvl5pPr lvl="4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>
                <a:solidFill>
                  <a:srgbClr val="000000"/>
                </a:solidFill>
              </a:defRPr>
            </a:lvl5pPr>
            <a:lvl6pPr lvl="5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>
                <a:solidFill>
                  <a:srgbClr val="000000"/>
                </a:solidFill>
              </a:defRPr>
            </a:lvl6pPr>
            <a:lvl7pPr lvl="6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>
                <a:solidFill>
                  <a:srgbClr val="000000"/>
                </a:solidFill>
              </a:defRPr>
            </a:lvl7pPr>
            <a:lvl8pPr lvl="7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>
                <a:solidFill>
                  <a:srgbClr val="000000"/>
                </a:solidFill>
              </a:defRPr>
            </a:lvl8pPr>
            <a:lvl9pPr lvl="8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38" name="Google Shape;138;p31"/>
          <p:cNvCxnSpPr/>
          <p:nvPr/>
        </p:nvCxnSpPr>
        <p:spPr>
          <a:xfrm>
            <a:off x="4631400" y="1928135"/>
            <a:ext cx="617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31"/>
          <p:cNvSpPr txBox="1"/>
          <p:nvPr>
            <p:ph idx="1" type="subTitle"/>
          </p:nvPr>
        </p:nvSpPr>
        <p:spPr>
          <a:xfrm>
            <a:off x="4631400" y="1065625"/>
            <a:ext cx="42840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ccent - dark">
  <p:cSld name="SECTION_HEADER_1_2">
    <p:bg>
      <p:bgPr>
        <a:solidFill>
          <a:schemeClr val="accen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/>
          <p:nvPr>
            <p:ph type="title"/>
          </p:nvPr>
        </p:nvSpPr>
        <p:spPr>
          <a:xfrm>
            <a:off x="4631400" y="494300"/>
            <a:ext cx="4284000" cy="207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1pPr>
            <a:lvl2pPr lvl="1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2pPr>
            <a:lvl3pPr lvl="2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3pPr>
            <a:lvl4pPr lvl="3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4pPr>
            <a:lvl5pPr lvl="4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5pPr>
            <a:lvl6pPr lvl="5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6pPr>
            <a:lvl7pPr lvl="6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7pPr>
            <a:lvl8pPr lvl="7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8pPr>
            <a:lvl9pPr lvl="8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3" name="Google Shape;143;p32"/>
          <p:cNvSpPr txBox="1"/>
          <p:nvPr>
            <p:ph idx="1" type="subTitle"/>
          </p:nvPr>
        </p:nvSpPr>
        <p:spPr>
          <a:xfrm>
            <a:off x="4631400" y="3370100"/>
            <a:ext cx="4284000" cy="13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cxnSp>
        <p:nvCxnSpPr>
          <p:cNvPr id="144" name="Google Shape;144;p32"/>
          <p:cNvCxnSpPr/>
          <p:nvPr/>
        </p:nvCxnSpPr>
        <p:spPr>
          <a:xfrm>
            <a:off x="4631400" y="2970950"/>
            <a:ext cx="6171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 section header - dark">
  <p:cSld name="SECTION_HEADER_1_1">
    <p:bg>
      <p:bgPr>
        <a:solidFill>
          <a:srgbClr val="00000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3"/>
          <p:cNvSpPr txBox="1"/>
          <p:nvPr>
            <p:ph type="title"/>
          </p:nvPr>
        </p:nvSpPr>
        <p:spPr>
          <a:xfrm>
            <a:off x="4631400" y="2218825"/>
            <a:ext cx="4284000" cy="20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1pPr>
            <a:lvl2pPr lvl="1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2pPr>
            <a:lvl3pPr lvl="2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3pPr>
            <a:lvl4pPr lvl="3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4pPr>
            <a:lvl5pPr lvl="4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5pPr>
            <a:lvl6pPr lvl="5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6pPr>
            <a:lvl7pPr lvl="6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7pPr>
            <a:lvl8pPr lvl="7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8pPr>
            <a:lvl9pPr lvl="8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148" name="Google Shape;148;p33"/>
          <p:cNvCxnSpPr/>
          <p:nvPr/>
        </p:nvCxnSpPr>
        <p:spPr>
          <a:xfrm>
            <a:off x="4631400" y="1928135"/>
            <a:ext cx="6171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33"/>
          <p:cNvSpPr txBox="1"/>
          <p:nvPr>
            <p:ph idx="1" type="subTitle"/>
          </p:nvPr>
        </p:nvSpPr>
        <p:spPr>
          <a:xfrm>
            <a:off x="4631400" y="1065625"/>
            <a:ext cx="42840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light 1/2">
  <p:cSld name="CUSTOM_3_2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4"/>
          <p:cNvSpPr/>
          <p:nvPr/>
        </p:nvSpPr>
        <p:spPr>
          <a:xfrm>
            <a:off x="-7007" y="5042975"/>
            <a:ext cx="9158100" cy="107700"/>
          </a:xfrm>
          <a:prstGeom prst="rect">
            <a:avLst/>
          </a:prstGeom>
          <a:solidFill>
            <a:srgbClr val="FF2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Font typeface="Roboto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6" name="Google Shape;15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2" name="Google Shape;16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―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―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―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―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3" name="Google Shape;16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―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―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―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―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7" name="Google Shape;16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―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―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―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―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●"/>
              <a:defRPr/>
            </a:lvl9pPr>
          </a:lstStyle>
          <a:p/>
        </p:txBody>
      </p:sp>
      <p:sp>
        <p:nvSpPr>
          <p:cNvPr id="171" name="Google Shape;17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 type="obj">
  <p:cSld name="OBJEC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0"/>
          <p:cNvSpPr txBox="1"/>
          <p:nvPr>
            <p:ph type="title"/>
          </p:nvPr>
        </p:nvSpPr>
        <p:spPr>
          <a:xfrm>
            <a:off x="628650" y="537307"/>
            <a:ext cx="7886700" cy="7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28576"/>
              </a:buClr>
              <a:buSzPts val="2600"/>
              <a:buFont typeface="Quattrocento Sans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40"/>
          <p:cNvSpPr txBox="1"/>
          <p:nvPr>
            <p:ph idx="1" type="body"/>
          </p:nvPr>
        </p:nvSpPr>
        <p:spPr>
          <a:xfrm>
            <a:off x="628650" y="1369218"/>
            <a:ext cx="7886700" cy="3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5" name="Google Shape;175;p40"/>
          <p:cNvSpPr txBox="1"/>
          <p:nvPr>
            <p:ph idx="11" type="ftr"/>
          </p:nvPr>
        </p:nvSpPr>
        <p:spPr>
          <a:xfrm>
            <a:off x="3028950" y="4856813"/>
            <a:ext cx="3086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40"/>
          <p:cNvSpPr txBox="1"/>
          <p:nvPr>
            <p:ph idx="12" type="sldNum"/>
          </p:nvPr>
        </p:nvSpPr>
        <p:spPr>
          <a:xfrm>
            <a:off x="6457950" y="4856813"/>
            <a:ext cx="2057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D8D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D8D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D8D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D8D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D8D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D8D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D8D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D8D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D8D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19.xml"/><Relationship Id="rId41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39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15.xml"/><Relationship Id="rId3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228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b="1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b="1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b="1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b="1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b="1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b="1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b="1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b="1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b="1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8600" y="863550"/>
            <a:ext cx="8686800" cy="3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―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―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―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―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Helvetica Neue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6832800" y="4690875"/>
            <a:ext cx="134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9E9E9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690875"/>
            <a:ext cx="9144000" cy="4526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A4335"/>
          </p15:clr>
        </p15:guide>
        <p15:guide id="2" pos="531">
          <p15:clr>
            <a:srgbClr val="EA4335"/>
          </p15:clr>
        </p15:guide>
        <p15:guide id="3" pos="606">
          <p15:clr>
            <a:srgbClr val="EA4335"/>
          </p15:clr>
        </p15:guide>
        <p15:guide id="4" pos="994">
          <p15:clr>
            <a:srgbClr val="EA4335"/>
          </p15:clr>
        </p15:guide>
        <p15:guide id="5" pos="1068">
          <p15:clr>
            <a:srgbClr val="EA4335"/>
          </p15:clr>
        </p15:guide>
        <p15:guide id="6" pos="1456">
          <p15:clr>
            <a:srgbClr val="EA4335"/>
          </p15:clr>
        </p15:guide>
        <p15:guide id="7" pos="1531">
          <p15:clr>
            <a:srgbClr val="EA4335"/>
          </p15:clr>
        </p15:guide>
        <p15:guide id="8" pos="1918">
          <p15:clr>
            <a:srgbClr val="EA4335"/>
          </p15:clr>
        </p15:guide>
        <p15:guide id="9" pos="1993">
          <p15:clr>
            <a:srgbClr val="EA4335"/>
          </p15:clr>
        </p15:guide>
        <p15:guide id="10" pos="2380">
          <p15:clr>
            <a:srgbClr val="EA4335"/>
          </p15:clr>
        </p15:guide>
        <p15:guide id="11" pos="2455">
          <p15:clr>
            <a:srgbClr val="EA4335"/>
          </p15:clr>
        </p15:guide>
        <p15:guide id="12" pos="2843">
          <p15:clr>
            <a:srgbClr val="EA4335"/>
          </p15:clr>
        </p15:guide>
        <p15:guide id="13" pos="2917">
          <p15:clr>
            <a:srgbClr val="EA4335"/>
          </p15:clr>
        </p15:guide>
        <p15:guide id="14" pos="3305">
          <p15:clr>
            <a:srgbClr val="EA4335"/>
          </p15:clr>
        </p15:guide>
        <p15:guide id="15" pos="3380">
          <p15:clr>
            <a:srgbClr val="EA4335"/>
          </p15:clr>
        </p15:guide>
        <p15:guide id="16" pos="3767">
          <p15:clr>
            <a:srgbClr val="EA4335"/>
          </p15:clr>
        </p15:guide>
        <p15:guide id="17" pos="3842">
          <p15:clr>
            <a:srgbClr val="EA4335"/>
          </p15:clr>
        </p15:guide>
        <p15:guide id="18" pos="4229">
          <p15:clr>
            <a:srgbClr val="EA4335"/>
          </p15:clr>
        </p15:guide>
        <p15:guide id="19" pos="4304">
          <p15:clr>
            <a:srgbClr val="EA4335"/>
          </p15:clr>
        </p15:guide>
        <p15:guide id="20" pos="4692">
          <p15:clr>
            <a:srgbClr val="EA4335"/>
          </p15:clr>
        </p15:guide>
        <p15:guide id="21" pos="4766">
          <p15:clr>
            <a:srgbClr val="EA4335"/>
          </p15:clr>
        </p15:guide>
        <p15:guide id="22" pos="5154">
          <p15:clr>
            <a:srgbClr val="EA4335"/>
          </p15:clr>
        </p15:guide>
        <p15:guide id="23" pos="5229">
          <p15:clr>
            <a:srgbClr val="EA4335"/>
          </p15:clr>
        </p15:guide>
        <p15:guide id="24" pos="5616">
          <p15:clr>
            <a:srgbClr val="EA4335"/>
          </p15:clr>
        </p15:guide>
        <p15:guide id="25" orient="horz" pos="144">
          <p15:clr>
            <a:srgbClr val="EA4335"/>
          </p15:clr>
        </p15:guide>
        <p15:guide id="26" orient="horz" pos="2955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christian.gutknecht@glue.ch" TargetMode="External"/><Relationship Id="rId4" Type="http://schemas.openxmlformats.org/officeDocument/2006/relationships/hyperlink" Target="mailto:benedikt.hitz@bfh.ch" TargetMode="External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digitale-verwaltung-schweiz.ch/blog/29-eine-ki-fuer-die-schweizer-justiz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linkml.openparldata.ch/" TargetMode="External"/><Relationship Id="rId4" Type="http://schemas.openxmlformats.org/officeDocument/2006/relationships/hyperlink" Target="https://gitlab.com/groups/opendata.ch/openparldatach/-/wikis/Home/Fundraising/2026-Federal-Chancellery-(Prototype-LinkML)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swiss/political-affairs-ech-group/blob/main/docs/common/design_principles.md" TargetMode="External"/><Relationship Id="rId4" Type="http://schemas.openxmlformats.org/officeDocument/2006/relationships/hyperlink" Target="https://github.com/swiss/political-affairs-ech-group/blob/main/ech-0292_meta/input/schema_common.yaml" TargetMode="External"/><Relationship Id="rId5" Type="http://schemas.openxmlformats.org/officeDocument/2006/relationships/hyperlink" Target="https://docs.google.com/spreadsheets/d/1taUeu5BWyzboI01Hmde-G_TbGklVjgDgaKvjBqixMjs/edit?gid=1490648211#gid=1490648211" TargetMode="External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swiss/political-affairs-ech-group/blob/main/ech-0295_affairs/03_Example_Pursuits-Affairs/Motion__20_4232.yaml" TargetMode="External"/><Relationship Id="rId4" Type="http://schemas.openxmlformats.org/officeDocument/2006/relationships/hyperlink" Target="http://parlament.ch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opendatabeer.ch/" TargetMode="External"/><Relationship Id="rId4" Type="http://schemas.openxmlformats.org/officeDocument/2006/relationships/hyperlink" Target="https://openparldata.ch/about/public_meetings" TargetMode="External"/><Relationship Id="rId5" Type="http://schemas.openxmlformats.org/officeDocument/2006/relationships/hyperlink" Target="https://www.youtube.com/@bussolatech/videos" TargetMode="Externa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1"/>
          <p:cNvSpPr txBox="1"/>
          <p:nvPr>
            <p:ph type="ctrTitle"/>
          </p:nvPr>
        </p:nvSpPr>
        <p:spPr>
          <a:xfrm>
            <a:off x="228600" y="228600"/>
            <a:ext cx="75876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CH" sz="3600"/>
              <a:t>2. Plenum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i="1" lang="de-CH"/>
              <a:t>eCH </a:t>
            </a:r>
            <a:r>
              <a:rPr i="1" lang="de-CH"/>
              <a:t>Fachgruppe</a:t>
            </a:r>
            <a:endParaRPr i="1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de-CH"/>
              <a:t>Politische Geschäfte</a:t>
            </a:r>
            <a:endParaRPr/>
          </a:p>
        </p:txBody>
      </p:sp>
      <p:sp>
        <p:nvSpPr>
          <p:cNvPr id="182" name="Google Shape;182;p41"/>
          <p:cNvSpPr txBox="1"/>
          <p:nvPr>
            <p:ph idx="1" type="subTitle"/>
          </p:nvPr>
        </p:nvSpPr>
        <p:spPr>
          <a:xfrm>
            <a:off x="228600" y="2820925"/>
            <a:ext cx="7337400" cy="14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de-CH">
                <a:solidFill>
                  <a:schemeClr val="dk1"/>
                </a:solidFill>
              </a:rPr>
              <a:t>Michael Luggen, </a:t>
            </a:r>
            <a:r>
              <a:rPr lang="de-CH" u="sng">
                <a:solidFill>
                  <a:schemeClr val="hlink"/>
                </a:solidFill>
              </a:rPr>
              <a:t>michael.luggen@bk.admin.ch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de-CH">
                <a:solidFill>
                  <a:schemeClr val="dk1"/>
                </a:solidFill>
              </a:rPr>
              <a:t>Christian Gutknecht, </a:t>
            </a:r>
            <a:r>
              <a:rPr lang="de-CH" u="sng">
                <a:solidFill>
                  <a:schemeClr val="hlink"/>
                </a:solidFill>
                <a:hlinkClick r:id="rId3"/>
              </a:rPr>
              <a:t>christian.gutknecht@glue.ch</a:t>
            </a:r>
            <a:br>
              <a:rPr lang="de-CH"/>
            </a:br>
            <a:r>
              <a:rPr b="1" lang="de-CH"/>
              <a:t>Benedikt Hitz</a:t>
            </a:r>
            <a:r>
              <a:rPr lang="de-CH"/>
              <a:t>, </a:t>
            </a:r>
            <a:r>
              <a:rPr lang="de-CH" u="sng">
                <a:solidFill>
                  <a:schemeClr val="hlink"/>
                </a:solidFill>
                <a:hlinkClick r:id="rId4"/>
              </a:rPr>
              <a:t>benedikt.hitz@bfh.ch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de-CH"/>
              <a:t>Online, 02.06.2026 - Aufgezeichnet</a:t>
            </a:r>
            <a:endParaRPr/>
          </a:p>
        </p:txBody>
      </p:sp>
      <p:pic>
        <p:nvPicPr>
          <p:cNvPr id="183" name="Google Shape;18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4867" y="4727430"/>
            <a:ext cx="1112200" cy="38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13550" y="1054225"/>
            <a:ext cx="2284025" cy="100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2"/>
          <p:cNvSpPr txBox="1"/>
          <p:nvPr>
            <p:ph type="title"/>
          </p:nvPr>
        </p:nvSpPr>
        <p:spPr>
          <a:xfrm>
            <a:off x="628650" y="537307"/>
            <a:ext cx="7886700" cy="7725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Ziele des Plenum</a:t>
            </a:r>
            <a:endParaRPr/>
          </a:p>
        </p:txBody>
      </p:sp>
      <p:sp>
        <p:nvSpPr>
          <p:cNvPr id="190" name="Google Shape;190;p42"/>
          <p:cNvSpPr txBox="1"/>
          <p:nvPr>
            <p:ph idx="12" type="sldNum"/>
          </p:nvPr>
        </p:nvSpPr>
        <p:spPr>
          <a:xfrm>
            <a:off x="6457950" y="4856813"/>
            <a:ext cx="2057400" cy="184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91" name="Google Shape;191;p42"/>
          <p:cNvSpPr txBox="1"/>
          <p:nvPr>
            <p:ph idx="1" type="body"/>
          </p:nvPr>
        </p:nvSpPr>
        <p:spPr>
          <a:xfrm>
            <a:off x="628650" y="1404206"/>
            <a:ext cx="7886700" cy="3358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de-CH" sz="2000">
                <a:solidFill>
                  <a:schemeClr val="dk1"/>
                </a:solidFill>
              </a:rPr>
              <a:t>News rund um die Fachgruppe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de-CH" sz="2000"/>
              <a:t>Statusupdate der einzelne Subgruppen</a:t>
            </a:r>
            <a:endParaRPr sz="2000"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de-CH" sz="2000"/>
              <a:t>Erstes Fachgruppeninternes Review “Politische Akteure”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3"/>
          <p:cNvSpPr txBox="1"/>
          <p:nvPr>
            <p:ph type="title"/>
          </p:nvPr>
        </p:nvSpPr>
        <p:spPr>
          <a:xfrm>
            <a:off x="4038600" y="4856832"/>
            <a:ext cx="7886700" cy="7725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 sz="1600"/>
              <a:t>Agenda</a:t>
            </a:r>
            <a:endParaRPr sz="1600"/>
          </a:p>
        </p:txBody>
      </p:sp>
      <p:sp>
        <p:nvSpPr>
          <p:cNvPr id="197" name="Google Shape;197;p43"/>
          <p:cNvSpPr txBox="1"/>
          <p:nvPr>
            <p:ph idx="12" type="sldNum"/>
          </p:nvPr>
        </p:nvSpPr>
        <p:spPr>
          <a:xfrm>
            <a:off x="6457950" y="4856813"/>
            <a:ext cx="2057400" cy="184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de-CH" sz="1600"/>
              <a:t>‹#›</a:t>
            </a:fld>
            <a:endParaRPr sz="1600"/>
          </a:p>
        </p:txBody>
      </p:sp>
      <p:graphicFrame>
        <p:nvGraphicFramePr>
          <p:cNvPr id="198" name="Google Shape;198;p43"/>
          <p:cNvGraphicFramePr/>
          <p:nvPr/>
        </p:nvGraphicFramePr>
        <p:xfrm>
          <a:off x="228588" y="3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{C6F4D95F-77B8-40FE-BC4D-E89AF17CE624}</a:tableStyleId>
              </a:tblPr>
              <a:tblGrid>
                <a:gridCol w="5153450"/>
                <a:gridCol w="471500"/>
                <a:gridCol w="2375425"/>
                <a:gridCol w="915025"/>
              </a:tblGrid>
              <a:tr h="480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Begrüssung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Christian &amp; Michael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13:30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289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KI für die Schweizer Justiz?</a:t>
                      </a: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Martin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13:35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289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LinkML - Datenökosystem Prototype</a:t>
                      </a: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Christian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13:45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45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eCH-0292 Meta: Vorstellung Arbeiten und Rückfrage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Florin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14:00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45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eCH-0293 Öffentlicher Ratsbetrieb: Status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Michael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14:10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28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eCH-0295: Parlamentarische Geschäfte: </a:t>
                      </a:r>
                      <a:r>
                        <a:rPr lang="de-CH" sz="1600">
                          <a:solidFill>
                            <a:schemeClr val="dk1"/>
                          </a:solidFill>
                        </a:rPr>
                        <a:t>Status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Laurence &amp; Christian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14:20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28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>
                          <a:solidFill>
                            <a:schemeClr val="dk1"/>
                          </a:solidFill>
                        </a:rPr>
                        <a:t>eCH-0296: Erlasse und Gesetzestexte</a:t>
                      </a:r>
                      <a:r>
                        <a:rPr lang="de-CH" sz="1600"/>
                        <a:t>: </a:t>
                      </a:r>
                      <a:r>
                        <a:rPr lang="de-CH" sz="1600">
                          <a:solidFill>
                            <a:schemeClr val="dk1"/>
                          </a:solidFill>
                        </a:rPr>
                        <a:t>Status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Martin &amp; Michael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14:30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28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>
                          <a:solidFill>
                            <a:schemeClr val="dk1"/>
                          </a:solidFill>
                        </a:rPr>
                        <a:t>eCH-0297: Öffentliche Konsultationen: </a:t>
                      </a:r>
                      <a:r>
                        <a:rPr lang="de-CH" sz="1600">
                          <a:solidFill>
                            <a:schemeClr val="dk1"/>
                          </a:solidFill>
                        </a:rPr>
                        <a:t>Status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Fabian &amp; Christian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14:40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45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eCH-0294 Politische Akteure: </a:t>
                      </a:r>
                      <a:r>
                        <a:rPr lang="de-CH" sz="1600">
                          <a:solidFill>
                            <a:schemeClr val="dk1"/>
                          </a:solidFill>
                        </a:rPr>
                        <a:t>Vorstellung und Start des </a:t>
                      </a:r>
                      <a:r>
                        <a:rPr lang="de-CH" sz="1600"/>
                        <a:t>Fachgruppeninternen Reviews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>
                          <a:solidFill>
                            <a:schemeClr val="dk1"/>
                          </a:solidFill>
                        </a:rPr>
                        <a:t>Orhan, Benedikt &amp; </a:t>
                      </a:r>
                      <a:r>
                        <a:rPr lang="de-CH" sz="1600"/>
                        <a:t>Michael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14:50</a:t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4"/>
          <p:cNvSpPr txBox="1"/>
          <p:nvPr>
            <p:ph type="title"/>
          </p:nvPr>
        </p:nvSpPr>
        <p:spPr>
          <a:xfrm>
            <a:off x="628650" y="537307"/>
            <a:ext cx="7886700" cy="7725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KI für die Schweizer Justiz?</a:t>
            </a:r>
            <a:endParaRPr/>
          </a:p>
        </p:txBody>
      </p:sp>
      <p:sp>
        <p:nvSpPr>
          <p:cNvPr id="204" name="Google Shape;204;p44"/>
          <p:cNvSpPr txBox="1"/>
          <p:nvPr>
            <p:ph idx="1" type="body"/>
          </p:nvPr>
        </p:nvSpPr>
        <p:spPr>
          <a:xfrm>
            <a:off x="628650" y="1369218"/>
            <a:ext cx="7886700" cy="3358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de-CH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Oder «wie kann man Halluzinationen verhindern?»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de-CH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Factual, Temporal, Contextual, Linguistic, Extrinsic/Intrinsic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de-CH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OpenEvidence (Medizin) als Positiv-Beispiel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de-CH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«Grounding»</a:t>
            </a:r>
            <a:endParaRPr/>
          </a:p>
        </p:txBody>
      </p:sp>
      <p:sp>
        <p:nvSpPr>
          <p:cNvPr id="205" name="Google Shape;205;p44"/>
          <p:cNvSpPr txBox="1"/>
          <p:nvPr>
            <p:ph idx="12" type="sldNum"/>
          </p:nvPr>
        </p:nvSpPr>
        <p:spPr>
          <a:xfrm>
            <a:off x="6457950" y="4856813"/>
            <a:ext cx="2057400" cy="184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206" name="Google Shape;206;p44"/>
          <p:cNvSpPr txBox="1"/>
          <p:nvPr/>
        </p:nvSpPr>
        <p:spPr>
          <a:xfrm>
            <a:off x="69575" y="4170400"/>
            <a:ext cx="907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 sz="18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https://www.digitale-verwaltung-schweiz.ch/blog/29-eine-ki-fuer-die-schweizer-justiz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5"/>
          <p:cNvSpPr txBox="1"/>
          <p:nvPr>
            <p:ph type="title"/>
          </p:nvPr>
        </p:nvSpPr>
        <p:spPr>
          <a:xfrm>
            <a:off x="628650" y="537307"/>
            <a:ext cx="7886700" cy="7725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Retrieval Augmented Generation (RAG)</a:t>
            </a:r>
            <a:endParaRPr/>
          </a:p>
        </p:txBody>
      </p:sp>
      <p:sp>
        <p:nvSpPr>
          <p:cNvPr id="212" name="Google Shape;212;p45"/>
          <p:cNvSpPr txBox="1"/>
          <p:nvPr>
            <p:ph idx="1" type="body"/>
          </p:nvPr>
        </p:nvSpPr>
        <p:spPr>
          <a:xfrm>
            <a:off x="628650" y="1369218"/>
            <a:ext cx="7886700" cy="3358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de-CH"/>
              <a:t>RAG = LLM + external data sources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CH"/>
              <a:t>specialized models hallucinate between 17 and 33%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CH"/>
              <a:t>domain-specific and/or updated information that is not available in the training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CH"/>
              <a:t>additional relevant context is added to this input to guide the model’s response, encouraging it to prioritize the supplied data over pre-existing training knowledge (prompt stuffing)</a:t>
            </a:r>
            <a:endParaRPr/>
          </a:p>
        </p:txBody>
      </p:sp>
      <p:sp>
        <p:nvSpPr>
          <p:cNvPr id="213" name="Google Shape;213;p45"/>
          <p:cNvSpPr txBox="1"/>
          <p:nvPr>
            <p:ph idx="12" type="sldNum"/>
          </p:nvPr>
        </p:nvSpPr>
        <p:spPr>
          <a:xfrm>
            <a:off x="6457950" y="4856813"/>
            <a:ext cx="2057400" cy="184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6"/>
          <p:cNvSpPr txBox="1"/>
          <p:nvPr>
            <p:ph type="title"/>
          </p:nvPr>
        </p:nvSpPr>
        <p:spPr>
          <a:xfrm>
            <a:off x="628650" y="537282"/>
            <a:ext cx="7886700" cy="7725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de-CH"/>
              <a:t>LinkML - Datenökosystem Prototype</a:t>
            </a:r>
            <a:endParaRPr/>
          </a:p>
        </p:txBody>
      </p:sp>
      <p:sp>
        <p:nvSpPr>
          <p:cNvPr id="219" name="Google Shape;219;p46"/>
          <p:cNvSpPr txBox="1"/>
          <p:nvPr>
            <p:ph idx="1" type="body"/>
          </p:nvPr>
        </p:nvSpPr>
        <p:spPr>
          <a:xfrm>
            <a:off x="628650" y="1404206"/>
            <a:ext cx="7886700" cy="3358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de-CH" sz="2000"/>
              <a:t>Ziele: 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de-CH" sz="2000"/>
              <a:t>Push für Unterstützung Mehrsprachigkeit bei LinkML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de-CH" sz="2000"/>
              <a:t>LinkML to XSD Unterstützung (relevant für eCH Umfeld)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de-CH" sz="2000"/>
              <a:t>MVP für LinkML-Editor: </a:t>
            </a:r>
            <a:r>
              <a:rPr lang="de-CH" sz="2000" u="sng">
                <a:solidFill>
                  <a:schemeClr val="hlink"/>
                </a:solidFill>
                <a:hlinkClick r:id="rId3"/>
              </a:rPr>
              <a:t>https://linkml.openparldata.ch/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de-CH" sz="2000"/>
              <a:t>Eruierung Nützlichkeit/Akzeptanz von LinkML für eCH-Standards. Feedback von Referenten und Reviewern.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de-CH" sz="2000"/>
              <a:t>LinkML Erfahrung/Community Schweiz stärken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de-CH" sz="2000"/>
              <a:t>Zeitrahmen: Jetzt bis Herbst 2026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de-CH" sz="2000"/>
              <a:t>Umsetzung: Christian / Glue AG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de-CH" sz="2000"/>
              <a:t>Projektantrag </a:t>
            </a:r>
            <a:r>
              <a:rPr lang="de-CH" sz="2000" u="sng">
                <a:solidFill>
                  <a:schemeClr val="hlink"/>
                </a:solidFill>
                <a:hlinkClick r:id="rId4"/>
              </a:rPr>
              <a:t>online</a:t>
            </a:r>
            <a:r>
              <a:rPr lang="de-CH" sz="2000"/>
              <a:t>.</a:t>
            </a:r>
            <a:endParaRPr sz="2000"/>
          </a:p>
        </p:txBody>
      </p:sp>
      <p:sp>
        <p:nvSpPr>
          <p:cNvPr id="220" name="Google Shape;220;p46"/>
          <p:cNvSpPr txBox="1"/>
          <p:nvPr>
            <p:ph idx="12" type="sldNum"/>
          </p:nvPr>
        </p:nvSpPr>
        <p:spPr>
          <a:xfrm>
            <a:off x="6457950" y="4856813"/>
            <a:ext cx="2057400" cy="184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7"/>
          <p:cNvSpPr txBox="1"/>
          <p:nvPr>
            <p:ph type="title"/>
          </p:nvPr>
        </p:nvSpPr>
        <p:spPr>
          <a:xfrm>
            <a:off x="628650" y="537307"/>
            <a:ext cx="7886700" cy="7725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eCH-0292 Meta: </a:t>
            </a:r>
            <a:r>
              <a:rPr b="0" lang="de-CH" sz="1400">
                <a:latin typeface="Arial"/>
                <a:ea typeface="Arial"/>
                <a:cs typeface="Arial"/>
                <a:sym typeface="Arial"/>
              </a:rPr>
              <a:t>Vorstellung Arbeiten und Rückfrage</a:t>
            </a:r>
            <a:endParaRPr/>
          </a:p>
        </p:txBody>
      </p:sp>
      <p:sp>
        <p:nvSpPr>
          <p:cNvPr id="226" name="Google Shape;226;p47"/>
          <p:cNvSpPr txBox="1"/>
          <p:nvPr>
            <p:ph idx="1" type="body"/>
          </p:nvPr>
        </p:nvSpPr>
        <p:spPr>
          <a:xfrm>
            <a:off x="628650" y="1369225"/>
            <a:ext cx="5622600" cy="3358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de-CH"/>
              <a:t>Ready for (</a:t>
            </a:r>
            <a:r>
              <a:rPr lang="de-CH"/>
              <a:t>internal) consultation end of summer.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de-CH" u="sng">
                <a:solidFill>
                  <a:schemeClr val="hlink"/>
                </a:solidFill>
                <a:hlinkClick r:id="rId3"/>
              </a:rPr>
              <a:t>03_design_principles.md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de-CH" u="sng">
                <a:solidFill>
                  <a:schemeClr val="hlink"/>
                </a:solidFill>
                <a:hlinkClick r:id="rId4"/>
              </a:rPr>
              <a:t>04_common_data_elements.md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de-CH"/>
              <a:t>05_data_publishing.md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de-CH"/>
              <a:t>06_richtext_definition.md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de-CH"/>
              <a:t>07_legacy_documents.md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de-CH">
                <a:solidFill>
                  <a:schemeClr val="dk1"/>
                </a:solidFill>
              </a:rPr>
              <a:t>FRBR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de-CH" u="sng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Dokumentkategorien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CH"/>
              <a:t>Next Steps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de-CH"/>
              <a:t>Permanente URL/URI/DOI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de-CH"/>
              <a:t>Chronologie/”Lifecycle” Geschäft</a:t>
            </a:r>
            <a:endParaRPr/>
          </a:p>
        </p:txBody>
      </p:sp>
      <p:sp>
        <p:nvSpPr>
          <p:cNvPr id="227" name="Google Shape;227;p47"/>
          <p:cNvSpPr txBox="1"/>
          <p:nvPr>
            <p:ph idx="12" type="sldNum"/>
          </p:nvPr>
        </p:nvSpPr>
        <p:spPr>
          <a:xfrm>
            <a:off x="6457950" y="4856813"/>
            <a:ext cx="2057400" cy="184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pic>
        <p:nvPicPr>
          <p:cNvPr id="228" name="Google Shape;228;p47"/>
          <p:cNvPicPr preferRelativeResize="0"/>
          <p:nvPr/>
        </p:nvPicPr>
        <p:blipFill rotWithShape="1">
          <a:blip r:embed="rId6">
            <a:alphaModFix/>
          </a:blip>
          <a:srcRect b="28724" l="0" r="0" t="0"/>
          <a:stretch/>
        </p:blipFill>
        <p:spPr>
          <a:xfrm>
            <a:off x="6403650" y="1462202"/>
            <a:ext cx="2587951" cy="138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8"/>
          <p:cNvSpPr txBox="1"/>
          <p:nvPr>
            <p:ph type="title"/>
          </p:nvPr>
        </p:nvSpPr>
        <p:spPr>
          <a:xfrm>
            <a:off x="628650" y="537307"/>
            <a:ext cx="7886700" cy="7725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eCH-0293 Öffentlicher Ratsbetrieb</a:t>
            </a:r>
            <a:endParaRPr/>
          </a:p>
        </p:txBody>
      </p:sp>
      <p:sp>
        <p:nvSpPr>
          <p:cNvPr id="234" name="Google Shape;234;p48"/>
          <p:cNvSpPr txBox="1"/>
          <p:nvPr>
            <p:ph idx="1" type="body"/>
          </p:nvPr>
        </p:nvSpPr>
        <p:spPr>
          <a:xfrm>
            <a:off x="628650" y="1369218"/>
            <a:ext cx="7886700" cy="3358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300"/>
              <a:buChar char="•"/>
            </a:pPr>
            <a:r>
              <a:rPr lang="de-CH" sz="2300"/>
              <a:t>Abdeckung der Themen Sessionen, Traktanden, Abstimmungen und Protokollierung.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de-CH" sz="2300"/>
              <a:t>Modelle und Erläuterungen sind weitgehend erarbeitet.</a:t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de-CH" sz="2300"/>
              <a:t>Braucht noch Feinschliff</a:t>
            </a:r>
            <a:endParaRPr sz="23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CH" sz="2000"/>
              <a:t>Ausblick:</a:t>
            </a:r>
            <a:br>
              <a:rPr b="1" lang="de-CH" sz="2000"/>
            </a:br>
            <a:r>
              <a:rPr b="1" lang="de-CH" sz="2000"/>
              <a:t>Fachgruppeninterner Review bis Ende Q3 2026 vorgesehen.</a:t>
            </a:r>
            <a:endParaRPr b="1" sz="2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35" name="Google Shape;235;p48"/>
          <p:cNvSpPr txBox="1"/>
          <p:nvPr>
            <p:ph idx="12" type="sldNum"/>
          </p:nvPr>
        </p:nvSpPr>
        <p:spPr>
          <a:xfrm>
            <a:off x="6457950" y="4856813"/>
            <a:ext cx="2057400" cy="184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9"/>
          <p:cNvSpPr txBox="1"/>
          <p:nvPr>
            <p:ph type="title"/>
          </p:nvPr>
        </p:nvSpPr>
        <p:spPr>
          <a:xfrm>
            <a:off x="628650" y="537307"/>
            <a:ext cx="7886700" cy="7725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eCH-0295 </a:t>
            </a:r>
            <a:r>
              <a:rPr lang="de-CH"/>
              <a:t>Parlamentarische Geschäfte</a:t>
            </a:r>
            <a:endParaRPr/>
          </a:p>
        </p:txBody>
      </p:sp>
      <p:sp>
        <p:nvSpPr>
          <p:cNvPr id="241" name="Google Shape;241;p49"/>
          <p:cNvSpPr txBox="1"/>
          <p:nvPr>
            <p:ph idx="1" type="body"/>
          </p:nvPr>
        </p:nvSpPr>
        <p:spPr>
          <a:xfrm>
            <a:off x="628650" y="1369218"/>
            <a:ext cx="7886700" cy="3358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de-CH"/>
              <a:t>Vorgehen: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de-CH"/>
              <a:t>Welche Daten existieren zu einem Geschäft? Was ist der Ablauf?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de-CH"/>
              <a:t>Überprüfung anhand “reicher” Motion </a:t>
            </a:r>
            <a:r>
              <a:rPr lang="de-CH" u="sng">
                <a:solidFill>
                  <a:schemeClr val="hlink"/>
                </a:solidFill>
                <a:hlinkClick r:id="rId3"/>
              </a:rPr>
              <a:t>20.4232</a:t>
            </a:r>
            <a:r>
              <a:rPr lang="de-CH"/>
              <a:t> von </a:t>
            </a:r>
            <a:r>
              <a:rPr lang="de-CH" u="sng">
                <a:solidFill>
                  <a:schemeClr val="hlink"/>
                </a:solidFill>
                <a:hlinkClick r:id="rId4"/>
              </a:rPr>
              <a:t>parlament.ch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CH"/>
              <a:t>Grundsätzliche Idee: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de-CH"/>
              <a:t>Kopfdaten eines Geschäfts: Nummer, Titel, URL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de-CH"/>
              <a:t>Ein Geschäft hat mehrere Steps (Submission, SubmissionValidation, Assignment, CommitteeDeliberation,  </a:t>
            </a:r>
            <a:r>
              <a:rPr lang="de-CH">
                <a:solidFill>
                  <a:schemeClr val="dk1"/>
                </a:solidFill>
              </a:rPr>
              <a:t>Response, CouncilDebates). Diese können beliebig oft vorkommen. (Ping-Pong zwischen Räten und Regierung).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de-CH">
                <a:solidFill>
                  <a:schemeClr val="dk1"/>
                </a:solidFill>
              </a:rPr>
              <a:t>Bei jedem Step wird der aktuelle Status des Geschäfts erfasst.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de-CH">
                <a:solidFill>
                  <a:schemeClr val="dk1"/>
                </a:solidFill>
              </a:rPr>
              <a:t>Jeder Step hat allgemeine Felder: id, date, status (open/closed), phase, stage, decision)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de-CH">
                <a:solidFill>
                  <a:schemeClr val="dk1"/>
                </a:solidFill>
              </a:rPr>
              <a:t>und details: sponsor (actor/groups), texts, flags, speeches, voting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de-CH">
                <a:solidFill>
                  <a:schemeClr val="dk1"/>
                </a:solidFill>
              </a:rPr>
              <a:t>Ausblick: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de-CH">
                <a:solidFill>
                  <a:schemeClr val="dk1"/>
                </a:solidFill>
              </a:rPr>
              <a:t>Kann viele Inputs (aus operations, actor/groups) integrieren, braucht aber noch einige Iterationen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2" name="Google Shape;242;p49"/>
          <p:cNvSpPr txBox="1"/>
          <p:nvPr>
            <p:ph idx="12" type="sldNum"/>
          </p:nvPr>
        </p:nvSpPr>
        <p:spPr>
          <a:xfrm>
            <a:off x="6457950" y="4856813"/>
            <a:ext cx="2057400" cy="184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0"/>
          <p:cNvSpPr txBox="1"/>
          <p:nvPr>
            <p:ph type="title"/>
          </p:nvPr>
        </p:nvSpPr>
        <p:spPr>
          <a:xfrm>
            <a:off x="628650" y="537307"/>
            <a:ext cx="7886700" cy="7725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eCH-0296: Erlasse und Gesetzestexte</a:t>
            </a:r>
            <a:endParaRPr/>
          </a:p>
        </p:txBody>
      </p:sp>
      <p:sp>
        <p:nvSpPr>
          <p:cNvPr id="248" name="Google Shape;248;p50"/>
          <p:cNvSpPr txBox="1"/>
          <p:nvPr>
            <p:ph idx="1" type="body"/>
          </p:nvPr>
        </p:nvSpPr>
        <p:spPr>
          <a:xfrm>
            <a:off x="628650" y="1369218"/>
            <a:ext cx="7886700" cy="3358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Char char="•"/>
            </a:pPr>
            <a:r>
              <a:rPr lang="de-CH" sz="2200"/>
              <a:t>Analyse bestehender Arbeiten (u. a. CHLexML, AKN).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Char char="•"/>
            </a:pPr>
            <a:r>
              <a:rPr lang="de-CH" sz="2200"/>
              <a:t>Strukturierung und Ausrichtung der Arbeiten umgesetzt:</a:t>
            </a:r>
            <a:endParaRPr sz="22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de-CH" sz="1800"/>
              <a:t>Identifikatoren</a:t>
            </a:r>
            <a:r>
              <a:rPr lang="de-CH" sz="1800"/>
              <a:t> von Erlasstexten: ELI, AKN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de-CH" sz="1800"/>
              <a:t>Katalogisierung</a:t>
            </a:r>
            <a:r>
              <a:rPr lang="de-CH" sz="1800"/>
              <a:t>: </a:t>
            </a:r>
            <a:br>
              <a:rPr lang="de-CH" sz="1800"/>
            </a:br>
            <a:r>
              <a:rPr lang="de-CH" sz="1800"/>
              <a:t>Metadatenmodell für Gesetzestexte (z. B. Jolux, ELI-DL)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de-CH" sz="1800"/>
              <a:t>Inhalte dokumentenzentriert</a:t>
            </a:r>
            <a:r>
              <a:rPr lang="de-CH" sz="1800"/>
              <a:t>: </a:t>
            </a:r>
            <a:br>
              <a:rPr lang="de-CH" sz="1800"/>
            </a:br>
            <a:r>
              <a:rPr lang="de-CH" sz="1800"/>
              <a:t>Titel, Artikel, Absätze, Referenzen (AKN)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de-CH" sz="1800"/>
              <a:t>Inhalte semantisch</a:t>
            </a:r>
            <a:r>
              <a:rPr lang="de-CH" sz="1800"/>
              <a:t>: strukturierte Tabellen, maschinenlesbare Berechnungsformeln, Business Logic</a:t>
            </a:r>
            <a:endParaRPr sz="1800"/>
          </a:p>
        </p:txBody>
      </p:sp>
      <p:sp>
        <p:nvSpPr>
          <p:cNvPr id="249" name="Google Shape;249;p50"/>
          <p:cNvSpPr txBox="1"/>
          <p:nvPr>
            <p:ph idx="12" type="sldNum"/>
          </p:nvPr>
        </p:nvSpPr>
        <p:spPr>
          <a:xfrm>
            <a:off x="6457950" y="4856813"/>
            <a:ext cx="2057400" cy="184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1"/>
          <p:cNvSpPr txBox="1"/>
          <p:nvPr>
            <p:ph type="title"/>
          </p:nvPr>
        </p:nvSpPr>
        <p:spPr>
          <a:xfrm>
            <a:off x="628650" y="537307"/>
            <a:ext cx="7886700" cy="7725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eCH-0297: Öffentliche Konsultationen</a:t>
            </a:r>
            <a:endParaRPr/>
          </a:p>
        </p:txBody>
      </p:sp>
      <p:sp>
        <p:nvSpPr>
          <p:cNvPr id="255" name="Google Shape;255;p51"/>
          <p:cNvSpPr txBox="1"/>
          <p:nvPr>
            <p:ph idx="1" type="body"/>
          </p:nvPr>
        </p:nvSpPr>
        <p:spPr>
          <a:xfrm>
            <a:off x="628650" y="1369218"/>
            <a:ext cx="7886700" cy="3358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Char char="•"/>
            </a:pPr>
            <a:r>
              <a:rPr lang="de-CH" sz="2200"/>
              <a:t>Stakeholders identifiziert und in Kontakt gebracht.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de-CH" sz="2200"/>
              <a:t>Erste Definitionen zu den Kopfdaten einer Vernehmlassung.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de-CH" sz="2200"/>
              <a:t>Road-map zu AKN/LegalDocML zusammen mit KAV Bundeskanzlei festgelegt.</a:t>
            </a:r>
            <a:endParaRPr sz="2200"/>
          </a:p>
        </p:txBody>
      </p:sp>
      <p:sp>
        <p:nvSpPr>
          <p:cNvPr id="256" name="Google Shape;256;p51"/>
          <p:cNvSpPr txBox="1"/>
          <p:nvPr>
            <p:ph idx="12" type="sldNum"/>
          </p:nvPr>
        </p:nvSpPr>
        <p:spPr>
          <a:xfrm>
            <a:off x="6457950" y="4856813"/>
            <a:ext cx="2057400" cy="184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2"/>
          <p:cNvSpPr txBox="1"/>
          <p:nvPr>
            <p:ph type="title"/>
          </p:nvPr>
        </p:nvSpPr>
        <p:spPr>
          <a:xfrm>
            <a:off x="628650" y="537307"/>
            <a:ext cx="7886700" cy="7725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CH"/>
              <a:t>eCH-0294 Politische Akteure: Vorstellung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2"/>
          <p:cNvSpPr txBox="1"/>
          <p:nvPr>
            <p:ph idx="1" type="body"/>
          </p:nvPr>
        </p:nvSpPr>
        <p:spPr>
          <a:xfrm>
            <a:off x="628650" y="1369218"/>
            <a:ext cx="7886700" cy="3358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-CH">
                <a:solidFill>
                  <a:schemeClr val="dk1"/>
                </a:solidFill>
              </a:rPr>
              <a:t>Hauptklassen (Orhan)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-CH">
                <a:solidFill>
                  <a:schemeClr val="dk1"/>
                </a:solidFill>
              </a:rPr>
              <a:t>Referenz-Klassen (Benedikt)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-CH">
                <a:solidFill>
                  <a:schemeClr val="dk1"/>
                </a:solidFill>
              </a:rPr>
              <a:t>LinkML Status-Quo (Michael)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-CH">
                <a:solidFill>
                  <a:schemeClr val="dk1"/>
                </a:solidFill>
              </a:rPr>
              <a:t>Start des Reviews (Michael)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3" name="Google Shape;263;p52"/>
          <p:cNvSpPr txBox="1"/>
          <p:nvPr>
            <p:ph idx="12" type="sldNum"/>
          </p:nvPr>
        </p:nvSpPr>
        <p:spPr>
          <a:xfrm>
            <a:off x="6457950" y="4856813"/>
            <a:ext cx="2057400" cy="184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3"/>
          <p:cNvSpPr txBox="1"/>
          <p:nvPr>
            <p:ph type="title"/>
          </p:nvPr>
        </p:nvSpPr>
        <p:spPr>
          <a:xfrm>
            <a:off x="628650" y="537307"/>
            <a:ext cx="7886700" cy="7725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eCH-0294 Politische Akteure: Vorstellung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53"/>
          <p:cNvSpPr txBox="1"/>
          <p:nvPr>
            <p:ph idx="1" type="body"/>
          </p:nvPr>
        </p:nvSpPr>
        <p:spPr>
          <a:xfrm>
            <a:off x="628650" y="1369218"/>
            <a:ext cx="7886700" cy="3358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de-CH"/>
              <a:t>Das Schema basiert auf vier Hauptklassen, die zusammen das politische Akteurssystem der Schweiz abbilden: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de-CH"/>
              <a:t>Person – Natürliche Personen im politischen Kontext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CH"/>
              <a:t>Group – Politische Gruppen, Organe und Organisationen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CH"/>
              <a:t>Membership – Verbindung zwischen Personen und Gruppen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CH"/>
              <a:t>InterestLink – Interessenbindungen von Personen an Organisationen</a:t>
            </a:r>
            <a:endParaRPr/>
          </a:p>
        </p:txBody>
      </p:sp>
      <p:sp>
        <p:nvSpPr>
          <p:cNvPr id="270" name="Google Shape;270;p53"/>
          <p:cNvSpPr txBox="1"/>
          <p:nvPr>
            <p:ph idx="12" type="sldNum"/>
          </p:nvPr>
        </p:nvSpPr>
        <p:spPr>
          <a:xfrm>
            <a:off x="6457950" y="4856813"/>
            <a:ext cx="2057400" cy="184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4"/>
          <p:cNvSpPr txBox="1"/>
          <p:nvPr>
            <p:ph type="title"/>
          </p:nvPr>
        </p:nvSpPr>
        <p:spPr>
          <a:xfrm>
            <a:off x="628650" y="537307"/>
            <a:ext cx="7886700" cy="7725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Referenz-Klassen I</a:t>
            </a:r>
            <a:endParaRPr/>
          </a:p>
        </p:txBody>
      </p:sp>
      <p:sp>
        <p:nvSpPr>
          <p:cNvPr id="276" name="Google Shape;276;p54"/>
          <p:cNvSpPr txBox="1"/>
          <p:nvPr>
            <p:ph idx="1" type="body"/>
          </p:nvPr>
        </p:nvSpPr>
        <p:spPr>
          <a:xfrm>
            <a:off x="628650" y="1369218"/>
            <a:ext cx="7886700" cy="3358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de-CH"/>
              <a:t>Problem</a:t>
            </a:r>
            <a:r>
              <a:rPr lang="de-CH"/>
              <a:t>: In einem bestimmten Objekt muss ein anderes </a:t>
            </a:r>
            <a:br>
              <a:rPr lang="de-CH"/>
            </a:br>
            <a:r>
              <a:rPr lang="de-CH"/>
              <a:t>Objekt referenziert werden. Beispiel: Bei einem Votum soll auf </a:t>
            </a:r>
            <a:br>
              <a:rPr lang="de-CH"/>
            </a:br>
            <a:r>
              <a:rPr lang="de-CH"/>
              <a:t>die Votantin verwiesen werden.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de-CH"/>
              <a:t>Was wir </a:t>
            </a:r>
            <a:r>
              <a:rPr b="1" lang="de-CH"/>
              <a:t>nicht</a:t>
            </a:r>
            <a:r>
              <a:rPr lang="de-CH"/>
              <a:t> wollen: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-"/>
            </a:pPr>
            <a:r>
              <a:rPr lang="de-CH"/>
              <a:t>Die Votantin </a:t>
            </a:r>
            <a:r>
              <a:rPr b="1" lang="de-CH"/>
              <a:t>vollständig lokal</a:t>
            </a:r>
            <a:r>
              <a:rPr lang="de-CH"/>
              <a:t> definieren (weil sie wird an anderen Stellen wieder vorkommen und wir wollen ja genau erreichen, dass man weiss, dass die Votantin auch die gleiche Person in Interessensbindung </a:t>
            </a:r>
            <a:r>
              <a:rPr i="1" lang="de-CH"/>
              <a:t>xy</a:t>
            </a:r>
            <a:r>
              <a:rPr lang="de-CH"/>
              <a:t> 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-CH"/>
              <a:t>Nur auf eine </a:t>
            </a:r>
            <a:r>
              <a:rPr b="1" lang="de-CH"/>
              <a:t>eindeutige ID</a:t>
            </a:r>
            <a:r>
              <a:rPr lang="de-CH"/>
              <a:t> verweisen (wäre gemäss der “reinen Lehre” zwar richtig), weil dann ständige Abfragen auf dasjenige System nötig wären, welches die ID mit Zusatzinformationen (Name der Person etc.) auflösen könnte</a:t>
            </a:r>
            <a:endParaRPr/>
          </a:p>
        </p:txBody>
      </p:sp>
      <p:sp>
        <p:nvSpPr>
          <p:cNvPr id="277" name="Google Shape;277;p54"/>
          <p:cNvSpPr txBox="1"/>
          <p:nvPr>
            <p:ph idx="12" type="sldNum"/>
          </p:nvPr>
        </p:nvSpPr>
        <p:spPr>
          <a:xfrm>
            <a:off x="6457950" y="4856813"/>
            <a:ext cx="2057400" cy="184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pic>
        <p:nvPicPr>
          <p:cNvPr id="278" name="Google Shape;27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6550" y="742301"/>
            <a:ext cx="1415725" cy="141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5"/>
          <p:cNvSpPr txBox="1"/>
          <p:nvPr>
            <p:ph type="title"/>
          </p:nvPr>
        </p:nvSpPr>
        <p:spPr>
          <a:xfrm>
            <a:off x="628650" y="537307"/>
            <a:ext cx="7886700" cy="7725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Referenz-Klassen II</a:t>
            </a:r>
            <a:endParaRPr/>
          </a:p>
        </p:txBody>
      </p:sp>
      <p:sp>
        <p:nvSpPr>
          <p:cNvPr id="284" name="Google Shape;284;p55"/>
          <p:cNvSpPr txBox="1"/>
          <p:nvPr>
            <p:ph idx="1" type="body"/>
          </p:nvPr>
        </p:nvSpPr>
        <p:spPr>
          <a:xfrm>
            <a:off x="628650" y="1369218"/>
            <a:ext cx="7886700" cy="3222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Unsere </a:t>
            </a:r>
            <a:r>
              <a:rPr b="1" lang="de-CH"/>
              <a:t>Lösung</a:t>
            </a:r>
            <a:r>
              <a:rPr lang="de-CH"/>
              <a:t>: Wenn in einem Objekt ein Verweis auf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ein anderes Objekt nötig ist, kann das mit Referenz-Klassen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passieren (bspw. PersonReference oder GroupReference</a:t>
            </a:r>
            <a:r>
              <a:rPr lang="de-CH"/>
              <a:t>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de-CH"/>
              <a:t>Ein Objekt einer Reference Klasse enthält immer die </a:t>
            </a:r>
            <a:r>
              <a:rPr b="1" lang="de-CH"/>
              <a:t>URI</a:t>
            </a:r>
            <a:r>
              <a:rPr lang="de-CH"/>
              <a:t> zum eindeutigen Objekt und zusätzlich ein paar </a:t>
            </a:r>
            <a:r>
              <a:rPr b="1" lang="de-CH"/>
              <a:t>wenige lokale Attribute</a:t>
            </a:r>
            <a:r>
              <a:rPr lang="de-CH"/>
              <a:t> zum Objekt.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de-CH"/>
              <a:t>Vorteile: Die </a:t>
            </a:r>
            <a:r>
              <a:rPr b="1" lang="de-CH"/>
              <a:t>eindeutige Verbindung</a:t>
            </a:r>
            <a:r>
              <a:rPr lang="de-CH"/>
              <a:t> zum Objekt ist gegeben (alle weiteren infos können aufgelöst werden), es sind aber die </a:t>
            </a:r>
            <a:r>
              <a:rPr b="1" i="1" lang="de-CH"/>
              <a:t>Grunddaten</a:t>
            </a:r>
            <a:r>
              <a:rPr b="1" lang="de-CH"/>
              <a:t> bereits lokal</a:t>
            </a:r>
            <a:r>
              <a:rPr lang="de-CH"/>
              <a:t> vorhanden.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de-CH"/>
              <a:t>Zusätzlicher Gewinn: Mit diesem Mechanismus kann eine bescheidene </a:t>
            </a:r>
            <a:r>
              <a:rPr b="1" lang="de-CH"/>
              <a:t>Versionierung</a:t>
            </a:r>
            <a:r>
              <a:rPr lang="de-CH"/>
              <a:t> der Daten realisiert werden. </a:t>
            </a:r>
            <a:endParaRPr/>
          </a:p>
        </p:txBody>
      </p:sp>
      <p:sp>
        <p:nvSpPr>
          <p:cNvPr id="285" name="Google Shape;285;p55"/>
          <p:cNvSpPr txBox="1"/>
          <p:nvPr>
            <p:ph idx="12" type="sldNum"/>
          </p:nvPr>
        </p:nvSpPr>
        <p:spPr>
          <a:xfrm>
            <a:off x="6457950" y="4856813"/>
            <a:ext cx="2057400" cy="184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pic>
        <p:nvPicPr>
          <p:cNvPr id="286" name="Google Shape;28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6125" y="781695"/>
            <a:ext cx="1376075" cy="1383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6"/>
          <p:cNvSpPr txBox="1"/>
          <p:nvPr>
            <p:ph type="title"/>
          </p:nvPr>
        </p:nvSpPr>
        <p:spPr>
          <a:xfrm>
            <a:off x="628650" y="537307"/>
            <a:ext cx="7886700" cy="7725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Referenz-Klassen III - Beispiel</a:t>
            </a:r>
            <a:endParaRPr/>
          </a:p>
        </p:txBody>
      </p:sp>
      <p:sp>
        <p:nvSpPr>
          <p:cNvPr id="292" name="Google Shape;292;p56"/>
          <p:cNvSpPr txBox="1"/>
          <p:nvPr>
            <p:ph idx="12" type="sldNum"/>
          </p:nvPr>
        </p:nvSpPr>
        <p:spPr>
          <a:xfrm>
            <a:off x="6457950" y="4856813"/>
            <a:ext cx="2057400" cy="184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pic>
        <p:nvPicPr>
          <p:cNvPr id="293" name="Google Shape;29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7963" y="1136175"/>
            <a:ext cx="973575" cy="106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962" y="2371270"/>
            <a:ext cx="287655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0568" y="1322816"/>
            <a:ext cx="1025475" cy="896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94437" y="2461762"/>
            <a:ext cx="5248275" cy="180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7" name="Google Shape;297;p56"/>
          <p:cNvCxnSpPr/>
          <p:nvPr/>
        </p:nvCxnSpPr>
        <p:spPr>
          <a:xfrm rot="10800000">
            <a:off x="1470600" y="2731550"/>
            <a:ext cx="2513100" cy="789900"/>
          </a:xfrm>
          <a:prstGeom prst="bentConnector3">
            <a:avLst>
              <a:gd fmla="val 2207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8" name="Google Shape;298;p56"/>
          <p:cNvSpPr/>
          <p:nvPr/>
        </p:nvSpPr>
        <p:spPr>
          <a:xfrm>
            <a:off x="3945875" y="3625666"/>
            <a:ext cx="2468400" cy="58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9" name="Google Shape;299;p56"/>
          <p:cNvSpPr txBox="1"/>
          <p:nvPr/>
        </p:nvSpPr>
        <p:spPr>
          <a:xfrm>
            <a:off x="6457950" y="3624175"/>
            <a:ext cx="2377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 sz="1300">
                <a:latin typeface="Helvetica Neue"/>
                <a:ea typeface="Helvetica Neue"/>
                <a:cs typeface="Helvetica Neue"/>
                <a:sym typeface="Helvetica Neue"/>
              </a:rPr>
              <a:t>lokale Attribute, nicht “nachgezogen” → Historie</a:t>
            </a:r>
            <a:endParaRPr sz="1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7"/>
          <p:cNvSpPr txBox="1"/>
          <p:nvPr>
            <p:ph type="title"/>
          </p:nvPr>
        </p:nvSpPr>
        <p:spPr>
          <a:xfrm>
            <a:off x="628650" y="537307"/>
            <a:ext cx="7886700" cy="7725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LinkML Aufbau</a:t>
            </a:r>
            <a:endParaRPr/>
          </a:p>
        </p:txBody>
      </p:sp>
      <p:sp>
        <p:nvSpPr>
          <p:cNvPr id="305" name="Google Shape;305;p57"/>
          <p:cNvSpPr txBox="1"/>
          <p:nvPr>
            <p:ph idx="1" type="body"/>
          </p:nvPr>
        </p:nvSpPr>
        <p:spPr>
          <a:xfrm>
            <a:off x="628650" y="1369218"/>
            <a:ext cx="7886700" cy="3358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de-CH" sz="2000"/>
              <a:t>Automatische Generation des eCH Dokumentes funktioniert.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de-CH" sz="2000"/>
              <a:t>Datenmodell und Beschreibungen leben in schema.yaml.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de-CH" sz="2000"/>
              <a:t>Gemeinsame Teile über alle Subgruppen werden von der Metagruppe verwaltet. (Mixins)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de-CH" sz="2000"/>
              <a:t>Daten Beispiele werden automatisch in eCH Dokument eingebunden.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de-CH" sz="2000"/>
              <a:t>Enumerationen können mit externen Quellen verknüpft werden.</a:t>
            </a:r>
            <a:endParaRPr sz="2000"/>
          </a:p>
        </p:txBody>
      </p:sp>
      <p:sp>
        <p:nvSpPr>
          <p:cNvPr id="306" name="Google Shape;306;p57"/>
          <p:cNvSpPr txBox="1"/>
          <p:nvPr>
            <p:ph idx="12" type="sldNum"/>
          </p:nvPr>
        </p:nvSpPr>
        <p:spPr>
          <a:xfrm>
            <a:off x="6457950" y="4856813"/>
            <a:ext cx="2057400" cy="184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8"/>
          <p:cNvSpPr txBox="1"/>
          <p:nvPr>
            <p:ph type="title"/>
          </p:nvPr>
        </p:nvSpPr>
        <p:spPr>
          <a:xfrm>
            <a:off x="628650" y="537307"/>
            <a:ext cx="7886700" cy="7725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CH"/>
              <a:t>eCH-0294 Politische Akteure: Start des Fachgruppeninternen Reviews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58"/>
          <p:cNvSpPr txBox="1"/>
          <p:nvPr>
            <p:ph idx="1" type="body"/>
          </p:nvPr>
        </p:nvSpPr>
        <p:spPr>
          <a:xfrm>
            <a:off x="628650" y="1369218"/>
            <a:ext cx="7886700" cy="3358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de-CH"/>
              <a:t>Version 0.1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Review bis Dienstag 30. Juni mit Augenmerk auf: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CH"/>
              <a:t>Sinnhaftigkeit der Beschreibung?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CH"/>
              <a:t>Findet man Widersprüche zwischen Modell und Beschreibungen?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CH"/>
              <a:t>Benutzung in anderen Subgruppen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CH"/>
              <a:t>Zu bearbeitenden Version wird bis Freitag zugesandt.</a:t>
            </a:r>
            <a:br>
              <a:rPr lang="de-CH"/>
            </a:b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CH"/>
              <a:t>10. Juni, 13:05 Online - Termin offen für Rückmeldungen zu interner Konsultation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CH"/>
              <a:t>1. Juli, 13:05 Online - Termin mit Freigabe für eCH Review</a:t>
            </a:r>
            <a:endParaRPr/>
          </a:p>
          <a:p>
            <a:pPr indent="0" lvl="0" marL="91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Feedback als: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CH"/>
              <a:t>GitHub Issues, oder Pull-Request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CH"/>
              <a:t>E-Mail (mit oder ohne Review Dokument)</a:t>
            </a:r>
            <a:endParaRPr/>
          </a:p>
        </p:txBody>
      </p:sp>
      <p:sp>
        <p:nvSpPr>
          <p:cNvPr id="313" name="Google Shape;313;p58"/>
          <p:cNvSpPr txBox="1"/>
          <p:nvPr>
            <p:ph idx="12" type="sldNum"/>
          </p:nvPr>
        </p:nvSpPr>
        <p:spPr>
          <a:xfrm>
            <a:off x="6457950" y="4856813"/>
            <a:ext cx="2057400" cy="184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9"/>
          <p:cNvSpPr txBox="1"/>
          <p:nvPr>
            <p:ph type="title"/>
          </p:nvPr>
        </p:nvSpPr>
        <p:spPr>
          <a:xfrm>
            <a:off x="628650" y="537307"/>
            <a:ext cx="7886700" cy="7725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Weiterführende Infos und Events</a:t>
            </a:r>
            <a:endParaRPr/>
          </a:p>
        </p:txBody>
      </p:sp>
      <p:sp>
        <p:nvSpPr>
          <p:cNvPr id="319" name="Google Shape;319;p59"/>
          <p:cNvSpPr txBox="1"/>
          <p:nvPr>
            <p:ph idx="1" type="body"/>
          </p:nvPr>
        </p:nvSpPr>
        <p:spPr>
          <a:xfrm>
            <a:off x="628650" y="1369218"/>
            <a:ext cx="7886700" cy="3358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Do. 4.6.2026 - </a:t>
            </a:r>
            <a:r>
              <a:rPr lang="de-CH" u="sng">
                <a:solidFill>
                  <a:schemeClr val="hlink"/>
                </a:solidFill>
                <a:hlinkClick r:id="rId3"/>
              </a:rPr>
              <a:t>opendatabeer.ch</a:t>
            </a:r>
            <a:r>
              <a:rPr lang="de-CH"/>
              <a:t> mit OpenParlData.ch in Zürich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Do. 18.6.2026 - </a:t>
            </a:r>
            <a:r>
              <a:rPr lang="de-CH" u="sng">
                <a:solidFill>
                  <a:schemeClr val="hlink"/>
                </a:solidFill>
                <a:hlinkClick r:id="rId4"/>
              </a:rPr>
              <a:t>Public Meeting OpenParlData.ch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-CH">
                <a:solidFill>
                  <a:schemeClr val="dk1"/>
                </a:solidFill>
              </a:rPr>
              <a:t>Online: </a:t>
            </a:r>
            <a:r>
              <a:rPr lang="de-CH" u="sng">
                <a:solidFill>
                  <a:schemeClr val="hlink"/>
                </a:solidFill>
                <a:hlinkClick r:id="rId5"/>
              </a:rPr>
              <a:t>Videos</a:t>
            </a:r>
            <a:r>
              <a:rPr lang="de-CH">
                <a:solidFill>
                  <a:schemeClr val="dk1"/>
                </a:solidFill>
              </a:rPr>
              <a:t> from LegisTech Conference May 2026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59"/>
          <p:cNvSpPr txBox="1"/>
          <p:nvPr>
            <p:ph idx="12" type="sldNum"/>
          </p:nvPr>
        </p:nvSpPr>
        <p:spPr>
          <a:xfrm>
            <a:off x="6457950" y="4856813"/>
            <a:ext cx="2057400" cy="184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pic>
        <p:nvPicPr>
          <p:cNvPr id="321" name="Google Shape;321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411875" y="1272575"/>
            <a:ext cx="477425" cy="4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porary Light">
  <a:themeElements>
    <a:clrScheme name="Simple Light">
      <a:dk1>
        <a:srgbClr val="000000"/>
      </a:dk1>
      <a:lt1>
        <a:srgbClr val="FFFFFF"/>
      </a:lt1>
      <a:dk2>
        <a:srgbClr val="2B2B2B"/>
      </a:dk2>
      <a:lt2>
        <a:srgbClr val="464646"/>
      </a:lt2>
      <a:accent1>
        <a:srgbClr val="BD2738"/>
      </a:accent1>
      <a:accent2>
        <a:srgbClr val="EAB53D"/>
      </a:accent2>
      <a:accent3>
        <a:srgbClr val="EE6F2D"/>
      </a:accent3>
      <a:accent4>
        <a:srgbClr val="4C19AF"/>
      </a:accent4>
      <a:accent5>
        <a:srgbClr val="439642"/>
      </a:accent5>
      <a:accent6>
        <a:srgbClr val="27A8E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