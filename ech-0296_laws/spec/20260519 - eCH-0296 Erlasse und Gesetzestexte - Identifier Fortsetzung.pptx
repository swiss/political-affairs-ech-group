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82" r:id="rId3"/>
    <p:sldId id="276" r:id="rId4"/>
    <p:sldId id="281" r:id="rId5"/>
    <p:sldId id="305" r:id="rId6"/>
    <p:sldId id="303" r:id="rId7"/>
    <p:sldId id="279" r:id="rId8"/>
    <p:sldId id="307" r:id="rId9"/>
    <p:sldId id="306" r:id="rId10"/>
    <p:sldId id="320" r:id="rId11"/>
    <p:sldId id="327" r:id="rId12"/>
    <p:sldId id="325" r:id="rId13"/>
    <p:sldId id="331" r:id="rId14"/>
    <p:sldId id="319" r:id="rId15"/>
    <p:sldId id="328" r:id="rId16"/>
    <p:sldId id="322" r:id="rId17"/>
    <p:sldId id="321" r:id="rId18"/>
    <p:sldId id="278" r:id="rId19"/>
    <p:sldId id="329" r:id="rId20"/>
    <p:sldId id="330" r:id="rId21"/>
    <p:sldId id="332" r:id="rId22"/>
    <p:sldId id="333" r:id="rId23"/>
    <p:sldId id="334" r:id="rId24"/>
    <p:sldId id="335" r:id="rId25"/>
    <p:sldId id="324" r:id="rId26"/>
    <p:sldId id="323" r:id="rId27"/>
    <p:sldId id="337" r:id="rId28"/>
    <p:sldId id="336" r:id="rId29"/>
    <p:sldId id="338" r:id="rId30"/>
    <p:sldId id="340" r:id="rId31"/>
    <p:sldId id="339" r:id="rId32"/>
    <p:sldId id="314" r:id="rId33"/>
    <p:sldId id="280" r:id="rId34"/>
    <p:sldId id="283" r:id="rId35"/>
    <p:sldId id="285" r:id="rId36"/>
    <p:sldId id="284" r:id="rId37"/>
    <p:sldId id="286" r:id="rId38"/>
    <p:sldId id="310" r:id="rId39"/>
    <p:sldId id="317" r:id="rId40"/>
    <p:sldId id="308" r:id="rId41"/>
    <p:sldId id="309" r:id="rId42"/>
    <p:sldId id="316" r:id="rId43"/>
    <p:sldId id="311" r:id="rId44"/>
    <p:sldId id="312" r:id="rId45"/>
    <p:sldId id="318" r:id="rId46"/>
    <p:sldId id="315" r:id="rId47"/>
    <p:sldId id="313" r:id="rId48"/>
    <p:sldId id="287" r:id="rId49"/>
    <p:sldId id="295" r:id="rId50"/>
    <p:sldId id="298" r:id="rId51"/>
    <p:sldId id="297" r:id="rId52"/>
    <p:sldId id="288" r:id="rId53"/>
    <p:sldId id="292" r:id="rId54"/>
    <p:sldId id="296" r:id="rId55"/>
    <p:sldId id="290" r:id="rId56"/>
    <p:sldId id="301" r:id="rId57"/>
    <p:sldId id="293" r:id="rId58"/>
    <p:sldId id="299" r:id="rId59"/>
    <p:sldId id="300" r:id="rId60"/>
    <p:sldId id="275" r:id="rId6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9"/>
    <p:restoredTop sz="91414"/>
  </p:normalViewPr>
  <p:slideViewPr>
    <p:cSldViewPr snapToGrid="0">
      <p:cViewPr>
        <p:scale>
          <a:sx n="96" d="100"/>
          <a:sy n="96" d="100"/>
        </p:scale>
        <p:origin x="1936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CFFC9-A853-1644-A226-B8F71A2547D4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93BA5-1470-AD47-924D-9C28E7B6F5A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8973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53198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6461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2489-D24F-1A24-13AA-551D647F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6C3F0-9820-ABC0-CA1E-5F7BBBD14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6291E-845F-72CC-C5BE-30FEB2BB7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275BF-9ECF-4E45-0793-504713C54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39223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20B4-F16D-BF3B-35C9-A7DD30FA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7980E-33E4-640C-1F28-90055171B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C37C0-6D85-6A5C-208E-9B34BDCF7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78334-4BD7-C387-F764-28200A6A0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4526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883F-CC8C-8762-49AF-CE124ECF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2E609-3DDE-818D-E499-C82866F46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EE32E-CA87-34CE-A85F-36E2C395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D4ADB-540B-8726-B71F-FB74EC529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950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6F55-814E-5FBA-5B2D-5088CC7F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856EE-32B7-0179-BBD4-7B441C938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5694D-9EC3-94B3-7276-9D21F5B70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086A1-744E-5B74-8538-1670EF280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50223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290A-F658-9B83-445E-BD7BF139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E218B-230B-C06F-071C-BD64258F9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88F23-FB11-EFD4-A7BA-AA56F532F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C6D26-FA7E-E966-9A1F-5B140AC16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24914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1EDA-92A3-A476-6751-4864A7B3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21E2F-86FD-5EA9-8844-1FCA0BD74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9B9A4-4EAC-ACC5-AB7D-46907FEDA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BB70-88EF-41E0-0AB5-576F644F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305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B412-9293-5FA3-F290-1D9B1597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EF65A-679B-89B1-0879-E3A79F324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30C26-D6F2-48BE-6E1E-06FFE692D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8DC7-E3C9-2450-3652-236BC376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362079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8150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7918-36B7-603C-A4E5-E4A80318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78643-92D8-EED1-AD9C-8B9A6CEE4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F459B-193B-07B2-1A49-0D99EA64A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6CDBC-27D7-514C-7546-E2BE95CE2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29065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FDC5F-1745-26C6-4925-1CBEF6D3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347BB-4619-CB55-1ABA-5F15AD913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11E46-A306-D07F-D83E-1CA20CB3E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B7968-0AD3-D986-797A-613D7F4C1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76260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7F1A-902E-B13A-FE5C-0E1A998E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C0F52-34B5-33ED-589E-6E5390FEB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44C48-A1BB-577A-C44D-74F9B064A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2C077-F2F9-5CE5-A711-2941FDAA7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1437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A035-91AB-CF1F-80ED-02EF8859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E8EB6-E6AC-D748-F262-C28B1B1EA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EE9A9-8DB7-F11B-ADB1-D0A81AF64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03631-4F7A-FA31-0FF4-2724E37DC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1139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2759-97AF-B2C6-F808-F2E125DA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09B6B-9A28-BAFA-C9AE-3A6DE9251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29779-2632-DCD3-909C-468254DB9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D065E-9A91-BBC9-5466-E316EBF48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65335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6A6E-4903-42D9-DC49-05A303F0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28B4D-535C-389E-FDDC-5AD087D23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E546F-B463-E8C3-0915-7B7BCDB43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93A3E-17EA-DD28-9A71-5F5D765F2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11402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D18A0-EC5F-C233-6A6D-6C1F5749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69985-2FF5-79C6-B538-D466318A7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4B1B1-F2C9-4C26-D779-FB9487962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4F566-61BC-61CF-D762-7D6D1586C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5690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8FA3-ECB4-E1F8-F3DB-FD35E6BA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7774D-21E1-0CD1-55E0-86BD52E77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2375B-3CB2-448F-D2B2-1913D03EB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5CFC1-7DF6-E7DA-AC2C-AD32D128C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61771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E4F0-F7BA-7B0B-CE75-EBA8D0B3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48EEC-3967-14A8-4270-28D498E73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D9B2E-B932-A5F2-B4E0-EF0CF8844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4880-4F6A-CC67-DC03-F6219EBD0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90738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D35B-F29C-F9E3-6D06-419DA86B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885D1-BCD2-3DC1-9412-506A0E4A0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B31ED-38A7-7E7D-402E-6703DD0E4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83238-40AF-1138-FE90-2B6C38C5A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73290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7E7F-B4F8-3CE5-8757-8A8D833A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D37C1-E88A-469F-6FF8-BB4C6E0F7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FB222-0A98-A108-8A0E-54836C59A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5D0E2-941F-4E7E-F286-EF613EB4E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20816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23E5-8556-F9BB-C3B7-7399C444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50FDF-B7BD-A8A9-D1F7-2B6165102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1416A-AA34-697C-B7F9-728A8B18A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9F6D7-AB3C-461B-9972-9E54B4BD1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76734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ACDC-13F1-E876-A346-1DDFD345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0ACB2-D052-BAF0-ACC5-8D07FCCB5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78BD4-071B-6A46-F571-3366C733A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A4B58-3A76-47B2-5241-6AECCFA8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11454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1700-D9F2-11FF-76ED-A35D092B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D8C1B-EAE1-A8B2-0D11-9CB8CAFCA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949AF-1F58-E60E-0152-D52F12642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8348D-34F2-E902-8B04-7FA2D6677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28833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FB99-58D0-18C1-C8AF-29B7A4D5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DF258-D307-E080-6541-04A021BD2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5EFF0-9424-6EB1-2BAD-F2198C1C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8ED9D-6A35-159D-C37D-540C2533F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8902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1BFB-B256-9BA4-7D2E-5651F663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9755C-0310-1B25-0213-4DA19CED2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F37C2-FB6B-9DED-0871-D55C4253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CC5F-CD31-BE84-7CE9-4A968ECD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7162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B81B-6B19-6BE2-99E0-F876A381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4507D-EF16-D505-919A-DD01F7BE3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0D3C2-26EA-63E4-6FD0-AA78A18B7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BBBB-699B-ECA5-86CE-0501E711F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2281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14CE-3CE4-6DBE-90AB-D5045E03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23748-B398-6B38-5551-46BE43898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36571-C179-6A7A-8C8E-8FFFB7934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C7FF-EED8-AB8B-FE2E-F083BA3FB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82581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4579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7572-2E9E-771B-84C2-4FF4E04B0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854201"/>
            <a:ext cx="10515599" cy="1655762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1B3E9-9DFC-7B3A-969D-31ABE0C29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105156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416D7-6CDF-5354-2432-5F1C3253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21B0C-6619-3E5F-8FCB-B8C0C835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22D4-310E-9E13-82B1-C4118E304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1291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9DFB5-1303-3105-1289-F1DF1916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8F155-1202-FCE6-5BF5-74C9A83E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5B8F-6639-F4E9-C705-1C1EDDF2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E36036-4B95-F922-F09B-391E201D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24776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DCA23-D461-C39D-6F81-F8F3C1D2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555B4-9C52-BEB2-145E-3C2B15EA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24B3C-6E4A-1F99-55D9-191C5B8F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052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D6BD-78AE-6751-4E4D-24E9A088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8EC8-6FAC-5A7D-EA51-597191E2E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DCB14-7949-956E-6C3D-D743D8B1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71C5B-5A5F-C339-FF66-DF43DFEB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0AAE1-7389-A888-2523-136DDB74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16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F39B-100E-A900-6913-F8CEB6FB3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66377"/>
            <a:ext cx="5181600" cy="4310586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13E77-1958-8F33-956E-D533B64C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EA2B4-AC5C-AF59-499E-34A908E8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CCB9F-AAD1-4F0D-6B50-D9B9A81B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1F8E65-91F5-3701-3179-122E215F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2D85C9-17ED-60C8-700E-20D47FB3749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66377"/>
            <a:ext cx="5181600" cy="4310586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5624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31819-5AC9-43E8-B2FA-FB465F6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66377"/>
            <a:ext cx="5157787" cy="6386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166FE-6470-13DD-AF00-F908946D5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66377"/>
            <a:ext cx="5183188" cy="6386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0D4CD-8B01-5DE5-60F0-CA0E86B6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F09F2-0A2A-ECA3-58C7-29B67B5F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9505C-EB25-08A5-EC7F-F1B29310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F402EC-9BD0-523D-F5B8-9C66D3C9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EA7C661-0453-DF16-10F3-A47CE59346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2654299"/>
            <a:ext cx="5181600" cy="3522663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0FE0A7C-A115-3C88-7DBF-D2773AA4717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72202" y="2654299"/>
            <a:ext cx="5181600" cy="3522663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2573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67051-C2D8-B0F3-EECC-4B014FCD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6418-4F05-11E0-4F34-B7B305D09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2722-645D-AAFF-491C-4E22C174D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874A1E8-1DDB-B763-E974-4120ED59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B22513-3FDB-A4F1-713F-1E885AB6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66377"/>
            <a:ext cx="10515600" cy="4310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7285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2" r:id="rId5"/>
    <p:sldLayoutId id="2147483653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RI_Templat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fedlex.data.admin.ch/eli/collection/fga" TargetMode="External"/><Relationship Id="rId3" Type="http://schemas.openxmlformats.org/officeDocument/2006/relationships/hyperlink" Target="https://www.fedlex.admin.ch/de/oc/index" TargetMode="External"/><Relationship Id="rId7" Type="http://schemas.openxmlformats.org/officeDocument/2006/relationships/hyperlink" Target="https://www.fedlex.admin.ch/de/oc/index/2010/6/23" TargetMode="External"/><Relationship Id="rId2" Type="http://schemas.openxmlformats.org/officeDocument/2006/relationships/hyperlink" Target="https://fedlex.data.admin.ch/eli/collection/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eli/collection/oc/2010/23" TargetMode="External"/><Relationship Id="rId5" Type="http://schemas.openxmlformats.org/officeDocument/2006/relationships/hyperlink" Target="https://www.fedlex.admin.ch/de/oc/index/2010/6" TargetMode="External"/><Relationship Id="rId4" Type="http://schemas.openxmlformats.org/officeDocument/2006/relationships/hyperlink" Target="https://www.fedlex.admin.ch/de/oc/index/2010" TargetMode="External"/><Relationship Id="rId9" Type="http://schemas.openxmlformats.org/officeDocument/2006/relationships/hyperlink" Target="https://www.fedlex.admin.ch/de/fga/index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fedlex.data.admin.ch/eli/dl/proj/%7byear%7d/%7blegislative_process_identifier%7d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6020/6/cons_1/cons-open" TargetMode="External"/><Relationship Id="rId2" Type="http://schemas.openxmlformats.org/officeDocument/2006/relationships/hyperlink" Target="https://fedlex.data.admin.ch/eli/dl/proj/6020/6/cons_1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edlex.data.admin.ch/eli/dl/proj/6020/34/cons_1/doc_2" TargetMode="External"/><Relationship Id="rId4" Type="http://schemas.openxmlformats.org/officeDocument/2006/relationships/hyperlink" Target="https://fedlex.data.admin.ch/eli/dl/proj/6020/34/cons_1/doc_1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6020/6/cons_1/cons-open" TargetMode="External"/><Relationship Id="rId2" Type="http://schemas.openxmlformats.org/officeDocument/2006/relationships/hyperlink" Target="https://fedlex.data.admin.ch/eli/dl/proj/6020/6/cons_1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edlex.data.admin.ch/eli/dl/proj/6020/34/cons_1/doc_2" TargetMode="External"/><Relationship Id="rId4" Type="http://schemas.openxmlformats.org/officeDocument/2006/relationships/hyperlink" Target="https://fedlex.data.admin.ch/eli/dl/proj/6020/34/cons_1/doc_1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s://www.agvchapp.bfs.admin.ch/de/mutated-communes/query" TargetMode="External"/><Relationship Id="rId4" Type="http://schemas.openxmlformats.org/officeDocument/2006/relationships/hyperlink" Target="https://www.bfs.admin.ch/bfs/de/home/grundlagen/agvch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4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9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3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6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FF11-18AC-8F68-D30D-92DDC44F5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035" y="1122363"/>
            <a:ext cx="10772383" cy="2387600"/>
          </a:xfrm>
        </p:spPr>
        <p:txBody>
          <a:bodyPr/>
          <a:lstStyle/>
          <a:p>
            <a:pPr algn="l"/>
            <a:r>
              <a:rPr lang="en-CH" dirty="0"/>
              <a:t>eCH-0296</a:t>
            </a:r>
            <a:br>
              <a:rPr lang="en-CH" dirty="0"/>
            </a:br>
            <a:r>
              <a:rPr lang="en-CH" dirty="0"/>
              <a:t>Erlasse und Gesetzestexte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07D8E-979F-BC48-BE60-3BC39C195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035" y="3602038"/>
            <a:ext cx="10772383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Modul 1: Identifier</a:t>
            </a:r>
          </a:p>
          <a:p>
            <a:pPr algn="l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l"/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Fachgruppen-Sitzung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Nr. 4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20. Mai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2026</a:t>
            </a:r>
            <a:br>
              <a:rPr lang="en-GB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Martin Baiutti-Gajdos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3876256-2D43-79E4-0AC4-2DE9FB3F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0" y="390526"/>
            <a:ext cx="2159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56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F630-D473-6FC3-60B9-44B69BEE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B0301-D259-BB6B-86EF-CDD499CA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3E367-15A8-AA95-1345-3531641F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Identifier - </a:t>
            </a:r>
            <a:r>
              <a:rPr lang="en-GB" dirty="0" err="1"/>
              <a:t>Fachgruppen-Sitzung</a:t>
            </a:r>
            <a:r>
              <a:rPr lang="en-GB" dirty="0"/>
              <a:t> Nr. 4 </a:t>
            </a:r>
            <a:r>
              <a:rPr lang="en-GB" dirty="0" err="1"/>
              <a:t>vom</a:t>
            </a:r>
            <a:r>
              <a:rPr lang="en-GB" dirty="0"/>
              <a:t> 20. Mai 2026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31C9-1270-45EC-C669-6B92F43B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AC37EE-9D93-79CC-8DAF-F5D7F8F5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C42D791-CA89-2758-7129-1BA3BDB7CD21}"/>
              </a:ext>
            </a:extLst>
          </p:cNvPr>
          <p:cNvSpPr txBox="1">
            <a:spLocks/>
          </p:cNvSpPr>
          <p:nvPr/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Update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Rechtsinformatikseminar</a:t>
            </a:r>
            <a:r>
              <a:rPr lang="en-GB" dirty="0"/>
              <a:t>	5’</a:t>
            </a:r>
          </a:p>
          <a:p>
            <a:r>
              <a:rPr lang="en-GB" dirty="0"/>
              <a:t>Jurisdiction </a:t>
            </a:r>
            <a:r>
              <a:rPr lang="en-GB" dirty="0" err="1"/>
              <a:t>Komponente</a:t>
            </a:r>
            <a:r>
              <a:rPr lang="en-GB" dirty="0"/>
              <a:t> (</a:t>
            </a:r>
            <a:r>
              <a:rPr lang="en-GB" dirty="0" err="1"/>
              <a:t>Fortsetzung</a:t>
            </a:r>
            <a:r>
              <a:rPr lang="en-GB" dirty="0"/>
              <a:t>) 	15-20’</a:t>
            </a:r>
          </a:p>
          <a:p>
            <a:r>
              <a:rPr lang="en-GB" dirty="0" err="1"/>
              <a:t>Fedlex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				30’</a:t>
            </a:r>
          </a:p>
          <a:p>
            <a:r>
              <a:rPr lang="en-GB" dirty="0" err="1"/>
              <a:t>Fragen</a:t>
            </a:r>
            <a:r>
              <a:rPr lang="en-GB" dirty="0"/>
              <a:t>						10-15’</a:t>
            </a:r>
          </a:p>
        </p:txBody>
      </p:sp>
    </p:spTree>
    <p:extLst>
      <p:ext uri="{BB962C8B-B14F-4D97-AF65-F5344CB8AC3E}">
        <p14:creationId xmlns:p14="http://schemas.microsoft.com/office/powerpoint/2010/main" val="1309252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2EFEC-A375-5450-E9DE-77ABEA2B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6F90F-5030-AB30-9B7A-7FE83F03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082C6-2F4F-E696-6C66-5494466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B7B385-9F66-D322-D522-AAE4F846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Heutiges Ziel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6DDCD2A-A090-615C-5A11-6B5B83E83CEE}"/>
              </a:ext>
            </a:extLst>
          </p:cNvPr>
          <p:cNvSpPr txBox="1">
            <a:spLocks/>
          </p:cNvSpPr>
          <p:nvPr/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Entscheidungen</a:t>
            </a:r>
            <a:r>
              <a:rPr lang="en-GB" dirty="0"/>
              <a:t> </a:t>
            </a:r>
            <a:r>
              <a:rPr lang="en-GB" dirty="0" err="1"/>
              <a:t>hinsichtlich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Aufbau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schweizweit</a:t>
            </a:r>
            <a:r>
              <a:rPr lang="en-GB" dirty="0"/>
              <a:t> </a:t>
            </a:r>
            <a:r>
              <a:rPr lang="en-GB" dirty="0" err="1"/>
              <a:t>einheitlichen</a:t>
            </a:r>
            <a:r>
              <a:rPr lang="en-GB" dirty="0"/>
              <a:t> URL für </a:t>
            </a:r>
            <a:r>
              <a:rPr lang="en-GB" dirty="0" err="1"/>
              <a:t>Erlasse</a:t>
            </a:r>
            <a:r>
              <a:rPr lang="en-GB" dirty="0"/>
              <a:t> und </a:t>
            </a:r>
            <a:r>
              <a:rPr lang="en-GB" dirty="0" err="1"/>
              <a:t>Gesetzestexte</a:t>
            </a:r>
            <a:r>
              <a:rPr lang="en-GB" dirty="0"/>
              <a:t> </a:t>
            </a:r>
            <a:r>
              <a:rPr lang="en-GB" dirty="0" err="1"/>
              <a:t>vorbereiten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treffen</a:t>
            </a:r>
            <a:r>
              <a:rPr lang="en-GB" dirty="0"/>
              <a:t>. </a:t>
            </a:r>
          </a:p>
          <a:p>
            <a:r>
              <a:rPr lang="en-GB" dirty="0"/>
              <a:t>Wir </a:t>
            </a:r>
            <a:r>
              <a:rPr lang="en-GB" dirty="0" err="1"/>
              <a:t>orientieren</a:t>
            </a:r>
            <a:r>
              <a:rPr lang="en-GB" dirty="0"/>
              <a:t> </a:t>
            </a:r>
            <a:r>
              <a:rPr lang="en-GB" dirty="0" err="1"/>
              <a:t>uns</a:t>
            </a:r>
            <a:r>
              <a:rPr lang="en-GB" dirty="0"/>
              <a:t> am ELI Framework/Standard und </a:t>
            </a:r>
            <a:r>
              <a:rPr lang="en-GB" dirty="0" err="1"/>
              <a:t>definieren</a:t>
            </a:r>
            <a:r>
              <a:rPr lang="en-GB" dirty="0"/>
              <a:t> </a:t>
            </a: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 </a:t>
            </a:r>
            <a:r>
              <a:rPr lang="en-GB" dirty="0" err="1"/>
              <a:t>bei</a:t>
            </a:r>
            <a:r>
              <a:rPr lang="en-GB" dirty="0"/>
              <a:t> der </a:t>
            </a:r>
            <a:r>
              <a:rPr lang="en-GB" dirty="0" err="1"/>
              <a:t>Bildung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URL/URI </a:t>
            </a:r>
            <a:r>
              <a:rPr lang="en-GB" dirty="0" err="1"/>
              <a:t>benutzt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sollen</a:t>
            </a:r>
            <a:r>
              <a:rPr lang="en-GB" dirty="0"/>
              <a:t>. </a:t>
            </a:r>
          </a:p>
          <a:p>
            <a:r>
              <a:rPr lang="en-GB" dirty="0"/>
              <a:t>Das </a:t>
            </a:r>
            <a:r>
              <a:rPr lang="en-GB" dirty="0" err="1"/>
              <a:t>Ergebnis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Application Profile des ELI Standards für die Schweiz = Der Swiss Legal Identifier (SLI </a:t>
            </a:r>
            <a:r>
              <a:rPr lang="en-GB" dirty="0" err="1"/>
              <a:t>oder</a:t>
            </a:r>
            <a:r>
              <a:rPr lang="en-GB" dirty="0"/>
              <a:t> ELI4CH)</a:t>
            </a:r>
            <a:r>
              <a:rPr lang="en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249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EE8B-A127-B7FA-AF62-C22AC056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D8CB8-38CF-5EC5-1895-2C7749B0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0F838-C8C1-063E-1B77-10F9BB28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B9BC-6585-FF85-4766-AF1475D5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959B38-963B-1E98-3F7A-C1899A89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Scope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A0CD78-C789-35D4-293F-C3A00C91C223}"/>
              </a:ext>
            </a:extLst>
          </p:cNvPr>
          <p:cNvSpPr txBox="1">
            <a:spLocks/>
          </p:cNvSpPr>
          <p:nvPr/>
        </p:nvSpPr>
        <p:spPr>
          <a:xfrm>
            <a:off x="838200" y="1994594"/>
            <a:ext cx="10515600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https://domain.ch/ </a:t>
            </a:r>
            <a:r>
              <a:rPr lang="en-CH" u="sng" dirty="0"/>
              <a:t>path/</a:t>
            </a:r>
            <a:r>
              <a:rPr lang="en-CH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?query </a:t>
            </a:r>
            <a:r>
              <a:rPr lang="en-CH" u="sng" dirty="0"/>
              <a:t>#fragment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3E86E04-F123-3DD4-296C-B11A72C2B15F}"/>
              </a:ext>
            </a:extLst>
          </p:cNvPr>
          <p:cNvSpPr txBox="1">
            <a:spLocks/>
          </p:cNvSpPr>
          <p:nvPr/>
        </p:nvSpPr>
        <p:spPr>
          <a:xfrm>
            <a:off x="5173883" y="3154571"/>
            <a:ext cx="6284089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Components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1E013F-0BEB-4FA3-C552-03077545F894}"/>
              </a:ext>
            </a:extLst>
          </p:cNvPr>
          <p:cNvCxnSpPr>
            <a:stCxn id="13" idx="1"/>
          </p:cNvCxnSpPr>
          <p:nvPr/>
        </p:nvCxnSpPr>
        <p:spPr>
          <a:xfrm flipV="1">
            <a:off x="5173883" y="2756811"/>
            <a:ext cx="0" cy="77886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040B47EB-6216-5DED-A6EC-C51C72BAFC98}"/>
              </a:ext>
            </a:extLst>
          </p:cNvPr>
          <p:cNvSpPr txBox="1">
            <a:spLocks/>
          </p:cNvSpPr>
          <p:nvPr/>
        </p:nvSpPr>
        <p:spPr>
          <a:xfrm>
            <a:off x="8141826" y="3916788"/>
            <a:ext cx="3517738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Subdivisions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1AAAF-31FD-CAE2-712D-BF15DF62652B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8141826" y="2756811"/>
            <a:ext cx="0" cy="15410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DBC6E5C-2BBE-E9CA-FEA7-F81D00149BCE}"/>
              </a:ext>
            </a:extLst>
          </p:cNvPr>
          <p:cNvSpPr/>
          <p:nvPr/>
        </p:nvSpPr>
        <p:spPr>
          <a:xfrm>
            <a:off x="5173883" y="3217761"/>
            <a:ext cx="3067290" cy="66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209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E56F-8FDD-86B4-B6A3-A8D334B8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Scope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6FA89-D0E1-39DD-C860-D2F08E0A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Nur eigenständige Ressourcen (Dokumente als XML, HTML oder PDF), nicht uneigenständige Textabschnitte innerhalb der Ressource.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de-C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 nennt diese </a:t>
            </a:r>
            <a:r>
              <a:rPr kumimoji="0" lang="de-CH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Subdivisions</a:t>
            </a:r>
            <a:endParaRPr lang="en-CH" dirty="0"/>
          </a:p>
          <a:p>
            <a:r>
              <a:rPr lang="en-CH" dirty="0"/>
              <a:t>Nur Erlasse und Gesetzestexte, nicht Entwürfe.</a:t>
            </a:r>
          </a:p>
          <a:p>
            <a:pPr lvl="1">
              <a:buFont typeface="Wingdings" pitchFamily="2" charset="2"/>
              <a:buChar char="Ø"/>
            </a:pPr>
            <a:r>
              <a:rPr lang="en-CH" b="1" dirty="0"/>
              <a:t>ELI-DL </a:t>
            </a:r>
            <a:r>
              <a:rPr lang="en-GB" b="1" dirty="0"/>
              <a:t>Extension of ELI standard for Draft Legislation</a:t>
            </a:r>
            <a:endParaRPr lang="en-C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84D14-E14C-3F47-9C0B-5A2AAF9C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A02BD-009E-D60E-CDF4-F2412392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923EA-849C-DD28-41EF-25CF291D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42AD6-7D4D-D927-BC4F-CC085460AEF0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https://url.spec.whatwg.org/#url-representation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CBF9C7-AE4C-593B-E424-7736315D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11724"/>
            <a:ext cx="10821362" cy="69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2D21-D453-CC60-0E09-AF222232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9DA4C-9647-66BB-BFB9-88CF8376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C6EC3-4AFF-B31A-CF39-35D90811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FBFE7-CD12-D1B0-334A-07766C95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6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2B4111-2E99-40BD-4152-5F0F83CB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Framework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D3E45-0122-5AAA-28F2-1FA18492B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8344"/>
            <a:ext cx="10817506" cy="26513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AA2FA4-03B9-4660-0377-01F9DAA2CD2B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https://op.europa.eu/en/web/eu-vocabularies/eli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74B265-C4DD-39FC-16C5-C44975B90780}"/>
              </a:ext>
            </a:extLst>
          </p:cNvPr>
          <p:cNvSpPr/>
          <p:nvPr/>
        </p:nvSpPr>
        <p:spPr>
          <a:xfrm>
            <a:off x="971309" y="2901193"/>
            <a:ext cx="3241875" cy="339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8081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8CE8-6633-E522-1EA8-5B1B94A5E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F129-8F87-846D-5F0D-7C8231022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Der path beginnt immer mit der     </a:t>
            </a:r>
            <a:r>
              <a:rPr lang="en-CH" b="1" dirty="0"/>
              <a:t>eli/    </a:t>
            </a:r>
            <a:r>
              <a:rPr lang="en-CH" dirty="0"/>
              <a:t>Komponente, die als Namespace fungiert.</a:t>
            </a:r>
            <a:endParaRPr lang="en-CH" b="1" dirty="0"/>
          </a:p>
          <a:p>
            <a:r>
              <a:rPr lang="en-CH" dirty="0"/>
              <a:t>Für die Bildung des Identifiers sieht das Template vier Komponenten-Gruppen vor, die aus mehreren Teilen bestehen kann.</a:t>
            </a:r>
          </a:p>
          <a:p>
            <a:pPr lvl="1"/>
            <a:r>
              <a:rPr lang="en-CH" dirty="0"/>
              <a:t>/jurisdiction		</a:t>
            </a:r>
            <a:r>
              <a:rPr lang="en-GB" dirty="0"/>
              <a:t>Land + Agent + Subagent</a:t>
            </a:r>
            <a:endParaRPr lang="en-CH" dirty="0"/>
          </a:p>
          <a:p>
            <a:pPr lvl="1"/>
            <a:r>
              <a:rPr lang="en-CH" dirty="0"/>
              <a:t>/reference		Datum + (Sub-)Typ + Domain + </a:t>
            </a:r>
            <a:r>
              <a:rPr lang="en-CH" b="1" dirty="0"/>
              <a:t>Identifier</a:t>
            </a:r>
          </a:p>
          <a:p>
            <a:pPr lvl="1"/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/subdivision		out of scope</a:t>
            </a:r>
          </a:p>
          <a:p>
            <a:pPr lvl="1"/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/point in time		out of scope</a:t>
            </a:r>
          </a:p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FE678-E6F3-370F-CABF-3EEB6EF7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7203E-A21A-D7BC-0BE4-370E3466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1174-B972-DAF1-2FE2-A0FCF494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7</a:t>
            </a:fld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13080-9DE7-EC68-D3AF-2F4A648A9A99}"/>
              </a:ext>
            </a:extLst>
          </p:cNvPr>
          <p:cNvSpPr/>
          <p:nvPr/>
        </p:nvSpPr>
        <p:spPr>
          <a:xfrm>
            <a:off x="4502553" y="3923817"/>
            <a:ext cx="914400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0E5C98-98CE-BC10-F178-B4ABAE74AC37}"/>
              </a:ext>
            </a:extLst>
          </p:cNvPr>
          <p:cNvSpPr/>
          <p:nvPr/>
        </p:nvSpPr>
        <p:spPr>
          <a:xfrm>
            <a:off x="9225023" y="4386804"/>
            <a:ext cx="1640773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983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DDD2-3326-528A-A8E4-1CD6F5B7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3638-AA12-23F3-7E38-7181EA1C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A6C6-FC6C-01A8-F285-988DBD14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“ELI uses </a:t>
            </a:r>
            <a:r>
              <a:rPr lang="en-GB" b="1" dirty="0">
                <a:hlinkClick r:id="rId3" tooltip="URI Template"/>
              </a:rPr>
              <a:t>URI Templates</a:t>
            </a:r>
            <a:r>
              <a:rPr lang="en-GB" b="1" dirty="0"/>
              <a:t> (RFC 6570)</a:t>
            </a:r>
            <a:r>
              <a:rPr lang="en-GB" dirty="0"/>
              <a:t> that carry semantics both from a legal and an end-user point of view.”</a:t>
            </a:r>
          </a:p>
          <a:p>
            <a:r>
              <a:rPr lang="en-GB" dirty="0"/>
              <a:t>“In the context of ELI, URIs are used to identify </a:t>
            </a:r>
            <a:r>
              <a:rPr lang="en-GB" b="1" dirty="0"/>
              <a:t>legal resources, their expressions in specific languages and formats</a:t>
            </a:r>
            <a:r>
              <a:rPr lang="en-GB" dirty="0"/>
              <a:t>, agents that passed or made the law, geographic areas, languages and other concepts. </a:t>
            </a:r>
            <a:r>
              <a:rPr lang="en-GB" b="1" dirty="0"/>
              <a:t>Anything needed to express ELI metadata is identified by a URI</a:t>
            </a:r>
            <a:r>
              <a:rPr lang="en-GB" dirty="0"/>
              <a:t>.</a:t>
            </a:r>
          </a:p>
          <a:p>
            <a:r>
              <a:rPr lang="en-GB" dirty="0"/>
              <a:t>In the context of ELI, URIs are said to be constructed using ‘</a:t>
            </a:r>
            <a:r>
              <a:rPr lang="en-GB" b="1" dirty="0"/>
              <a:t>compo-</a:t>
            </a:r>
            <a:r>
              <a:rPr lang="en-GB" b="1" dirty="0" err="1"/>
              <a:t>nents</a:t>
            </a:r>
            <a:r>
              <a:rPr lang="en-GB" dirty="0"/>
              <a:t>’. A URI component is a piece of information used as part the URI, like {year}, {</a:t>
            </a:r>
            <a:r>
              <a:rPr lang="en-GB" dirty="0" err="1"/>
              <a:t>type_document</a:t>
            </a:r>
            <a:r>
              <a:rPr lang="en-GB" dirty="0"/>
              <a:t>}, {language}, etc. Components are usually separated by ‘/’.”</a:t>
            </a:r>
          </a:p>
          <a:p>
            <a:r>
              <a:rPr lang="en-GB" dirty="0"/>
              <a:t>[…] </a:t>
            </a:r>
            <a:r>
              <a:rPr lang="en-GB" b="1" dirty="0"/>
              <a:t>All the components are optional </a:t>
            </a:r>
            <a:r>
              <a:rPr lang="en-GB" dirty="0"/>
              <a:t>and can be selected based on national requirements and </a:t>
            </a:r>
            <a:r>
              <a:rPr lang="en-GB" b="1" dirty="0"/>
              <a:t>do not have a pre-defined order</a:t>
            </a:r>
            <a:r>
              <a:rPr lang="en-GB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8BFB5-3B05-3C4C-A812-7D2B139D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95C7-E015-B821-60CB-3F0E7DB5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B89DB-54E5-7E1E-6666-AEF5FB8C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8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1E1AA-7768-6AFA-BAF1-36DBD2F132B9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Guide; and https://</a:t>
            </a:r>
            <a:r>
              <a:rPr lang="en-GB" dirty="0" err="1"/>
              <a:t>en.wikipedia.org</a:t>
            </a:r>
            <a:r>
              <a:rPr lang="en-GB" dirty="0"/>
              <a:t>/wiki/</a:t>
            </a:r>
            <a:r>
              <a:rPr lang="en-GB" dirty="0" err="1"/>
              <a:t>European_Legislation_Identifier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41489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5EFD-0024-FD39-09AD-9A4887E8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EE3F-5DD4-F614-8C13-90E8B9C9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Beispiel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9B4D4-455B-3389-93D8-AAE48B11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Example ELI structure of </a:t>
            </a:r>
            <a:r>
              <a:rPr lang="en-GB" b="1" dirty="0"/>
              <a:t>EU Official Journal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Example ELI structure of </a:t>
            </a:r>
            <a:r>
              <a:rPr lang="en-GB" b="1" dirty="0"/>
              <a:t>Luxembourg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</a:t>
            </a:r>
            <a:r>
              <a:rPr lang="en-GB" b="1" dirty="0" err="1"/>
              <a:t>etat</a:t>
            </a:r>
            <a:r>
              <a:rPr lang="en-GB" b="1" dirty="0"/>
              <a:t>/leg/</a:t>
            </a:r>
            <a:r>
              <a:rPr lang="en-GB" b="1" dirty="0" err="1"/>
              <a:t>loi</a:t>
            </a:r>
            <a:r>
              <a:rPr lang="en-GB" dirty="0"/>
              <a:t>/{YYYY}/(MM)/{DD}/{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 err="1"/>
              <a:t>Fedlex</a:t>
            </a:r>
            <a:r>
              <a:rPr lang="en-GB" dirty="0"/>
              <a:t> URI Convention for </a:t>
            </a:r>
            <a:r>
              <a:rPr lang="en-GB" b="1" dirty="0"/>
              <a:t>Switzerland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/{journal}/{YYYY}/{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456B5-CBE8-610F-7506-E109930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3AACD-D84A-0BAD-FEEF-8A3136A2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61205-C912-8A88-A2BE-08481996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9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596C8-507F-3EF4-4277-462D834EBF90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https://op.europa.eu/en/web/eu-vocabularies/eli</a:t>
            </a:r>
          </a:p>
        </p:txBody>
      </p:sp>
    </p:spTree>
    <p:extLst>
      <p:ext uri="{BB962C8B-B14F-4D97-AF65-F5344CB8AC3E}">
        <p14:creationId xmlns:p14="http://schemas.microsoft.com/office/powerpoint/2010/main" val="135762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6892-2C27-3390-F197-FB9FA5DE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0627-1E6D-064B-54E1-07169062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A4E7-E628-3732-6D14-3A8D4D16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Create identifiers that are close to how your users</a:t>
            </a:r>
            <a:r>
              <a:rPr lang="en-GB" b="1" dirty="0"/>
              <a:t> cite </a:t>
            </a:r>
            <a:r>
              <a:rPr lang="en-GB" dirty="0"/>
              <a:t>legislation. Do not use opaque or obscure identifiers that no one would understand. The identifier should be ‘</a:t>
            </a:r>
            <a:r>
              <a:rPr lang="en-GB" b="1" dirty="0"/>
              <a:t>readable</a:t>
            </a:r>
            <a:r>
              <a:rPr lang="en-GB" dirty="0"/>
              <a:t>’ by end users.</a:t>
            </a:r>
          </a:p>
          <a:p>
            <a:r>
              <a:rPr lang="en-GB" dirty="0"/>
              <a:t>Create identifiers with </a:t>
            </a:r>
            <a:r>
              <a:rPr lang="en-GB" b="1" dirty="0"/>
              <a:t>components</a:t>
            </a:r>
            <a:r>
              <a:rPr lang="en-GB" dirty="0"/>
              <a:t> that are </a:t>
            </a:r>
            <a:r>
              <a:rPr lang="en-GB" b="1" dirty="0"/>
              <a:t>stable over time</a:t>
            </a:r>
            <a:r>
              <a:rPr lang="en-GB" dirty="0"/>
              <a:t>. A typical counterexample is the names of ministries: they change quite often, and identifiers should not be based on them.</a:t>
            </a:r>
          </a:p>
          <a:p>
            <a:r>
              <a:rPr lang="en-GB" dirty="0"/>
              <a:t>Create identifiers using a sensible and ‘hackable’ </a:t>
            </a:r>
            <a:r>
              <a:rPr lang="en-GB" b="1" dirty="0"/>
              <a:t>hierarchical</a:t>
            </a:r>
            <a:r>
              <a:rPr lang="en-GB" dirty="0"/>
              <a:t> </a:t>
            </a:r>
            <a:r>
              <a:rPr lang="en-GB" b="1" dirty="0"/>
              <a:t>structure</a:t>
            </a:r>
            <a:r>
              <a:rPr lang="en-GB" dirty="0"/>
              <a:t> of components: your users should be able to ‘hack’ the URI by </a:t>
            </a:r>
            <a:r>
              <a:rPr lang="en-GB" b="1" dirty="0"/>
              <a:t>removing components </a:t>
            </a:r>
            <a:r>
              <a:rPr lang="en-GB" dirty="0"/>
              <a:t>from it (typically by removing the last components)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A0AD8-6B5B-94FF-D4B4-D3FA842C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AD28-BB33-53E4-82BE-819038B5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96EEA-8AC3-63B9-CB32-CF19AF37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10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67869-62EB-AC4F-EA44-2D5785452CE5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31889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70AF-45AB-B7E1-486C-5DD2004F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E59E-1BAD-9E22-AEAC-C252FFB9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87D6-FF99-24B6-CBA3-38EB79461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Offizielle</a:t>
            </a:r>
            <a:r>
              <a:rPr lang="en-GB" dirty="0"/>
              <a:t> </a:t>
            </a:r>
            <a:r>
              <a:rPr lang="en-GB" dirty="0" err="1"/>
              <a:t>Zitierweise</a:t>
            </a:r>
            <a:r>
              <a:rPr lang="en-GB" dirty="0"/>
              <a:t> für </a:t>
            </a:r>
            <a:r>
              <a:rPr lang="en-GB" dirty="0" err="1"/>
              <a:t>Erlasse</a:t>
            </a:r>
            <a:r>
              <a:rPr lang="en-GB" dirty="0"/>
              <a:t> </a:t>
            </a:r>
            <a:r>
              <a:rPr lang="en-GB" dirty="0" err="1"/>
              <a:t>seit</a:t>
            </a:r>
            <a:r>
              <a:rPr lang="en-GB" dirty="0"/>
              <a:t> 2021 </a:t>
            </a:r>
            <a:r>
              <a:rPr lang="en-GB" dirty="0" err="1"/>
              <a:t>vereinheitlicht</a:t>
            </a:r>
            <a:r>
              <a:rPr lang="en-GB" dirty="0"/>
              <a:t>: </a:t>
            </a:r>
            <a:r>
              <a:rPr lang="en-GB" b="1" dirty="0"/>
              <a:t>Jahr der </a:t>
            </a:r>
            <a:r>
              <a:rPr lang="en-GB" b="1" dirty="0" err="1"/>
              <a:t>Publikation</a:t>
            </a:r>
            <a:r>
              <a:rPr lang="en-GB" b="1" dirty="0"/>
              <a:t> </a:t>
            </a:r>
            <a:r>
              <a:rPr lang="en-GB" dirty="0"/>
              <a:t>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b="1" dirty="0" err="1"/>
              <a:t>fortlaufende</a:t>
            </a:r>
            <a:r>
              <a:rPr lang="en-GB" b="1" dirty="0"/>
              <a:t> </a:t>
            </a:r>
            <a:r>
              <a:rPr lang="en-GB" b="1" dirty="0" err="1"/>
              <a:t>Ordnungsnummer</a:t>
            </a:r>
            <a:r>
              <a:rPr lang="en-GB" dirty="0"/>
              <a:t> für die </a:t>
            </a:r>
            <a:r>
              <a:rPr lang="en-GB" dirty="0" err="1"/>
              <a:t>Ausgabe</a:t>
            </a:r>
            <a:r>
              <a:rPr lang="en-GB" dirty="0"/>
              <a:t> der AS und </a:t>
            </a:r>
            <a:r>
              <a:rPr lang="en-GB" dirty="0" err="1"/>
              <a:t>BBl.</a:t>
            </a:r>
            <a:r>
              <a:rPr lang="en-GB" dirty="0"/>
              <a:t> </a:t>
            </a:r>
          </a:p>
          <a:p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juristischen</a:t>
            </a:r>
            <a:r>
              <a:rPr lang="en-GB" dirty="0"/>
              <a:t> </a:t>
            </a:r>
            <a:r>
              <a:rPr lang="en-GB" dirty="0" err="1"/>
              <a:t>Alltag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die </a:t>
            </a:r>
            <a:r>
              <a:rPr lang="en-GB" dirty="0" err="1"/>
              <a:t>Zitierung</a:t>
            </a:r>
            <a:r>
              <a:rPr lang="en-GB" dirty="0"/>
              <a:t> des </a:t>
            </a:r>
            <a:r>
              <a:rPr lang="en-GB" dirty="0" err="1"/>
              <a:t>konsolidierten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 </a:t>
            </a:r>
            <a:r>
              <a:rPr lang="en-GB" dirty="0" err="1"/>
              <a:t>unter</a:t>
            </a:r>
            <a:r>
              <a:rPr lang="en-GB" dirty="0"/>
              <a:t> </a:t>
            </a:r>
            <a:r>
              <a:rPr lang="en-GB" dirty="0" err="1"/>
              <a:t>Anwendung</a:t>
            </a:r>
            <a:r>
              <a:rPr lang="en-GB" dirty="0"/>
              <a:t> der TERMDAT </a:t>
            </a:r>
            <a:r>
              <a:rPr lang="en-GB" b="1" dirty="0" err="1"/>
              <a:t>Abkürzung</a:t>
            </a:r>
            <a:r>
              <a:rPr lang="en-GB" b="1" dirty="0"/>
              <a:t> des </a:t>
            </a:r>
            <a:r>
              <a:rPr lang="en-GB" b="1" dirty="0" err="1"/>
              <a:t>Erlasses</a:t>
            </a:r>
            <a:r>
              <a:rPr lang="en-GB" b="1" dirty="0"/>
              <a:t> </a:t>
            </a:r>
            <a:r>
              <a:rPr lang="en-GB" dirty="0"/>
              <a:t>(</a:t>
            </a:r>
            <a:r>
              <a:rPr lang="en-GB" dirty="0" err="1"/>
              <a:t>z.B.</a:t>
            </a:r>
            <a:r>
              <a:rPr lang="en-GB" dirty="0"/>
              <a:t> OR für </a:t>
            </a:r>
            <a:r>
              <a:rPr lang="en-GB" dirty="0" err="1"/>
              <a:t>Obligationenrecht</a:t>
            </a:r>
            <a:r>
              <a:rPr lang="en-GB" dirty="0"/>
              <a:t>; </a:t>
            </a:r>
            <a:r>
              <a:rPr lang="en-GB" dirty="0" err="1"/>
              <a:t>siehe</a:t>
            </a:r>
            <a:r>
              <a:rPr lang="en-GB" dirty="0"/>
              <a:t> ABR24 [1130 </a:t>
            </a:r>
            <a:r>
              <a:rPr lang="en-GB" dirty="0" err="1"/>
              <a:t>Abkürzungen</a:t>
            </a:r>
            <a:r>
              <a:rPr lang="en-GB" dirty="0"/>
              <a:t>])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anhand</a:t>
            </a:r>
            <a:r>
              <a:rPr lang="en-GB" dirty="0"/>
              <a:t> seiner </a:t>
            </a:r>
            <a:r>
              <a:rPr lang="en-GB" b="1" dirty="0"/>
              <a:t>SR Nummer</a:t>
            </a:r>
            <a:r>
              <a:rPr lang="en-GB" dirty="0"/>
              <a:t> (</a:t>
            </a:r>
            <a:r>
              <a:rPr lang="en-GB" dirty="0" err="1"/>
              <a:t>z.B</a:t>
            </a:r>
            <a:r>
              <a:rPr lang="en-GB" dirty="0"/>
              <a:t>: SR 220 für OR) </a:t>
            </a:r>
            <a:r>
              <a:rPr lang="en-GB" dirty="0" err="1"/>
              <a:t>gebräuchlich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1C867-CE53-A7E9-5F92-2F23AD45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C025-F122-93D5-44D0-71B69B06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7964D-53FF-0ABD-3E12-355DAA03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11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35A22-3AB0-F030-5AFF-B71164BE7F51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951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6B79-9EE2-1067-370B-5C9B8CE1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E430-C5F6-5128-E8FB-6FB0A173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– Citation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4882-B8B3-1AD6-D292-B74BA145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F469-8229-F931-EE6B-8E18314E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5A2E-2860-BE7E-DBBA-421D9550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12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15B6-23C3-D493-9969-58E835451061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</a:t>
            </a:r>
            <a:endParaRPr lang="en-CH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98C73E-EFF9-88A9-7C7E-FDF52D488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21429"/>
              </p:ext>
            </p:extLst>
          </p:nvPr>
        </p:nvGraphicFramePr>
        <p:xfrm>
          <a:off x="838198" y="1690688"/>
          <a:ext cx="10452134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055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86870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7515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5185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Abk.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Zitierregeln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Amtliche Sammlung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&lt;1947</a:t>
                      </a:r>
                    </a:p>
                    <a:p>
                      <a:r>
                        <a:rPr lang="en-CH" dirty="0">
                          <a:highlight>
                            <a:srgbClr val="FFFF00"/>
                          </a:highlight>
                        </a:rPr>
                        <a:t>&gt;</a:t>
                      </a:r>
                      <a:r>
                        <a:rPr lang="en-CH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AS {year_absolute***} {chronological_order*}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{year_absolute} </a:t>
                      </a:r>
                      <a:r>
                        <a:rPr lang="en-CH" b="1" dirty="0"/>
                        <a:t>{page</a:t>
                      </a:r>
                      <a:r>
                        <a:rPr lang="en-CH" b="0" dirty="0"/>
                        <a:t>_number</a:t>
                      </a:r>
                      <a:r>
                        <a:rPr lang="en-CH" b="1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arabic</a:t>
                      </a:r>
                      <a:r>
                        <a:rPr lang="en-CH" dirty="0"/>
                        <a:t>} {page_number}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{page_number}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 2021 15</a:t>
                      </a:r>
                    </a:p>
                    <a:p>
                      <a:r>
                        <a:rPr lang="en-GB" dirty="0"/>
                        <a:t>AS 1029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2 684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III 404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{</a:t>
                      </a:r>
                      <a:r>
                        <a:rPr lang="en-CH" b="1" dirty="0"/>
                        <a:t>systematic</a:t>
                      </a:r>
                      <a:r>
                        <a:rPr lang="en-CH" dirty="0"/>
                        <a:t>_number}</a:t>
                      </a:r>
                      <a:r>
                        <a:rPr lang="en-CH" b="1" dirty="0"/>
                        <a:t>.</a:t>
                      </a:r>
                      <a:r>
                        <a:rPr lang="en-CH" dirty="0"/>
                        <a:t>{</a:t>
                      </a:r>
                      <a:r>
                        <a:rPr lang="en-CH" b="1" dirty="0"/>
                        <a:t>sequence</a:t>
                      </a:r>
                      <a:r>
                        <a:rPr lang="en-CH" dirty="0"/>
                        <a:t>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SR 120.1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BBl {year_absolute} {**} {chronological_order*}</a:t>
                      </a:r>
                    </a:p>
                    <a:p>
                      <a:r>
                        <a:rPr lang="en-CH" dirty="0"/>
                        <a:t>BBl {year_absolute} {</a:t>
                      </a:r>
                      <a:r>
                        <a:rPr lang="en-CH" b="1" dirty="0"/>
                        <a:t>page</a:t>
                      </a:r>
                      <a:r>
                        <a:rPr lang="en-CH" dirty="0"/>
                        <a:t>_number}</a:t>
                      </a:r>
                    </a:p>
                    <a:p>
                      <a:r>
                        <a:rPr lang="en-CH" dirty="0"/>
                        <a:t>BBl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 {page_number}</a:t>
                      </a:r>
                    </a:p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2021 3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2019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{year_relative} {volume_roman} {page_number}</a:t>
                      </a: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Urteil</a:t>
                      </a:r>
                    </a:p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123 I 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00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8428-68B0-B8DC-8B8E-158C2C91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087F-5F4B-AF03-C8FE-A3C8BD9C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– Citation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53DC9-B117-767A-2146-23C9FF2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Arial" panose="020B0604020202020204" pitchFamily="34" charset="0"/>
              </a:rPr>
              <a:t>In der </a:t>
            </a:r>
            <a:r>
              <a:rPr lang="en-GB" b="1" dirty="0" err="1">
                <a:latin typeface="Arial" panose="020B0604020202020204" pitchFamily="34" charset="0"/>
              </a:rPr>
              <a:t>Vergangenheit</a:t>
            </a:r>
            <a:r>
              <a:rPr lang="en-GB" b="1" dirty="0">
                <a:latin typeface="Arial" panose="020B0604020202020204" pitchFamily="34" charset="0"/>
              </a:rPr>
              <a:t>:</a:t>
            </a:r>
          </a:p>
          <a:p>
            <a:r>
              <a:rPr lang="en-GB" dirty="0">
                <a:latin typeface="Arial" panose="020B0604020202020204" pitchFamily="34" charset="0"/>
              </a:rPr>
              <a:t>* bis 2020: die </a:t>
            </a:r>
            <a:r>
              <a:rPr lang="en-GB" dirty="0" err="1">
                <a:latin typeface="Arial" panose="020B0604020202020204" pitchFamily="34" charset="0"/>
              </a:rPr>
              <a:t>erste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</a:t>
            </a:r>
            <a:r>
              <a:rPr lang="en-GB" dirty="0">
                <a:latin typeface="Arial" panose="020B0604020202020204" pitchFamily="34" charset="0"/>
              </a:rPr>
              <a:t> der </a:t>
            </a:r>
            <a:r>
              <a:rPr lang="en-GB" dirty="0" err="1">
                <a:latin typeface="Arial" panose="020B0604020202020204" pitchFamily="34" charset="0"/>
              </a:rPr>
              <a:t>Publikation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CH" dirty="0">
                <a:latin typeface="Arial" panose="020B0604020202020204" pitchFamily="34" charset="0"/>
              </a:rPr>
              <a:t>** bis 1997: mit </a:t>
            </a:r>
            <a:r>
              <a:rPr lang="en-GB" dirty="0" err="1">
                <a:latin typeface="Arial" panose="020B0604020202020204" pitchFamily="34" charset="0"/>
              </a:rPr>
              <a:t>Bandzahl</a:t>
            </a:r>
            <a:r>
              <a:rPr lang="en-GB" dirty="0">
                <a:latin typeface="Arial" panose="020B0604020202020204" pitchFamily="34" charset="0"/>
              </a:rPr>
              <a:t> {</a:t>
            </a:r>
            <a:r>
              <a:rPr lang="en-GB" dirty="0" err="1">
                <a:latin typeface="Arial" panose="020B0604020202020204" pitchFamily="34" charset="0"/>
              </a:rPr>
              <a:t>volume_roman</a:t>
            </a:r>
            <a:r>
              <a:rPr lang="en-GB" dirty="0">
                <a:latin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</a:rPr>
              <a:t>als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Ziffer </a:t>
            </a:r>
            <a:r>
              <a:rPr lang="en-GB" b="1" dirty="0" err="1">
                <a:latin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</a:rPr>
              <a:t> Seitenzahl </a:t>
            </a:r>
            <a:r>
              <a:rPr lang="en-GB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</a:t>
            </a:r>
            <a:r>
              <a:rPr lang="en-GB" dirty="0" err="1">
                <a:latin typeface="Arial" panose="020B0604020202020204" pitchFamily="34" charset="0"/>
              </a:rPr>
              <a:t>BBl</a:t>
            </a:r>
            <a:r>
              <a:rPr lang="en-GB" dirty="0">
                <a:latin typeface="Arial" panose="020B0604020202020204" pitchFamily="34" charset="0"/>
              </a:rPr>
              <a:t> 1996 II 335)</a:t>
            </a:r>
          </a:p>
          <a:p>
            <a:r>
              <a:rPr lang="en-GB" dirty="0">
                <a:latin typeface="Arial" panose="020B0604020202020204" pitchFamily="34" charset="0"/>
              </a:rPr>
              <a:t>*** bis 1947: </a:t>
            </a:r>
            <a:r>
              <a:rPr lang="en-GB" dirty="0" err="1">
                <a:latin typeface="Arial" panose="020B0604020202020204" pitchFamily="34" charset="0"/>
              </a:rPr>
              <a:t>arabische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neue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AS 2 684) und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alte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I, II,)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Jahr</a:t>
            </a:r>
            <a:endParaRPr lang="en-GB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B22C-B259-48D7-68A2-6200B97B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512DA-1E47-A4FC-52DD-F4624001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5D6AA-6E34-348B-8674-41A94D86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13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B2106-77BA-4CD2-F802-2693E55EA513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60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2710-908E-7E91-0E5C-5D6BF572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6A5E-216C-6078-B7E7-4D5DF4CE2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Exkurs: Sammlungen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C035D-EF27-7CAE-5234-B46FF8189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0. Component</a:t>
            </a:r>
          </a:p>
        </p:txBody>
      </p:sp>
    </p:spTree>
    <p:extLst>
      <p:ext uri="{BB962C8B-B14F-4D97-AF65-F5344CB8AC3E}">
        <p14:creationId xmlns:p14="http://schemas.microsoft.com/office/powerpoint/2010/main" val="3165337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3FB1-D891-285E-9317-C039EE3D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C02C-C11D-387C-EF2B-5C24AF39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Exkurs: Sammlung?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396AE-E00C-4AB5-3EFB-0B431A45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554C-C39F-1ABD-1A85-81B49257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77A61-8310-BD6C-A3B7-C5787B2E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15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C1771C-1DA9-7474-78C3-B0CEAB3E2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3DB609F-7977-6213-D618-1A7CE4D5C6D9}"/>
              </a:ext>
            </a:extLst>
          </p:cNvPr>
          <p:cNvSpPr txBox="1">
            <a:spLocks/>
          </p:cNvSpPr>
          <p:nvPr/>
        </p:nvSpPr>
        <p:spPr>
          <a:xfrm>
            <a:off x="990600" y="2018777"/>
            <a:ext cx="10515600" cy="4310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Sammlung wird im ELI URI </a:t>
            </a:r>
            <a:r>
              <a:rPr lang="de-CH" dirty="0" err="1"/>
              <a:t>template</a:t>
            </a:r>
            <a:r>
              <a:rPr lang="de-CH" dirty="0"/>
              <a:t> nicht explizit genannt, ist aber beim JOLUX Datenmodell im Einsatz.</a:t>
            </a:r>
          </a:p>
          <a:p>
            <a:r>
              <a:rPr lang="de-CH" b="1" dirty="0"/>
              <a:t>/cc </a:t>
            </a:r>
            <a:r>
              <a:rPr lang="de-CH" dirty="0"/>
              <a:t>(SR) und </a:t>
            </a:r>
            <a:r>
              <a:rPr lang="de-CH" b="1" dirty="0"/>
              <a:t>/</a:t>
            </a:r>
            <a:r>
              <a:rPr lang="de-CH" b="1" dirty="0" err="1"/>
              <a:t>oc</a:t>
            </a:r>
            <a:r>
              <a:rPr lang="de-CH" b="1" dirty="0"/>
              <a:t> </a:t>
            </a:r>
            <a:r>
              <a:rPr lang="de-CH" dirty="0"/>
              <a:t>(AS) kommen nach ELI als Präfix bzw. erste Komponente des </a:t>
            </a:r>
            <a:r>
              <a:rPr lang="de-CH" dirty="0" err="1"/>
              <a:t>path</a:t>
            </a:r>
            <a:r>
              <a:rPr lang="de-CH" dirty="0"/>
              <a:t>. Weitere Werte für Sammlung sind </a:t>
            </a:r>
            <a:r>
              <a:rPr lang="de-CH" b="1" dirty="0"/>
              <a:t>/</a:t>
            </a:r>
            <a:r>
              <a:rPr lang="de-CH" b="1" dirty="0" err="1"/>
              <a:t>fga</a:t>
            </a:r>
            <a:r>
              <a:rPr lang="de-CH" b="1" dirty="0"/>
              <a:t> </a:t>
            </a:r>
            <a:r>
              <a:rPr lang="de-CH" dirty="0"/>
              <a:t>für </a:t>
            </a:r>
            <a:r>
              <a:rPr lang="de-CH" dirty="0" err="1"/>
              <a:t>BBl</a:t>
            </a:r>
            <a:r>
              <a:rPr lang="de-CH" dirty="0"/>
              <a:t> und </a:t>
            </a:r>
            <a:r>
              <a:rPr lang="de-CH" b="1" dirty="0" err="1"/>
              <a:t>cons</a:t>
            </a:r>
            <a:r>
              <a:rPr lang="de-CH" b="1" dirty="0"/>
              <a:t>/</a:t>
            </a:r>
            <a:r>
              <a:rPr lang="de-CH" dirty="0"/>
              <a:t> für Vernehmlassungen.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 URI Template für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Fedlex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(Pillar 1)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lang="en-GB" b="1" dirty="0" err="1">
                <a:solidFill>
                  <a:prstClr val="black"/>
                </a:solidFill>
                <a:latin typeface="Aptos" panose="02110004020202020204"/>
              </a:rPr>
              <a:t>Jolux</a:t>
            </a:r>
            <a:r>
              <a:rPr lang="en-GB" b="1" dirty="0">
                <a:solidFill>
                  <a:prstClr val="black"/>
                </a:solidFill>
                <a:latin typeface="Aptos" panose="02110004020202020204"/>
              </a:rPr>
              <a:t> Ontology (Pillar 2)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de-CH" dirty="0"/>
          </a:p>
          <a:p>
            <a:endParaRPr lang="de-CH" dirty="0"/>
          </a:p>
          <a:p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06346-B9F2-C9CC-5BDC-3D2CBED97D8D}"/>
              </a:ext>
            </a:extLst>
          </p:cNvPr>
          <p:cNvSpPr txBox="1"/>
          <p:nvPr/>
        </p:nvSpPr>
        <p:spPr>
          <a:xfrm>
            <a:off x="838200" y="5992296"/>
            <a:ext cx="1010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URI Template convention for </a:t>
            </a:r>
            <a:r>
              <a:rPr lang="en-GB" dirty="0" err="1"/>
              <a:t>Fedlex</a:t>
            </a:r>
            <a:r>
              <a:rPr lang="en-GB" dirty="0"/>
              <a:t> </a:t>
            </a:r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8858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838B-E33C-4B85-F609-0650A1D7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B098-25B3-3582-8909-381FE0B6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CH" dirty="0"/>
              <a:t>Fedlex - URI Template (Pillar I)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BF810-6167-8443-A13D-5B073A01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C3D48-FAED-E21F-A750-924350B1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86E07-6A94-C130-14E7-29D3A447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18017D-8946-F592-A0C6-10B6052C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96ABC9-5C3C-D59E-CF0A-A4E0B36B7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30900"/>
              </p:ext>
            </p:extLst>
          </p:nvPr>
        </p:nvGraphicFramePr>
        <p:xfrm>
          <a:off x="838200" y="1866377"/>
          <a:ext cx="10515600" cy="42823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21229">
                  <a:extLst>
                    <a:ext uri="{9D8B030D-6E8A-4147-A177-3AD203B41FA5}">
                      <a16:colId xmlns:a16="http://schemas.microsoft.com/office/drawing/2014/main" val="2445735916"/>
                    </a:ext>
                  </a:extLst>
                </a:gridCol>
                <a:gridCol w="2369975">
                  <a:extLst>
                    <a:ext uri="{9D8B030D-6E8A-4147-A177-3AD203B41FA5}">
                      <a16:colId xmlns:a16="http://schemas.microsoft.com/office/drawing/2014/main" val="3644430265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2236164283"/>
                    </a:ext>
                  </a:extLst>
                </a:gridCol>
                <a:gridCol w="4542453">
                  <a:extLst>
                    <a:ext uri="{9D8B030D-6E8A-4147-A177-3AD203B41FA5}">
                      <a16:colId xmlns:a16="http://schemas.microsoft.com/office/drawing/2014/main" val="2920525694"/>
                    </a:ext>
                  </a:extLst>
                </a:gridCol>
              </a:tblGrid>
              <a:tr h="247107">
                <a:tc>
                  <a:txBody>
                    <a:bodyPr/>
                    <a:lstStyle/>
                    <a:p>
                      <a:r>
                        <a:rPr lang="en-CH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D / F / I /E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48889"/>
                  </a:ext>
                </a:extLst>
              </a:tr>
              <a:tr h="426514">
                <a:tc>
                  <a:txBody>
                    <a:bodyPr/>
                    <a:lstStyle/>
                    <a:p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baseURL + ELI 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fedlex.admin.ch/eli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465786"/>
                  </a:ext>
                </a:extLst>
              </a:tr>
              <a:tr h="1204049">
                <a:tc>
                  <a:txBody>
                    <a:bodyPr/>
                    <a:lstStyle/>
                    <a:p>
                      <a:r>
                        <a:rPr lang="en-CH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{collection}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  <a:p>
                      <a:r>
                        <a:rPr lang="en-CH" dirty="0"/>
                        <a:t>oc</a:t>
                      </a:r>
                    </a:p>
                    <a:p>
                      <a:r>
                        <a:rPr lang="en-CH" dirty="0"/>
                        <a:t>fga</a:t>
                      </a:r>
                    </a:p>
                    <a:p>
                      <a:r>
                        <a:rPr lang="en-CH" dirty="0"/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/ RS / RS / </a:t>
                      </a:r>
                      <a:r>
                        <a:rPr lang="en-CH" b="1" dirty="0"/>
                        <a:t>CC</a:t>
                      </a:r>
                    </a:p>
                    <a:p>
                      <a:r>
                        <a:rPr lang="en-CH" dirty="0"/>
                        <a:t>AS / RO / RU / </a:t>
                      </a:r>
                      <a:r>
                        <a:rPr lang="en-CH" b="1" dirty="0"/>
                        <a:t>OC</a:t>
                      </a:r>
                    </a:p>
                    <a:p>
                      <a:r>
                        <a:rPr lang="en-CH" dirty="0"/>
                        <a:t>BBl / FF / FF / </a:t>
                      </a:r>
                      <a:r>
                        <a:rPr lang="en-CH" b="1" dirty="0"/>
                        <a:t>FGA</a:t>
                      </a:r>
                    </a:p>
                    <a:p>
                      <a:r>
                        <a:rPr lang="en-CH" dirty="0"/>
                        <a:t>Vernehmlassungen / </a:t>
                      </a:r>
                      <a:r>
                        <a:rPr lang="en-CH" b="1" dirty="0"/>
                        <a:t>Cons</a:t>
                      </a:r>
                      <a:r>
                        <a:rPr lang="en-CH" dirty="0"/>
                        <a:t>ultations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321721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{year}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{YYYY}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298360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{natural identifier}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{naturalidentifier}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395291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{language}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  <a:b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</a:p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162874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r>
                        <a:rPr lang="en-CH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{.format}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.docx, .xml, .html, 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82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12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927C-6FCF-3421-F133-719F29F4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088A-878B-E155-D9FD-15AEAE9F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Fedlex - URI Template (Pillar 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EC36-3C2B-07A6-CFC0-57D44B37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88FB2-AB68-BB8F-DF5D-A6EFF145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2EB2-B8E1-F535-5D18-449A16F0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17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ADD7E8-9232-740E-667F-237744520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CB517B-72ED-D3E2-0F61-7CD229390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85113"/>
              </p:ext>
            </p:extLst>
          </p:nvPr>
        </p:nvGraphicFramePr>
        <p:xfrm>
          <a:off x="838200" y="1866377"/>
          <a:ext cx="10515600" cy="36924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01147">
                  <a:extLst>
                    <a:ext uri="{9D8B030D-6E8A-4147-A177-3AD203B41FA5}">
                      <a16:colId xmlns:a16="http://schemas.microsoft.com/office/drawing/2014/main" val="3480821651"/>
                    </a:ext>
                  </a:extLst>
                </a:gridCol>
                <a:gridCol w="4236098">
                  <a:extLst>
                    <a:ext uri="{9D8B030D-6E8A-4147-A177-3AD203B41FA5}">
                      <a16:colId xmlns:a16="http://schemas.microsoft.com/office/drawing/2014/main" val="1685133024"/>
                    </a:ext>
                  </a:extLst>
                </a:gridCol>
                <a:gridCol w="4878355">
                  <a:extLst>
                    <a:ext uri="{9D8B030D-6E8A-4147-A177-3AD203B41FA5}">
                      <a16:colId xmlns:a16="http://schemas.microsoft.com/office/drawing/2014/main" val="643293102"/>
                    </a:ext>
                  </a:extLst>
                </a:gridCol>
              </a:tblGrid>
              <a:tr h="754611">
                <a:tc>
                  <a:txBody>
                    <a:bodyPr/>
                    <a:lstStyle/>
                    <a:p>
                      <a:r>
                        <a:rPr lang="en-CH" dirty="0"/>
                        <a:t>{collection}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604744"/>
                  </a:ext>
                </a:extLst>
              </a:tr>
              <a:tr h="754611">
                <a:tc>
                  <a:txBody>
                    <a:bodyPr/>
                    <a:lstStyle/>
                    <a:p>
                      <a:r>
                        <a:rPr lang="en-CH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</a:rPr>
                        <a:t>Bundesblatt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71697"/>
                  </a:ext>
                </a:extLst>
              </a:tr>
              <a:tr h="754611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012841"/>
                  </a:ext>
                </a:extLst>
              </a:tr>
              <a:tr h="684386"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 (= AS)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877040"/>
                  </a:ext>
                </a:extLst>
              </a:tr>
              <a:tr h="744273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treaty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/{year}/{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treaty number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6297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0B1972C-F8FF-06E8-C414-86480C58F0E4}"/>
              </a:ext>
            </a:extLst>
          </p:cNvPr>
          <p:cNvSpPr txBox="1"/>
          <p:nvPr/>
        </p:nvSpPr>
        <p:spPr>
          <a:xfrm>
            <a:off x="838200" y="599229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URI Template convention for </a:t>
            </a:r>
            <a:r>
              <a:rPr lang="en-GB" dirty="0" err="1"/>
              <a:t>Fedlex</a:t>
            </a:r>
            <a:r>
              <a:rPr lang="en-GB" dirty="0"/>
              <a:t>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46461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28EC-1088-F4A4-03DA-25F8E5E4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ED96-8B9C-6431-6089-6D1D9D42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- Collections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950E57-CCCD-0AA3-5F39-41679BFB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 */**/***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b="1" dirty="0"/>
              <a:t>normative Texte</a:t>
            </a:r>
            <a:r>
              <a:rPr lang="en-GB" dirty="0"/>
              <a:t>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b="1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b="1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E5E58-7CE1-90B8-F9D8-521DB3A2C130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4C6F2-5E5D-67E7-0592-67E4CC56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A2AF1-26FD-9633-AF07-CB77AEE5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B2811-B875-0FF0-5F07-9E878154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3532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0F79-B217-F9F3-DE56-CBB082C0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5BA8-3CE0-55B7-4DB3-6DE70A42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Collections (2)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248351-1F2C-64E8-3662-05A17288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SR </a:t>
            </a:r>
            <a:r>
              <a:rPr lang="en-GB" dirty="0"/>
              <a:t>*</a:t>
            </a:r>
          </a:p>
          <a:p>
            <a:pPr lvl="1"/>
            <a:r>
              <a:rPr lang="en-GB" dirty="0" err="1"/>
              <a:t>tatsächlicher</a:t>
            </a:r>
            <a:r>
              <a:rPr lang="en-GB" dirty="0"/>
              <a:t> </a:t>
            </a:r>
            <a:r>
              <a:rPr lang="en-GB" b="1" dirty="0"/>
              <a:t>Stand des </a:t>
            </a:r>
            <a:r>
              <a:rPr lang="en-GB" b="1" dirty="0" err="1"/>
              <a:t>Rechts</a:t>
            </a:r>
            <a:r>
              <a:rPr lang="en-GB" b="1" dirty="0"/>
              <a:t> (=in Kraft)</a:t>
            </a:r>
            <a:r>
              <a:rPr lang="en-GB" dirty="0"/>
              <a:t> </a:t>
            </a:r>
            <a:r>
              <a:rPr lang="en-GB" dirty="0" err="1"/>
              <a:t>systematisch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,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b="1" dirty="0" err="1"/>
              <a:t>Staatsverträge</a:t>
            </a:r>
            <a:br>
              <a:rPr lang="en-GB" dirty="0"/>
            </a:br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Verträgen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b="1" dirty="0" err="1"/>
              <a:t>bereinigt</a:t>
            </a:r>
            <a:r>
              <a:rPr lang="en-GB" dirty="0"/>
              <a:t> (classified compilation) und </a:t>
            </a:r>
            <a:r>
              <a:rPr lang="en-GB" b="1" dirty="0" err="1"/>
              <a:t>nach</a:t>
            </a:r>
            <a:r>
              <a:rPr lang="en-GB" b="1" dirty="0"/>
              <a:t> </a:t>
            </a:r>
            <a:r>
              <a:rPr lang="en-GB" b="1" dirty="0" err="1"/>
              <a:t>Sachgebieten</a:t>
            </a:r>
            <a:r>
              <a:rPr lang="en-GB" b="1" dirty="0"/>
              <a:t> </a:t>
            </a:r>
            <a:r>
              <a:rPr lang="en-GB" dirty="0" err="1"/>
              <a:t>geordnet</a:t>
            </a:r>
            <a:r>
              <a:rPr lang="en-GB" dirty="0"/>
              <a:t> (</a:t>
            </a:r>
            <a:r>
              <a:rPr lang="en-GB" dirty="0" err="1"/>
              <a:t>Systematisches</a:t>
            </a:r>
            <a:r>
              <a:rPr lang="en-GB" dirty="0"/>
              <a:t> Register)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b="1" dirty="0" err="1"/>
              <a:t>Bereinigte</a:t>
            </a:r>
            <a:r>
              <a:rPr lang="en-GB" b="1" dirty="0"/>
              <a:t> </a:t>
            </a:r>
            <a:r>
              <a:rPr lang="en-GB" b="1" dirty="0" err="1"/>
              <a:t>Sammlung</a:t>
            </a:r>
            <a:r>
              <a:rPr lang="en-GB" b="1" dirty="0"/>
              <a:t> (BS) </a:t>
            </a:r>
            <a:r>
              <a:rPr lang="en-GB" dirty="0"/>
              <a:t>(1848 bis 1947)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81100-4747-36F4-FA00-4E26772061DF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0557E-FD76-2A59-1B9B-4096EA38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F0E0-770E-EC52-6E6F-1D1A17DC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C1C10-00EB-E50E-47A7-5D5F4D73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9197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2DAF-BE57-587E-E5C4-7E1659ED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3980-D14B-8F44-3D3F-344C9E85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Collections (3)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7DF317-C4A8-075B-C46D-E23C2547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b="1" dirty="0" err="1"/>
              <a:t>Botschaften</a:t>
            </a:r>
            <a:r>
              <a:rPr lang="en-GB" dirty="0"/>
              <a:t> und </a:t>
            </a:r>
            <a:r>
              <a:rPr lang="en-GB" b="1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b="1" dirty="0" err="1"/>
              <a:t>Referendumsfrist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FB363-C79D-BB7E-3A94-E7D0ADD3718B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7AFF2-AB8A-D4FF-D0E0-8471F13E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67BEF-1367-8509-7E2B-CDB60ACF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0A3AE-19EF-50A6-83CC-06FACA39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95621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D39B-5FDA-0355-A0E4-A728E526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7C05-CD6D-2F7E-7B5D-56110507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Partial URIs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696FA0-E680-DFE0-2CAB-8A6A0C86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 err="1"/>
              <a:t>Überblick</a:t>
            </a:r>
            <a:r>
              <a:rPr lang="en-GB" b="1" dirty="0"/>
              <a:t> </a:t>
            </a:r>
            <a:r>
              <a:rPr lang="en-GB" b="1" dirty="0" err="1"/>
              <a:t>Erlasse</a:t>
            </a:r>
            <a:r>
              <a:rPr lang="en-GB" b="1" dirty="0"/>
              <a:t> AS</a:t>
            </a:r>
          </a:p>
          <a:p>
            <a:pPr marL="285750" indent="-285750"/>
            <a:r>
              <a:rPr lang="en-GB" dirty="0">
                <a:highlight>
                  <a:srgbClr val="FFFF00"/>
                </a:highlight>
                <a:hlinkClick r:id="rId2"/>
              </a:rPr>
              <a:t>collection</a:t>
            </a:r>
            <a:r>
              <a:rPr lang="en-GB" dirty="0">
                <a:hlinkClick r:id="rId2"/>
              </a:rPr>
              <a:t>/oc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3"/>
              </a:rPr>
              <a:t>de/oc/index</a:t>
            </a:r>
            <a:r>
              <a:rPr lang="en-GB" dirty="0"/>
              <a:t> =&gt; alle Jahre ab 01.09.1998</a:t>
            </a:r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Jahr 2021: </a:t>
            </a: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/index/2010 </a:t>
            </a:r>
            <a:endParaRPr lang="en-GB" dirty="0"/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Monat Juni: </a:t>
            </a: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</a:t>
            </a:r>
            <a:r>
              <a:rPr lang="en-GB" dirty="0">
                <a:hlinkClick r:id="rId5"/>
              </a:rPr>
              <a:t>/2010/6</a:t>
            </a:r>
            <a:r>
              <a:rPr lang="en-GB" dirty="0"/>
              <a:t>)</a:t>
            </a:r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Heft </a:t>
            </a:r>
            <a:r>
              <a:rPr lang="en-GB" dirty="0">
                <a:hlinkClick r:id="rId6"/>
              </a:rPr>
              <a:t>collection/oc/</a:t>
            </a:r>
            <a:r>
              <a:rPr lang="en-GB" dirty="0">
                <a:highlight>
                  <a:srgbClr val="FFFF00"/>
                </a:highlight>
                <a:hlinkClick r:id="rId6"/>
              </a:rPr>
              <a:t>2010/23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7"/>
              </a:rPr>
              <a:t>de/oc/</a:t>
            </a:r>
            <a:r>
              <a:rPr lang="en-GB" dirty="0">
                <a:highlight>
                  <a:srgbClr val="FFFF00"/>
                </a:highlight>
                <a:hlinkClick r:id="rId7"/>
              </a:rPr>
              <a:t>index</a:t>
            </a:r>
            <a:r>
              <a:rPr lang="en-GB" dirty="0">
                <a:hlinkClick r:id="rId7"/>
              </a:rPr>
              <a:t>/2010/6/23</a:t>
            </a:r>
            <a:r>
              <a:rPr lang="en-GB" dirty="0"/>
              <a:t> =&gt; Heft Nr. 23 (= {week}) </a:t>
            </a:r>
            <a:r>
              <a:rPr lang="en-GB" dirty="0" err="1"/>
              <a:t>vom</a:t>
            </a:r>
            <a:r>
              <a:rPr lang="en-GB" dirty="0"/>
              <a:t> 15. Juni (={month}) 2010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 err="1">
                <a:cs typeface="Arial" panose="020B0604020202020204" pitchFamily="34" charset="0"/>
              </a:rPr>
              <a:t>Überblick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Erlasse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BBl</a:t>
            </a:r>
            <a:endParaRPr lang="en-GB" b="1" dirty="0">
              <a:cs typeface="Arial" panose="020B0604020202020204" pitchFamily="34" charset="0"/>
            </a:endParaRPr>
          </a:p>
          <a:p>
            <a:pPr marL="285750" indent="-285750"/>
            <a:r>
              <a:rPr lang="en-GB" dirty="0">
                <a:cs typeface="Arial" panose="020B0604020202020204" pitchFamily="34" charset="0"/>
                <a:hlinkClick r:id="rId8"/>
              </a:rPr>
              <a:t>collection/fga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bzw</a:t>
            </a:r>
            <a:r>
              <a:rPr lang="en-GB" dirty="0">
                <a:cs typeface="Arial" panose="020B0604020202020204" pitchFamily="34" charset="0"/>
              </a:rPr>
              <a:t>. </a:t>
            </a:r>
            <a:r>
              <a:rPr lang="en-GB" dirty="0">
                <a:cs typeface="Arial" panose="020B0604020202020204" pitchFamily="34" charset="0"/>
                <a:hlinkClick r:id="rId9"/>
              </a:rPr>
              <a:t>de/fga/index</a:t>
            </a:r>
            <a:endParaRPr lang="en-GB" dirty="0"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i="1" dirty="0" err="1">
                <a:cs typeface="Arial" panose="020B0604020202020204" pitchFamily="34" charset="0"/>
              </a:rPr>
              <a:t>kein</a:t>
            </a:r>
            <a:r>
              <a:rPr lang="en-GB" i="1" dirty="0">
                <a:cs typeface="Arial" panose="020B0604020202020204" pitchFamily="34" charset="0"/>
              </a:rPr>
              <a:t> </a:t>
            </a:r>
            <a:r>
              <a:rPr lang="en-GB" i="1" dirty="0" err="1">
                <a:cs typeface="Arial" panose="020B0604020202020204" pitchFamily="34" charset="0"/>
              </a:rPr>
              <a:t>Überblick</a:t>
            </a:r>
            <a:r>
              <a:rPr lang="en-GB" i="1" dirty="0">
                <a:cs typeface="Arial" panose="020B0604020202020204" pitchFamily="34" charset="0"/>
              </a:rPr>
              <a:t> für SR, </a:t>
            </a:r>
            <a:r>
              <a:rPr lang="en-GB" i="1" dirty="0" err="1">
                <a:cs typeface="Arial" panose="020B0604020202020204" pitchFamily="34" charset="0"/>
              </a:rPr>
              <a:t>dafür</a:t>
            </a:r>
            <a:r>
              <a:rPr lang="en-GB" i="1" dirty="0">
                <a:cs typeface="Arial" panose="020B0604020202020204" pitchFamily="34" charset="0"/>
              </a:rPr>
              <a:t> </a:t>
            </a:r>
            <a:r>
              <a:rPr lang="en-GB" i="1" dirty="0" err="1">
                <a:cs typeface="Arial" panose="020B0604020202020204" pitchFamily="34" charset="0"/>
              </a:rPr>
              <a:t>Systematisches</a:t>
            </a:r>
            <a:r>
              <a:rPr lang="en-GB" i="1" dirty="0">
                <a:cs typeface="Arial" panose="020B0604020202020204" pitchFamily="34" charset="0"/>
              </a:rPr>
              <a:t> Register.</a:t>
            </a:r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A51A9-2963-934B-AB42-79D8E376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7FC9D-E12F-B8B7-35E0-D3C65998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BBDA6-FE0D-1B81-5481-93F65ABB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16717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DFD43-75AC-F6F6-8A7D-A06B13EE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46E7-1341-CF12-2FD7-ACA09C3D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C4A69A-8F87-0162-108A-DE6B107C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C8A7F5-12F6-D3B1-B8B9-98BDD9078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5967"/>
              </p:ext>
            </p:extLst>
          </p:nvPr>
        </p:nvGraphicFramePr>
        <p:xfrm>
          <a:off x="838200" y="1825625"/>
          <a:ext cx="1051559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25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volume_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arabic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}_{page-de}_{page-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}_{page-it}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39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oc</a:t>
                      </a:r>
                      <a:r>
                        <a:rPr lang="en-GB" dirty="0"/>
                        <a:t>/{year}/{</a:t>
                      </a:r>
                      <a:r>
                        <a:rPr lang="en-GB" dirty="0" err="1"/>
                        <a:t>volume_arabic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_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0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oc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{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volume_arabic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}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{page-de}_{page-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}_{page-it}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7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dirty="0"/>
                        <a:t>{</a:t>
                      </a:r>
                      <a:r>
                        <a:rPr lang="en-GB" dirty="0" err="1"/>
                        <a:t>volume_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roman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 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263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CDE6E-6490-A9A1-5A89-705C01CD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64081-78F2-BFEC-7468-A86CB0F3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8F4AC-788B-C7D0-F868-65A4C602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02779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272D-0670-A48F-88B1-85671D50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F329F3-1F50-A185-3E9D-BE4FAEEE2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64975-E0A0-D7A0-042A-F7D8B090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9E8393-067C-9417-4575-444915B17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10278"/>
              </p:ext>
            </p:extLst>
          </p:nvPr>
        </p:nvGraphicFramePr>
        <p:xfrm>
          <a:off x="838201" y="1825625"/>
          <a:ext cx="1051559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digitized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historicaldossierID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}_cc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0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mehrere Versionen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cc/{year}/{</a:t>
                      </a:r>
                      <a:r>
                        <a:rPr lang="en-GB" dirty="0" err="1"/>
                        <a:t>naturalidentifier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}-{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ordernumber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5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basic act ≠ </a:t>
                      </a:r>
                      <a:r>
                        <a:rPr lang="en-GB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oc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cc/{year}/{</a:t>
                      </a:r>
                      <a:r>
                        <a:rPr lang="en-GB" b="0" dirty="0" err="1"/>
                        <a:t>naturalidentifier</a:t>
                      </a:r>
                      <a:r>
                        <a:rPr lang="en-GB" b="0" dirty="0"/>
                        <a:t>}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_{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collection_basicact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57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/{subdivision}/{point in time}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3240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83E7E2-71EF-1722-C9DC-E0766A75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5AEE-327D-E1D1-1AB0-E04F4E63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3AC6-7C4E-79EF-E8D0-440ADEA6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026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B329-FA72-F8FC-8BEC-45614CE91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5BC36-2ADE-3ADE-913D-BCF1C96F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5B75B-16D0-3E5F-CB5E-8A9CC0B7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7BC3F-5985-1F1E-9858-E4503F311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756722"/>
              </p:ext>
            </p:extLst>
          </p:nvPr>
        </p:nvGraphicFramePr>
        <p:xfrm>
          <a:off x="838200" y="1825625"/>
          <a:ext cx="10515599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V</a:t>
                      </a:r>
                      <a:r>
                        <a:rPr lang="en-CH" b="1" dirty="0"/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treaty/{year}/{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treaty number}</a:t>
                      </a:r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81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Annexes begin with “1” + 3 digits in total; starts with “001”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treaty/{year}/{treaty number}1{annex number} </a:t>
                      </a:r>
                      <a:endParaRPr lang="en-GB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29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Modifications bgein with “2”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treaty/{year}/{treaty number}2{modification 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1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European conventions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1234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/{convention number}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76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Decisions of joint committee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1357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/{decision number}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572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08953-4A0B-9749-D794-ABAB8BAD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772AC-CBA5-5420-FDDF-7CCB29FFB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26DC0-C741-EB0A-F073-429AF9D1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1365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51EA-EC8D-B39A-976E-3CCCCDE0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05BE68-FE43-4B30-4EA5-6BB4C14F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Das Register der </a:t>
            </a:r>
            <a:r>
              <a:rPr lang="en-GB" b="1" dirty="0" err="1"/>
              <a:t>Sektoriellen</a:t>
            </a:r>
            <a:r>
              <a:rPr lang="en-GB" b="1" dirty="0"/>
              <a:t> </a:t>
            </a:r>
            <a:r>
              <a:rPr lang="en-GB" b="1" dirty="0" err="1"/>
              <a:t>Abkommen</a:t>
            </a:r>
            <a:r>
              <a:rPr lang="en-GB" dirty="0"/>
              <a:t> </a:t>
            </a:r>
            <a:r>
              <a:rPr lang="en-GB" dirty="0" err="1"/>
              <a:t>listet</a:t>
            </a:r>
            <a:r>
              <a:rPr lang="en-GB" dirty="0"/>
              <a:t> / </a:t>
            </a:r>
            <a:r>
              <a:rPr lang="en-GB" dirty="0" err="1"/>
              <a:t>umfasst</a:t>
            </a:r>
            <a:r>
              <a:rPr lang="en-GB" dirty="0"/>
              <a:t> </a:t>
            </a:r>
            <a:r>
              <a:rPr lang="en-GB" dirty="0" err="1"/>
              <a:t>diejenigen</a:t>
            </a:r>
            <a:r>
              <a:rPr lang="en-GB" dirty="0"/>
              <a:t> </a:t>
            </a:r>
            <a:r>
              <a:rPr lang="en-GB" dirty="0" err="1"/>
              <a:t>Akte</a:t>
            </a:r>
            <a:r>
              <a:rPr lang="en-GB" dirty="0"/>
              <a:t> des EU-</a:t>
            </a:r>
            <a:r>
              <a:rPr lang="en-GB" dirty="0" err="1"/>
              <a:t>Rechts</a:t>
            </a:r>
            <a:r>
              <a:rPr lang="en-GB" dirty="0"/>
              <a:t> auf, auf die die </a:t>
            </a:r>
            <a:r>
              <a:rPr lang="en-GB" dirty="0" err="1"/>
              <a:t>bilateralen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 </a:t>
            </a:r>
            <a:r>
              <a:rPr lang="en-GB" dirty="0" err="1"/>
              <a:t>verweisen</a:t>
            </a:r>
            <a:r>
              <a:rPr lang="en-GB" dirty="0"/>
              <a:t> / auf die Schweiz </a:t>
            </a:r>
            <a:r>
              <a:rPr lang="en-GB" dirty="0" err="1"/>
              <a:t>anwendbar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r>
              <a:rPr lang="en-GB" dirty="0" err="1"/>
              <a:t>Aufgelistet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hierbei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die </a:t>
            </a:r>
            <a:r>
              <a:rPr lang="en-GB" b="1" dirty="0" err="1"/>
              <a:t>Basisrechtsakte</a:t>
            </a:r>
            <a:r>
              <a:rPr lang="en-GB" dirty="0"/>
              <a:t> und </a:t>
            </a:r>
            <a:r>
              <a:rPr lang="en-GB" dirty="0" err="1"/>
              <a:t>im</a:t>
            </a:r>
            <a:r>
              <a:rPr lang="en-GB" dirty="0"/>
              <a:t> Anschluss </a:t>
            </a:r>
            <a:r>
              <a:rPr lang="en-GB" dirty="0" err="1"/>
              <a:t>daran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b="1" dirty="0" err="1"/>
              <a:t>Änderungen</a:t>
            </a:r>
            <a:r>
              <a:rPr lang="en-GB" dirty="0"/>
              <a:t>, </a:t>
            </a:r>
            <a:r>
              <a:rPr lang="en-GB" dirty="0" err="1"/>
              <a:t>soweit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für die Schweiz </a:t>
            </a:r>
            <a:r>
              <a:rPr lang="en-GB" dirty="0" err="1"/>
              <a:t>massgebend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 </a:t>
            </a:r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Die </a:t>
            </a:r>
            <a:r>
              <a:rPr lang="en-GB" dirty="0" err="1"/>
              <a:t>oder</a:t>
            </a:r>
            <a:r>
              <a:rPr lang="en-GB" dirty="0"/>
              <a:t> der </a:t>
            </a:r>
            <a:r>
              <a:rPr lang="en-GB" dirty="0" err="1"/>
              <a:t>Rechtsuchende</a:t>
            </a:r>
            <a:r>
              <a:rPr lang="en-GB" dirty="0"/>
              <a:t> muss den </a:t>
            </a:r>
            <a:r>
              <a:rPr lang="en-GB" dirty="0" err="1"/>
              <a:t>aktuellen</a:t>
            </a:r>
            <a:r>
              <a:rPr lang="en-GB" dirty="0"/>
              <a:t> Stand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Rechtsakts</a:t>
            </a:r>
            <a:r>
              <a:rPr lang="en-GB" dirty="0"/>
              <a:t> </a:t>
            </a:r>
            <a:r>
              <a:rPr lang="en-GB" dirty="0" err="1"/>
              <a:t>selbst</a:t>
            </a:r>
            <a:r>
              <a:rPr lang="en-GB" dirty="0"/>
              <a:t> </a:t>
            </a:r>
            <a:r>
              <a:rPr lang="en-GB" dirty="0" err="1"/>
              <a:t>eruieren</a:t>
            </a:r>
            <a:r>
              <a:rPr lang="en-GB" dirty="0"/>
              <a:t>, </a:t>
            </a:r>
            <a:r>
              <a:rPr lang="en-GB" dirty="0" err="1"/>
              <a:t>indem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er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Basisrechtsakt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dirty="0" err="1"/>
              <a:t>aktuellen</a:t>
            </a:r>
            <a:r>
              <a:rPr lang="en-GB" dirty="0"/>
              <a:t> </a:t>
            </a:r>
            <a:r>
              <a:rPr lang="en-GB" dirty="0" err="1"/>
              <a:t>Änderungsakte</a:t>
            </a:r>
            <a:r>
              <a:rPr lang="en-GB" dirty="0"/>
              <a:t> in den </a:t>
            </a:r>
            <a:r>
              <a:rPr lang="en-GB" dirty="0" err="1"/>
              <a:t>Rechtsakt</a:t>
            </a:r>
            <a:r>
              <a:rPr lang="en-GB" dirty="0"/>
              <a:t> </a:t>
            </a:r>
            <a:r>
              <a:rPr lang="en-GB" dirty="0" err="1"/>
              <a:t>integriert</a:t>
            </a:r>
            <a:r>
              <a:rPr lang="en-GB" dirty="0"/>
              <a:t>. 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7164-4362-21F9-8E00-90D4491A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</a:t>
            </a:r>
            <a:r>
              <a:rPr lang="de-CH" dirty="0"/>
              <a:t>Sektorielle Abkommen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3CC75-249C-D8CB-F889-E46F80DA131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/de/sector-specific-agreements/notice-to-users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6F8B-E36E-2F21-F8EA-E971CFB6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74158-291F-176D-0C72-63F63C7C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7B9ED-D0A5-420E-F7DC-B6173EB4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61168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DE63-0317-7BEB-F898-A192A618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3E76E-309A-2ABC-7619-5743A9E6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International</a:t>
            </a:r>
          </a:p>
          <a:p>
            <a:pPr lvl="1"/>
            <a:r>
              <a:rPr lang="en-GB" dirty="0" err="1"/>
              <a:t>Völkerrechtliche</a:t>
            </a:r>
            <a:r>
              <a:rPr lang="en-GB" dirty="0"/>
              <a:t> </a:t>
            </a:r>
            <a:r>
              <a:rPr lang="en-GB" dirty="0" err="1"/>
              <a:t>Verträge</a:t>
            </a:r>
            <a:endParaRPr lang="en-GB" dirty="0"/>
          </a:p>
          <a:p>
            <a:pPr lvl="1"/>
            <a:r>
              <a:rPr lang="en-GB" dirty="0" err="1"/>
              <a:t>Beschlüsse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endParaRPr lang="en-GB" dirty="0"/>
          </a:p>
          <a:p>
            <a:pPr lvl="1"/>
            <a:r>
              <a:rPr lang="en-GB" dirty="0" err="1"/>
              <a:t>Rechtsakte</a:t>
            </a:r>
            <a:r>
              <a:rPr lang="en-GB" dirty="0"/>
              <a:t> der EU (</a:t>
            </a:r>
            <a:r>
              <a:rPr lang="en-GB" dirty="0" err="1"/>
              <a:t>bilaterale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sektorielle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)</a:t>
            </a:r>
          </a:p>
          <a:p>
            <a:r>
              <a:rPr lang="en-GB" dirty="0"/>
              <a:t>Bund</a:t>
            </a:r>
          </a:p>
          <a:p>
            <a:pPr lvl="1"/>
            <a:r>
              <a:rPr lang="en-GB" dirty="0" err="1"/>
              <a:t>Verfassung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</a:t>
            </a:r>
            <a:r>
              <a:rPr lang="en-GB" dirty="0" err="1"/>
              <a:t>Bundesversammlung</a:t>
            </a:r>
            <a:endParaRPr lang="en-GB" dirty="0"/>
          </a:p>
          <a:p>
            <a:pPr lvl="2"/>
            <a:r>
              <a:rPr lang="en-GB" dirty="0"/>
              <a:t>des </a:t>
            </a:r>
            <a:r>
              <a:rPr lang="en-GB" dirty="0" err="1"/>
              <a:t>Bundesrats</a:t>
            </a:r>
            <a:endParaRPr lang="en-GB" dirty="0"/>
          </a:p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Verfassungen</a:t>
            </a:r>
            <a:endParaRPr lang="en-GB" dirty="0"/>
          </a:p>
          <a:p>
            <a:pPr lvl="1"/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Bund und </a:t>
            </a:r>
            <a:r>
              <a:rPr lang="en-GB" dirty="0" err="1"/>
              <a:t>Kantonen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4E2D3-7406-3F32-CF21-47F5BFD3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Erlasse/Gesetzestexte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EE782-7A88-8621-A801-56B9B72F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FDE16-D29A-5182-F781-049E20A1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734B0-5DA9-BBF3-A6ED-1B0894DA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4635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4BB5-263B-9BE1-9AAB-C10C2815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C48CFF-D97F-55AA-9BC2-58788DFE2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Interkantonale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und </a:t>
            </a:r>
            <a:r>
              <a:rPr lang="en-GB" dirty="0" err="1"/>
              <a:t>Konkordate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Legislative</a:t>
            </a:r>
          </a:p>
          <a:p>
            <a:pPr lvl="2"/>
            <a:r>
              <a:rPr lang="en-GB" dirty="0"/>
              <a:t>der </a:t>
            </a:r>
            <a:r>
              <a:rPr lang="en-GB" dirty="0" err="1"/>
              <a:t>Exekutive</a:t>
            </a:r>
            <a:endParaRPr lang="en-GB" dirty="0"/>
          </a:p>
          <a:p>
            <a:r>
              <a:rPr lang="en-GB" dirty="0"/>
              <a:t>Gemeinden</a:t>
            </a:r>
          </a:p>
          <a:p>
            <a:pPr lvl="1"/>
            <a:r>
              <a:rPr lang="en-GB" dirty="0" err="1"/>
              <a:t>Vereinbarungen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D8608-71AE-570E-778E-DBA12E70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C278AE-8580-BC87-EDE1-99065C94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33026-5B09-6BCE-F506-DE2A7720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45A71-0D49-9753-1EFB-457BE16A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42330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7262-588F-A2C2-53C1-CED221BD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9B31CD-8A40-4C78-14A1-0E56F7680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r>
              <a:rPr lang="en-GB" dirty="0"/>
              <a:t>Legislative </a:t>
            </a:r>
            <a:r>
              <a:rPr lang="en-GB" b="1" dirty="0"/>
              <a:t>projects</a:t>
            </a:r>
            <a:r>
              <a:rPr lang="en-GB" dirty="0"/>
              <a:t> group publications and tasks (process stage of publishing a law):</a:t>
            </a:r>
          </a:p>
          <a:p>
            <a:pPr lvl="1"/>
            <a:r>
              <a:rPr lang="en-GB" dirty="0"/>
              <a:t>/</a:t>
            </a:r>
            <a:r>
              <a:rPr lang="en-GB" dirty="0">
                <a:highlight>
                  <a:srgbClr val="FFFF00"/>
                </a:highlight>
              </a:rPr>
              <a:t>dl/</a:t>
            </a:r>
            <a:r>
              <a:rPr lang="en-GB" dirty="0" err="1">
                <a:highlight>
                  <a:srgbClr val="FFFF00"/>
                </a:highlight>
              </a:rPr>
              <a:t>proj</a:t>
            </a:r>
            <a:r>
              <a:rPr lang="en-GB" dirty="0">
                <a:highlight>
                  <a:srgbClr val="FFFF00"/>
                </a:highlight>
              </a:rPr>
              <a:t>/</a:t>
            </a:r>
            <a:r>
              <a:rPr lang="en-GB" dirty="0"/>
              <a:t>{year}/{</a:t>
            </a:r>
            <a:r>
              <a:rPr lang="en-GB" dirty="0" err="1"/>
              <a:t>legislative_process_identifier</a:t>
            </a:r>
            <a:r>
              <a:rPr lang="en-GB" dirty="0"/>
              <a:t>}</a:t>
            </a:r>
          </a:p>
          <a:p>
            <a:r>
              <a:rPr lang="en-GB" dirty="0"/>
              <a:t>The stage of the legislative process in creating a new law is described as </a:t>
            </a:r>
            <a:r>
              <a:rPr lang="en-GB" b="1" dirty="0"/>
              <a:t>task</a:t>
            </a:r>
            <a:r>
              <a:rPr lang="en-GB" dirty="0"/>
              <a:t> (abbreviation, 4 letters) followed by a number (e.g. cons_1 = consultation, stage 1):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</a:t>
            </a:r>
            <a:r>
              <a:rPr lang="en-GB" dirty="0">
                <a:highlight>
                  <a:srgbClr val="FFFF00"/>
                </a:highlight>
              </a:rPr>
              <a:t>/{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(optional)  A task can have a </a:t>
            </a:r>
            <a:r>
              <a:rPr lang="en-GB" b="1" dirty="0"/>
              <a:t>sub-task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>
                <a:hlinkClick r:id="rId2"/>
              </a:rPr>
              <a:t>}</a:t>
            </a:r>
            <a:r>
              <a:rPr lang="en-GB" dirty="0"/>
              <a:t>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sub_task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(optional)  Multiple consecutive task values are possible (“cons_1”, “parl_2”, etc...) to indicate </a:t>
            </a:r>
            <a:r>
              <a:rPr lang="en-GB" dirty="0" err="1"/>
              <a:t>thestage</a:t>
            </a:r>
            <a:r>
              <a:rPr lang="en-GB" dirty="0"/>
              <a:t> of the legislative process: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Related </a:t>
            </a:r>
            <a:r>
              <a:rPr lang="en-GB" b="1" dirty="0"/>
              <a:t>publications</a:t>
            </a:r>
            <a:r>
              <a:rPr lang="en-GB" dirty="0"/>
              <a:t> (e.g. </a:t>
            </a:r>
            <a:r>
              <a:rPr lang="en-GB" dirty="0" err="1"/>
              <a:t>InitialDraft</a:t>
            </a:r>
            <a:r>
              <a:rPr lang="en-GB" dirty="0"/>
              <a:t>) are attached to a single legislative project with a corresponding sequence number: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{publication}_{</a:t>
            </a:r>
            <a:r>
              <a:rPr lang="en-GB" dirty="0" err="1">
                <a:highlight>
                  <a:srgbClr val="FFFF00"/>
                </a:highlight>
              </a:rPr>
              <a:t>publication_sequence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On the other hand, {</a:t>
            </a:r>
            <a:r>
              <a:rPr lang="en-GB" dirty="0" err="1"/>
              <a:t>task_sequence</a:t>
            </a:r>
            <a:r>
              <a:rPr lang="en-GB" dirty="0"/>
              <a:t>} can be omitted if there is only one task (cons, </a:t>
            </a:r>
            <a:r>
              <a:rPr lang="en-GB" dirty="0" err="1"/>
              <a:t>parl</a:t>
            </a:r>
            <a:r>
              <a:rPr lang="en-GB" dirty="0"/>
              <a:t>, etc.):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}/{task type}/{publication}_{</a:t>
            </a:r>
            <a:r>
              <a:rPr lang="en-GB" dirty="0" err="1"/>
              <a:t>publication_sequence</a:t>
            </a:r>
            <a:r>
              <a:rPr lang="en-GB" dirty="0"/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83BC0-E076-C0E1-7D91-DD0DF850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C3AEC-42FD-D8C5-F350-B7A7D0E5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B1A03-0275-082A-91CA-F4085583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4819E-7B23-21A2-8152-05055F9E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34591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DD2FD-DE2F-3EE6-FD41-544DC61C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4B51E4-0901-A429-2909-A9950B730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2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3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4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5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F33B8-3CE8-3465-066C-AFD671C4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E3B7E-F0AF-86A2-03B4-DB336DD6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5EDDD-BA12-7A59-5691-38FD84B6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06B06-046F-6E6D-D06F-2F94F8A4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49813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B87D5-6013-CD89-2234-24B53AC7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BDC30C-625B-09E4-40DF-264142CB8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2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3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4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5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FA909-BD11-297D-0410-E2D3CE67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Kantone – Was gibt es nocht zu tun?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0320F-13B3-086A-2A2F-C7345569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7379A-938F-AF7A-0DA9-F3870EE7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73917-5884-B456-FA09-199B3BFE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66514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-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FBB3-7764-79C4-273F-B8D7D85B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8719F-91E0-21D1-6ABC-AB9C35AB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7D5A-43FF-1D92-884C-C11DA131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29855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55E1-9F77-E4AE-6C1F-35118E1A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3185-4161-511F-359E-0E41770E9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Jurisdiction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F6B26-6628-4604-832E-1B3712BD9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1. Component</a:t>
            </a:r>
          </a:p>
        </p:txBody>
      </p:sp>
    </p:spTree>
    <p:extLst>
      <p:ext uri="{BB962C8B-B14F-4D97-AF65-F5344CB8AC3E}">
        <p14:creationId xmlns:p14="http://schemas.microsoft.com/office/powerpoint/2010/main" val="1287382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31BC-E79F-9FE3-7C0E-68ECE118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468-2153-CCAD-1BE6-F68CB996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03FA-F96A-2506-6160-C520FC91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Die </a:t>
            </a:r>
            <a:r>
              <a:rPr lang="en-GB" b="1" dirty="0"/>
              <a:t>ISO 3166-1 Alpha-2 Codes </a:t>
            </a:r>
            <a:r>
              <a:rPr lang="en-GB" dirty="0" err="1"/>
              <a:t>bestehen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dirty="0" err="1"/>
              <a:t>Teilen</a:t>
            </a:r>
            <a:r>
              <a:rPr lang="en-GB" dirty="0"/>
              <a:t>, die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Bindestrich</a:t>
            </a:r>
            <a:r>
              <a:rPr lang="en-GB" dirty="0"/>
              <a:t> </a:t>
            </a:r>
            <a:r>
              <a:rPr lang="en-GB" dirty="0" err="1"/>
              <a:t>voneinander</a:t>
            </a:r>
            <a:r>
              <a:rPr lang="en-GB" dirty="0"/>
              <a:t> </a:t>
            </a:r>
            <a:r>
              <a:rPr lang="en-GB" dirty="0" err="1"/>
              <a:t>getrennt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 (z. B. CH-VS für Kanton Wallis).</a:t>
            </a:r>
          </a:p>
          <a:p>
            <a:r>
              <a:rPr lang="en-GB" dirty="0"/>
              <a:t>Der </a:t>
            </a:r>
            <a:r>
              <a:rPr lang="en-GB" dirty="0" err="1"/>
              <a:t>erste</a:t>
            </a:r>
            <a:r>
              <a:rPr lang="en-GB" dirty="0"/>
              <a:t> Teil </a:t>
            </a:r>
            <a:r>
              <a:rPr lang="en-GB" dirty="0" err="1"/>
              <a:t>entspricht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in ISO 3166-1 </a:t>
            </a:r>
            <a:r>
              <a:rPr lang="en-GB" dirty="0" err="1"/>
              <a:t>definierten</a:t>
            </a:r>
            <a:r>
              <a:rPr lang="en-GB" dirty="0"/>
              <a:t> </a:t>
            </a:r>
            <a:r>
              <a:rPr lang="en-GB" dirty="0" err="1"/>
              <a:t>Landescode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b="1" dirty="0" err="1"/>
              <a:t>Grossbuchstaben</a:t>
            </a:r>
            <a:r>
              <a:rPr lang="en-GB" dirty="0"/>
              <a:t>. </a:t>
            </a:r>
          </a:p>
          <a:p>
            <a:r>
              <a:rPr lang="en-GB" dirty="0"/>
              <a:t>Der </a:t>
            </a:r>
            <a:r>
              <a:rPr lang="en-GB" dirty="0" err="1"/>
              <a:t>zweite</a:t>
            </a:r>
            <a:r>
              <a:rPr lang="en-GB" dirty="0"/>
              <a:t> Teil, der ISO-3166-2-Variant-Code, </a:t>
            </a:r>
            <a:r>
              <a:rPr lang="en-GB" dirty="0" err="1"/>
              <a:t>besteht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bis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drei</a:t>
            </a:r>
            <a:r>
              <a:rPr lang="en-GB" dirty="0"/>
              <a:t> </a:t>
            </a:r>
            <a:r>
              <a:rPr lang="en-GB" dirty="0" err="1"/>
              <a:t>Ziffern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Buchstaben</a:t>
            </a:r>
            <a:r>
              <a:rPr lang="en-GB" dirty="0"/>
              <a:t> für die </a:t>
            </a:r>
            <a:r>
              <a:rPr lang="en-GB" dirty="0" err="1"/>
              <a:t>einzelnen</a:t>
            </a:r>
            <a:r>
              <a:rPr lang="en-GB" dirty="0"/>
              <a:t> </a:t>
            </a:r>
            <a:r>
              <a:rPr lang="en-GB" dirty="0" err="1"/>
              <a:t>Gebiete</a:t>
            </a:r>
            <a:r>
              <a:rPr lang="en-GB" dirty="0"/>
              <a:t> des </a:t>
            </a:r>
            <a:r>
              <a:rPr lang="en-GB" dirty="0" err="1"/>
              <a:t>jeweiligen</a:t>
            </a:r>
            <a:r>
              <a:rPr lang="en-GB" dirty="0"/>
              <a:t> Landes. 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380C-B8CF-603F-38AA-925DC330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83D69-0794-020A-59A6-599075F3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3EFD-A631-9762-F9A5-E4621AF4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4188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09A4-ED9F-59DF-D071-10C6A77E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E232-2F8B-83C1-4F10-E666A197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 – Federal States?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F8CB-FF48-0819-A6CD-0D6EB338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68D21-B33E-DA2B-C9E8-552D3F1F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FE5DD-0619-19BC-8A9F-FA4C16CA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17C377-4104-325F-AD57-13C44FAFA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82CB3-FB75-0C6C-0ECA-065E7B31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66377"/>
            <a:ext cx="10569189" cy="31338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B34D0D-18B9-CE5A-D57A-2B6CD1F21F65}"/>
              </a:ext>
            </a:extLst>
          </p:cNvPr>
          <p:cNvSpPr/>
          <p:nvPr/>
        </p:nvSpPr>
        <p:spPr>
          <a:xfrm>
            <a:off x="9525000" y="3680748"/>
            <a:ext cx="1828800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3833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7FB2-E6AB-D97B-30A8-4339CCF4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CDFC38-DE36-1BF1-08E1-2EE6C4C05715}"/>
              </a:ext>
            </a:extLst>
          </p:cNvPr>
          <p:cNvSpPr/>
          <p:nvPr/>
        </p:nvSpPr>
        <p:spPr>
          <a:xfrm>
            <a:off x="838201" y="4479403"/>
            <a:ext cx="10515600" cy="1697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1F4FC-847B-8286-4CF9-5CCF663B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B28A-25FD-660C-5076-D9A850A7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Gemeinden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eigene</a:t>
            </a:r>
            <a:r>
              <a:rPr lang="en-GB" dirty="0"/>
              <a:t> </a:t>
            </a:r>
            <a:r>
              <a:rPr lang="en-GB" dirty="0" err="1"/>
              <a:t>Gesetze</a:t>
            </a:r>
            <a:r>
              <a:rPr lang="en-GB" dirty="0"/>
              <a:t> </a:t>
            </a:r>
            <a:r>
              <a:rPr lang="en-GB" dirty="0" err="1"/>
              <a:t>haben</a:t>
            </a:r>
            <a:r>
              <a:rPr lang="en-GB" dirty="0"/>
              <a:t>. Für die </a:t>
            </a:r>
            <a:r>
              <a:rPr lang="en-GB" dirty="0" err="1"/>
              <a:t>Identifikation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und </a:t>
            </a:r>
            <a:r>
              <a:rPr lang="en-GB" dirty="0" err="1"/>
              <a:t>Gesetzestexten</a:t>
            </a:r>
            <a:r>
              <a:rPr lang="en-GB" dirty="0"/>
              <a:t> bis auf Ebene Gemeinde </a:t>
            </a:r>
            <a:r>
              <a:rPr lang="en-GB" dirty="0" err="1"/>
              <a:t>reichen</a:t>
            </a:r>
            <a:r>
              <a:rPr lang="en-GB" dirty="0"/>
              <a:t> die </a:t>
            </a:r>
            <a:r>
              <a:rPr lang="en-GB" b="1" dirty="0"/>
              <a:t>ISO 3166-1 Alpha-2 </a:t>
            </a:r>
            <a:r>
              <a:rPr lang="en-GB" dirty="0"/>
              <a:t>Codes nicht </a:t>
            </a:r>
            <a:r>
              <a:rPr lang="en-GB" dirty="0" err="1"/>
              <a:t>aus.</a:t>
            </a:r>
            <a:endParaRPr lang="en-GB" dirty="0"/>
          </a:p>
          <a:p>
            <a:r>
              <a:rPr lang="en-GB" dirty="0"/>
              <a:t>ELI </a:t>
            </a:r>
            <a:r>
              <a:rPr lang="en-GB" dirty="0" err="1"/>
              <a:t>definiert</a:t>
            </a:r>
            <a:r>
              <a:rPr lang="en-GB" dirty="0"/>
              <a:t> Jurisdiction und Agent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eigenständige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 und </a:t>
            </a:r>
            <a:r>
              <a:rPr lang="en-GB" dirty="0" err="1"/>
              <a:t>gibt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dirty="0" err="1"/>
              <a:t>Anweisungen</a:t>
            </a:r>
            <a:r>
              <a:rPr lang="en-GB" dirty="0"/>
              <a:t> </a:t>
            </a:r>
            <a:r>
              <a:rPr lang="en-GB" dirty="0" err="1"/>
              <a:t>bzgl</a:t>
            </a:r>
            <a:r>
              <a:rPr lang="en-GB" dirty="0"/>
              <a:t>. </a:t>
            </a:r>
            <a:r>
              <a:rPr lang="en-GB" dirty="0" err="1"/>
              <a:t>Trennzeichen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</a:p>
          <a:p>
            <a:r>
              <a:rPr lang="en-GB" dirty="0">
                <a:solidFill>
                  <a:schemeClr val="bg1"/>
                </a:solidFill>
              </a:rPr>
              <a:t>Eine </a:t>
            </a:r>
            <a:r>
              <a:rPr lang="en-GB" dirty="0" err="1">
                <a:solidFill>
                  <a:schemeClr val="bg1"/>
                </a:solidFill>
              </a:rPr>
              <a:t>einzige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Komponente</a:t>
            </a:r>
            <a:r>
              <a:rPr lang="en-GB" dirty="0">
                <a:solidFill>
                  <a:schemeClr val="bg1"/>
                </a:solidFill>
              </a:rPr>
              <a:t> und </a:t>
            </a:r>
            <a:r>
              <a:rPr lang="en-GB" dirty="0" err="1">
                <a:solidFill>
                  <a:schemeClr val="bg1"/>
                </a:solidFill>
              </a:rPr>
              <a:t>Bindestriche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anstatt</a:t>
            </a:r>
            <a:r>
              <a:rPr lang="en-GB" dirty="0">
                <a:solidFill>
                  <a:schemeClr val="bg1"/>
                </a:solidFill>
              </a:rPr>
              <a:t> Slashes (/).</a:t>
            </a:r>
          </a:p>
          <a:p>
            <a:r>
              <a:rPr lang="en-GB" dirty="0">
                <a:solidFill>
                  <a:schemeClr val="bg1"/>
                </a:solidFill>
              </a:rPr>
              <a:t>ISO 3166-1 Alpha-2 + BFS </a:t>
            </a:r>
            <a:r>
              <a:rPr lang="en-GB" dirty="0" err="1">
                <a:solidFill>
                  <a:schemeClr val="bg1"/>
                </a:solidFill>
              </a:rPr>
              <a:t>Gde-nummer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4B84-94CB-3AFF-43FE-2054911B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FE69-775D-3E7C-2D33-6CD3E7C8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3901F-49CE-D5DB-C708-08D5466A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15157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B1D91-A4F9-BA94-0B88-9F465E0AF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9430AA-01C1-FFDE-B506-680AC59A9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692" y="2731624"/>
            <a:ext cx="6019108" cy="35350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87F7A3-7C05-1763-1AAB-51D94C5A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 err="1"/>
              <a:t>Amtliches</a:t>
            </a:r>
            <a:r>
              <a:rPr lang="en-GB" dirty="0"/>
              <a:t> </a:t>
            </a:r>
            <a:r>
              <a:rPr lang="en-GB" dirty="0" err="1"/>
              <a:t>Gemeindeverzeichnis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F7DDE-A0E1-FD79-3B35-D9FD874F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23D9-4BA9-C3BE-E49B-8221FCE9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9CB44-1D03-789C-6F41-468D7E9B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CCFCA5-1698-D22C-C176-45220B408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r>
              <a:rPr lang="en-GB" dirty="0"/>
              <a:t>z</a:t>
            </a:r>
            <a:r>
              <a:rPr lang="en-CH" dirty="0"/>
              <a:t>.B. für Rifferswil: </a:t>
            </a:r>
            <a:r>
              <a:rPr lang="en-CH" b="1" dirty="0"/>
              <a:t>/CH-ZH-12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1E9D8-42A5-18D2-EC67-14941AFB1C1A}"/>
              </a:ext>
            </a:extLst>
          </p:cNvPr>
          <p:cNvSpPr txBox="1"/>
          <p:nvPr/>
        </p:nvSpPr>
        <p:spPr>
          <a:xfrm>
            <a:off x="838199" y="5923127"/>
            <a:ext cx="10348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https://www.bfs.admin.ch/bfs/de/home/grundlagen/agvch.html</a:t>
            </a:r>
            <a:r>
              <a:rPr lang="en-GB" dirty="0"/>
              <a:t>		BFS </a:t>
            </a:r>
            <a:r>
              <a:rPr lang="en-GB" dirty="0" err="1"/>
              <a:t>Gde</a:t>
            </a:r>
            <a:r>
              <a:rPr lang="en-GB" dirty="0"/>
              <a:t>-Nummer</a:t>
            </a:r>
          </a:p>
          <a:p>
            <a:r>
              <a:rPr lang="en-GB" dirty="0">
                <a:hlinkClick r:id="rId5"/>
              </a:rPr>
              <a:t>https://www.agvchapp.bfs.admin.ch/de/mutated-communes/query</a:t>
            </a:r>
            <a:r>
              <a:rPr lang="en-GB" dirty="0"/>
              <a:t>	REST API</a:t>
            </a:r>
            <a:endParaRPr lang="en-C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0D0762-CB70-91BA-012F-A3F3A2697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52389"/>
            <a:ext cx="7772400" cy="22625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132EF-C8A9-CAB8-CCA7-46B91AB0BAB3}"/>
              </a:ext>
            </a:extLst>
          </p:cNvPr>
          <p:cNvSpPr/>
          <p:nvPr/>
        </p:nvSpPr>
        <p:spPr>
          <a:xfrm>
            <a:off x="4695463" y="3709874"/>
            <a:ext cx="1010856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1E013F-0BEB-4FA3-C552-03077545F894}"/>
              </a:ext>
            </a:extLst>
          </p:cNvPr>
          <p:cNvCxnSpPr>
            <a:cxnSpLocks/>
          </p:cNvCxnSpPr>
          <p:nvPr/>
        </p:nvCxnSpPr>
        <p:spPr>
          <a:xfrm>
            <a:off x="5706319" y="4004841"/>
            <a:ext cx="1585732" cy="370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69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B36D-1BF9-D45F-6727-C004B502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46C1-5E51-D463-92D4-24031C0F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 err="1"/>
              <a:t>Diskussion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103C-874E-CE26-6D0D-34842354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0C19-4987-291D-CB06-EBF81027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8FB83-2007-3E71-3B4B-76A1098B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37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3AE46B-A230-0823-6400-8DC04EF08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CH" dirty="0"/>
              <a:t>Gross- UND Kleinschreibung (z.B. /CH-ZH und /ch-zh) erlauben?</a:t>
            </a:r>
          </a:p>
          <a:p>
            <a:r>
              <a:rPr lang="en-CH" dirty="0"/>
              <a:t>Bund als Voreinstellung, wenn Jurisdiction Komponente fehlt?</a:t>
            </a:r>
          </a:p>
          <a:p>
            <a:r>
              <a:rPr lang="en-CH" dirty="0"/>
              <a:t>NUR Kantonsabkürzung (z.B. /ZH) zulassen?</a:t>
            </a:r>
          </a:p>
          <a:p>
            <a:r>
              <a:rPr lang="en-CH" dirty="0"/>
              <a:t>NUR </a:t>
            </a:r>
            <a:r>
              <a:rPr lang="en-GB" dirty="0"/>
              <a:t>BFS </a:t>
            </a:r>
            <a:r>
              <a:rPr lang="en-GB" dirty="0" err="1"/>
              <a:t>Gde-nummer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/12)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 err="1"/>
              <a:t>Weitere</a:t>
            </a:r>
            <a:r>
              <a:rPr lang="en-GB" dirty="0"/>
              <a:t> </a:t>
            </a:r>
            <a:r>
              <a:rPr lang="en-GB" dirty="0" err="1"/>
              <a:t>relevante</a:t>
            </a:r>
            <a:r>
              <a:rPr lang="en-GB" dirty="0"/>
              <a:t> Stellen, die </a:t>
            </a:r>
            <a:r>
              <a:rPr lang="en-GB" dirty="0" err="1"/>
              <a:t>Rechtsdaten</a:t>
            </a:r>
            <a:r>
              <a:rPr lang="en-GB" dirty="0"/>
              <a:t> </a:t>
            </a:r>
            <a:r>
              <a:rPr lang="en-GB" dirty="0" err="1"/>
              <a:t>publizieren</a:t>
            </a:r>
            <a:r>
              <a:rPr lang="en-GB" dirty="0"/>
              <a:t> (FINMA, SSK, etc.), </a:t>
            </a:r>
            <a:r>
              <a:rPr lang="en-GB" dirty="0" err="1"/>
              <a:t>als</a:t>
            </a:r>
            <a:r>
              <a:rPr lang="en-GB" dirty="0"/>
              <a:t> Subagents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/>
              <a:t>NUR Subagents (</a:t>
            </a:r>
            <a:r>
              <a:rPr lang="en-GB" dirty="0" err="1"/>
              <a:t>z.B</a:t>
            </a:r>
            <a:r>
              <a:rPr lang="en-GB" dirty="0"/>
              <a:t>: /</a:t>
            </a:r>
            <a:r>
              <a:rPr lang="en-GB" dirty="0" err="1"/>
              <a:t>finma</a:t>
            </a:r>
            <a:r>
              <a:rPr lang="en-GB" dirty="0"/>
              <a:t>)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/>
              <a:t>EU-Recht und </a:t>
            </a:r>
            <a:r>
              <a:rPr lang="en-GB" dirty="0" err="1"/>
              <a:t>internationale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-</a:t>
            </a:r>
            <a:r>
              <a:rPr lang="en-GB" dirty="0" err="1"/>
              <a:t>kantonale</a:t>
            </a:r>
            <a:r>
              <a:rPr lang="en-GB" dirty="0"/>
              <a:t> </a:t>
            </a:r>
            <a:r>
              <a:rPr lang="en-GB" dirty="0" err="1"/>
              <a:t>Vereinbarungen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16275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CCE3-EAC5-C948-0AA7-9AAEEE34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CF15-A8BA-E976-47EC-037C2BAE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Änderung der Kantonszugehörigkeit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4461-1C16-EEE1-A4B3-3010B0A7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8012-55A2-B685-6CAD-2104B173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849F-715D-D314-945B-C983D7EE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38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54B40B-C19B-73D2-BE78-602EBDB1E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Alle </a:t>
            </a:r>
            <a:r>
              <a:rPr lang="en-GB" dirty="0" err="1"/>
              <a:t>Änderungen</a:t>
            </a:r>
            <a:r>
              <a:rPr lang="en-GB" dirty="0"/>
              <a:t> der </a:t>
            </a:r>
            <a:r>
              <a:rPr lang="en-GB" dirty="0" err="1"/>
              <a:t>Kantons</a:t>
            </a:r>
            <a:r>
              <a:rPr lang="en-GB" dirty="0"/>
              <a:t>-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Bezirkszugehörigkeit</a:t>
            </a:r>
            <a:r>
              <a:rPr lang="en-GB" dirty="0"/>
              <a:t> </a:t>
            </a:r>
            <a:r>
              <a:rPr lang="en-GB" dirty="0" err="1"/>
              <a:t>betreffen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Gemeinde; die </a:t>
            </a:r>
            <a:r>
              <a:rPr lang="en-GB" dirty="0" err="1"/>
              <a:t>Liste</a:t>
            </a:r>
            <a:r>
              <a:rPr lang="en-GB" dirty="0"/>
              <a:t> </a:t>
            </a:r>
            <a:r>
              <a:rPr lang="en-GB" dirty="0" err="1"/>
              <a:t>enthält</a:t>
            </a:r>
            <a:r>
              <a:rPr lang="en-GB" dirty="0"/>
              <a:t>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ausschliesslich</a:t>
            </a:r>
            <a:r>
              <a:rPr lang="en-GB" dirty="0"/>
              <a:t> </a:t>
            </a:r>
            <a:r>
              <a:rPr lang="en-GB" b="1" dirty="0" err="1"/>
              <a:t>eindeutige</a:t>
            </a:r>
            <a:r>
              <a:rPr lang="en-GB" b="1" dirty="0"/>
              <a:t> </a:t>
            </a:r>
            <a:r>
              <a:rPr lang="en-GB" b="1" dirty="0" err="1"/>
              <a:t>Vorgänger</a:t>
            </a:r>
            <a:r>
              <a:rPr lang="en-GB" b="1" dirty="0"/>
              <a:t>-/</a:t>
            </a:r>
            <a:r>
              <a:rPr lang="en-GB" b="1" dirty="0" err="1"/>
              <a:t>Nachfolgerbeziehungen</a:t>
            </a:r>
            <a:r>
              <a:rPr lang="en-GB" dirty="0"/>
              <a:t>.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Gemeinderecht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wird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übernommen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oder</a:t>
            </a:r>
            <a:r>
              <a:rPr lang="en-GB" b="1" dirty="0">
                <a:solidFill>
                  <a:prstClr val="black"/>
                </a:solidFill>
              </a:rPr>
              <a:t> muss erst </a:t>
            </a:r>
            <a:r>
              <a:rPr lang="en-GB" b="1" dirty="0" err="1">
                <a:solidFill>
                  <a:prstClr val="black"/>
                </a:solidFill>
              </a:rPr>
              <a:t>entstehen</a:t>
            </a:r>
            <a:r>
              <a:rPr lang="en-GB" b="1" dirty="0">
                <a:solidFill>
                  <a:prstClr val="black"/>
                </a:solidFill>
              </a:rPr>
              <a:t> (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Gesetzgebungskompetenz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1B67D-37FB-4CB2-647E-15AA39E08FEE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DB7670-1C92-E838-FE1B-EB3D1EE08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256054"/>
            <a:ext cx="7772400" cy="148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44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FA79-6AD2-9CE7-19D9-F832CAEE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D84C-FD21-9791-4ABA-5AA62B0B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Änderung der Kantonszugehörigkeit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68287-1774-D574-D237-B2759788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5D130-0232-03DB-D46A-4367E4C1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E46A3-D4F7-6F1E-8609-33B07324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39</a:t>
            </a:fld>
            <a:endParaRPr lang="en-CH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55E2792-0F64-7E96-97A0-B80FAC657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455169"/>
              </p:ext>
            </p:extLst>
          </p:nvPr>
        </p:nvGraphicFramePr>
        <p:xfrm>
          <a:off x="838200" y="1866900"/>
          <a:ext cx="10515600" cy="39923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27874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1685359"/>
                    </a:ext>
                  </a:extLst>
                </a:gridCol>
              </a:tblGrid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Vorher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Nachher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21338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BE</a:t>
                      </a:r>
                      <a:r>
                        <a:rPr lang="en-CH" dirty="0"/>
                        <a:t>-700/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JU</a:t>
                      </a:r>
                      <a:r>
                        <a:rPr lang="en-CH" dirty="0"/>
                        <a:t>-6831/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45050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20992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409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722582-034E-8B62-3286-B9CB043F9D86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AC45B2-F085-FE19-78E3-E5552BD6D8DD}"/>
              </a:ext>
            </a:extLst>
          </p:cNvPr>
          <p:cNvSpPr/>
          <p:nvPr/>
        </p:nvSpPr>
        <p:spPr>
          <a:xfrm>
            <a:off x="972766" y="2911831"/>
            <a:ext cx="398834" cy="12807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4239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117E-35A4-6D3A-988F-E83940E9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5670-F9E4-CAE3-8A63-2144E723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Aufgehobene Gemeinden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2BE7-3DB7-05C7-D524-E358C78C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E8A1A-07A8-A730-E164-F9662AEE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ED80-72D9-6891-1D69-8D94D5BD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40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E760B1-605F-6179-416D-01E8150BD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650166" cy="43105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 err="1"/>
              <a:t>Politische</a:t>
            </a:r>
            <a:r>
              <a:rPr lang="en-GB" dirty="0"/>
              <a:t> Gemeinden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Eingemeindungen</a:t>
            </a:r>
            <a:r>
              <a:rPr lang="en-GB" dirty="0"/>
              <a:t>, </a:t>
            </a:r>
            <a:r>
              <a:rPr lang="en-GB" b="1" dirty="0" err="1"/>
              <a:t>Gemeindefusionen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Gemeindetrennungen</a:t>
            </a:r>
            <a:r>
              <a:rPr lang="en-GB" dirty="0"/>
              <a:t> aufgehoben. Durch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Gemeindetrennung</a:t>
            </a:r>
            <a:r>
              <a:rPr lang="en-GB" dirty="0"/>
              <a:t>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</a:t>
            </a:r>
            <a:r>
              <a:rPr lang="en-GB" dirty="0" err="1"/>
              <a:t>neue</a:t>
            </a:r>
            <a:r>
              <a:rPr lang="en-GB" dirty="0"/>
              <a:t> Gemeinden;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erscheint</a:t>
            </a:r>
            <a:r>
              <a:rPr lang="en-GB" dirty="0"/>
              <a:t> in </a:t>
            </a:r>
            <a:r>
              <a:rPr lang="en-GB" dirty="0" err="1"/>
              <a:t>diesen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die </a:t>
            </a:r>
            <a:r>
              <a:rPr lang="en-GB" dirty="0" err="1"/>
              <a:t>aufgehobene</a:t>
            </a:r>
            <a:r>
              <a:rPr lang="en-GB" dirty="0"/>
              <a:t> Gemeinde </a:t>
            </a:r>
            <a:r>
              <a:rPr lang="en-GB" dirty="0" err="1"/>
              <a:t>mehrmals</a:t>
            </a:r>
            <a:r>
              <a:rPr lang="en-GB" dirty="0"/>
              <a:t> in der </a:t>
            </a:r>
            <a:r>
              <a:rPr lang="en-GB" dirty="0" err="1"/>
              <a:t>Liste</a:t>
            </a:r>
            <a:r>
              <a:rPr lang="en-GB" dirty="0"/>
              <a:t>.</a:t>
            </a:r>
          </a:p>
          <a:p>
            <a:pPr>
              <a:buFont typeface="Symbol" pitchFamily="2" charset="2"/>
              <a:buChar char="Þ"/>
            </a:pPr>
            <a:r>
              <a:rPr lang="en-GB" b="1" dirty="0" err="1"/>
              <a:t>Gemeinderecht</a:t>
            </a:r>
            <a:r>
              <a:rPr lang="en-GB" b="1" dirty="0"/>
              <a:t> </a:t>
            </a:r>
            <a:r>
              <a:rPr lang="en-GB" b="1" dirty="0" err="1"/>
              <a:t>wird</a:t>
            </a:r>
            <a:r>
              <a:rPr lang="en-GB" b="1" dirty="0"/>
              <a:t> aufgehoben </a:t>
            </a:r>
            <a:r>
              <a:rPr lang="en-GB" b="1" dirty="0" err="1"/>
              <a:t>oder</a:t>
            </a:r>
            <a:r>
              <a:rPr lang="en-GB" b="1" dirty="0"/>
              <a:t> </a:t>
            </a:r>
            <a:r>
              <a:rPr lang="en-GB" b="1" dirty="0" err="1"/>
              <a:t>teilweise</a:t>
            </a:r>
            <a:r>
              <a:rPr lang="en-GB" b="1" dirty="0"/>
              <a:t> </a:t>
            </a:r>
            <a:r>
              <a:rPr lang="en-GB" b="1" dirty="0" err="1"/>
              <a:t>übernommen</a:t>
            </a:r>
            <a:r>
              <a:rPr lang="en-GB" b="1" dirty="0"/>
              <a:t>.</a:t>
            </a:r>
          </a:p>
          <a:p>
            <a:pPr>
              <a:buFont typeface="Symbol" pitchFamily="2" charset="2"/>
              <a:buChar char="Þ"/>
            </a:pP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D7388-012B-7F5C-556B-1C34D8EEDC0B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4ED02D-DD57-DB37-12F1-F01EFA683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410081"/>
            <a:ext cx="7772400" cy="188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83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DD3-AB37-0A78-C485-CB69F027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1351-A78E-7B87-404B-05BF86E5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Neu entstandene Gemeinden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62947-25B3-B1F8-CECC-A160DDD0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5CF5-5AE3-18B0-2727-1384F57C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28D7-1677-68FA-ABA9-A150C106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41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D94D02-FCF0-7861-7D8F-3BBCDC1B6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Neue </a:t>
            </a:r>
            <a:r>
              <a:rPr lang="en-GB" dirty="0" err="1"/>
              <a:t>politische</a:t>
            </a:r>
            <a:r>
              <a:rPr lang="en-GB" dirty="0"/>
              <a:t> Gemeinden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Gemeindefusionen</a:t>
            </a:r>
            <a:r>
              <a:rPr lang="en-GB" dirty="0"/>
              <a:t>, </a:t>
            </a:r>
            <a:r>
              <a:rPr lang="en-GB" dirty="0" err="1"/>
              <a:t>Gemeindetrennungen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Ausgemeindungen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Eine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b="1" dirty="0"/>
              <a:t>Gemeindefusion</a:t>
            </a:r>
            <a:r>
              <a:rPr lang="en-GB" dirty="0"/>
              <a:t> </a:t>
            </a:r>
            <a:r>
              <a:rPr lang="en-GB" dirty="0" err="1"/>
              <a:t>entstandene</a:t>
            </a:r>
            <a:r>
              <a:rPr lang="en-GB" dirty="0"/>
              <a:t> Gemeinde </a:t>
            </a:r>
            <a:r>
              <a:rPr lang="en-GB" dirty="0" err="1"/>
              <a:t>besteht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mehreren</a:t>
            </a:r>
            <a:r>
              <a:rPr lang="en-GB" dirty="0"/>
              <a:t> </a:t>
            </a:r>
            <a:r>
              <a:rPr lang="en-GB" dirty="0" err="1"/>
              <a:t>ehemaligen</a:t>
            </a:r>
            <a:r>
              <a:rPr lang="en-GB" dirty="0"/>
              <a:t> Gemeinden;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erscheint</a:t>
            </a:r>
            <a:r>
              <a:rPr lang="en-GB" dirty="0"/>
              <a:t> in </a:t>
            </a:r>
            <a:r>
              <a:rPr lang="en-GB" dirty="0" err="1"/>
              <a:t>diesen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die neu </a:t>
            </a:r>
            <a:r>
              <a:rPr lang="en-GB" dirty="0" err="1"/>
              <a:t>entstandene</a:t>
            </a:r>
            <a:r>
              <a:rPr lang="en-GB" dirty="0"/>
              <a:t> Gemeinde </a:t>
            </a:r>
            <a:r>
              <a:rPr lang="en-GB" dirty="0" err="1"/>
              <a:t>mehrmals</a:t>
            </a:r>
            <a:r>
              <a:rPr lang="en-GB" dirty="0"/>
              <a:t> in der </a:t>
            </a:r>
            <a:r>
              <a:rPr lang="en-GB" dirty="0" err="1"/>
              <a:t>Liste</a:t>
            </a:r>
            <a:r>
              <a:rPr lang="en-GB" dirty="0"/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Gemeinderecht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wird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übernommen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oder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muss erst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entstehen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BF1C1-891F-8C3F-3EF8-FB2901531141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769850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823E-0EB6-86A0-22CE-0A958ED7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7520-A64D-57F4-EB45-6EA188C5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Legacy Version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B5AC7-97AB-8C50-914F-F5A99B19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784B-2C39-B722-0AB5-74224E150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6B4A1-BA61-D155-ED10-4309203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42</a:t>
            </a:fld>
            <a:endParaRPr lang="en-CH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2A1BFDD-99FE-EF77-E103-D3221B8F3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174426"/>
              </p:ext>
            </p:extLst>
          </p:nvPr>
        </p:nvGraphicFramePr>
        <p:xfrm>
          <a:off x="838200" y="1866900"/>
          <a:ext cx="10515600" cy="39923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27874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1685359"/>
                    </a:ext>
                  </a:extLst>
                </a:gridCol>
              </a:tblGrid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Vorher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Nachher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21338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GL</a:t>
                      </a:r>
                      <a:r>
                        <a:rPr lang="en-CH" dirty="0"/>
                        <a:t>-1609/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GL</a:t>
                      </a:r>
                      <a:r>
                        <a:rPr lang="en-CH" dirty="0"/>
                        <a:t>-1632/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45050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20992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409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A5F9CD-F875-0511-CAAF-74100F99FFAD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9D8524-A747-8EEF-01AE-A6564592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3257577"/>
            <a:ext cx="7772400" cy="190014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014679-30E3-26A5-FEB1-FB167D07AD22}"/>
              </a:ext>
            </a:extLst>
          </p:cNvPr>
          <p:cNvSpPr/>
          <p:nvPr/>
        </p:nvSpPr>
        <p:spPr>
          <a:xfrm>
            <a:off x="838200" y="2868930"/>
            <a:ext cx="1485900" cy="2990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1257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36F4-D81E-1303-0E94-7B90878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CFAF-4908-B2FC-229C-1A51BFDF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/>
              <a:t>Kein Einfluss auf BFS-</a:t>
            </a:r>
            <a:r>
              <a:rPr lang="en-GB" dirty="0" err="1"/>
              <a:t>Gde</a:t>
            </a:r>
            <a:r>
              <a:rPr lang="en-GB" dirty="0"/>
              <a:t> Nr. 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ADB21-BD2E-B585-88F7-A9D26A67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968EA-785C-0152-BD30-2707B6A6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13FE3-EC60-2FA6-ED6D-9E0F45DE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43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BA26DF-EC1A-0268-9FC5-0D79660F1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>
                <a:hlinkClick r:id="rId3"/>
              </a:rPr>
              <a:t>Namensänderungen von Gemeinden</a:t>
            </a:r>
            <a:r>
              <a:rPr lang="en-GB" dirty="0"/>
              <a:t>: Alle </a:t>
            </a:r>
            <a:r>
              <a:rPr lang="en-GB" dirty="0" err="1"/>
              <a:t>Namensänderungen</a:t>
            </a:r>
            <a:r>
              <a:rPr lang="en-GB" dirty="0"/>
              <a:t> </a:t>
            </a:r>
            <a:r>
              <a:rPr lang="en-GB" dirty="0" err="1"/>
              <a:t>betreffen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Gemeinde; die </a:t>
            </a:r>
            <a:r>
              <a:rPr lang="en-GB" dirty="0" err="1"/>
              <a:t>Liste</a:t>
            </a:r>
            <a:r>
              <a:rPr lang="en-GB" dirty="0"/>
              <a:t> </a:t>
            </a:r>
            <a:r>
              <a:rPr lang="en-GB" dirty="0" err="1"/>
              <a:t>enthält</a:t>
            </a:r>
            <a:r>
              <a:rPr lang="en-GB" dirty="0"/>
              <a:t>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ausschliesslich</a:t>
            </a:r>
            <a:r>
              <a:rPr lang="en-GB" dirty="0"/>
              <a:t> </a:t>
            </a:r>
            <a:r>
              <a:rPr lang="en-GB" dirty="0" err="1"/>
              <a:t>eindeutige</a:t>
            </a:r>
            <a:r>
              <a:rPr lang="en-GB" dirty="0"/>
              <a:t> </a:t>
            </a:r>
            <a:r>
              <a:rPr lang="en-GB" dirty="0" err="1"/>
              <a:t>Vorgänger</a:t>
            </a:r>
            <a:r>
              <a:rPr lang="en-GB" dirty="0"/>
              <a:t>-/</a:t>
            </a:r>
            <a:r>
              <a:rPr lang="en-GB" dirty="0" err="1"/>
              <a:t>Nachfolgerbeziehungen</a:t>
            </a:r>
            <a:r>
              <a:rPr lang="en-GB" dirty="0"/>
              <a:t>.</a:t>
            </a:r>
          </a:p>
          <a:p>
            <a:r>
              <a:rPr lang="en-GB" dirty="0">
                <a:hlinkClick r:id="rId4"/>
              </a:rPr>
              <a:t>Gebietsänderungen von Gemeinden</a:t>
            </a:r>
            <a:r>
              <a:rPr lang="en-GB" dirty="0"/>
              <a:t>: </a:t>
            </a:r>
            <a:r>
              <a:rPr lang="en-GB" dirty="0" err="1"/>
              <a:t>Gebietsveränderungen</a:t>
            </a:r>
            <a:r>
              <a:rPr lang="en-GB" dirty="0"/>
              <a:t>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Eingemeindungen</a:t>
            </a:r>
            <a:r>
              <a:rPr lang="en-GB" dirty="0"/>
              <a:t>, </a:t>
            </a:r>
            <a:r>
              <a:rPr lang="en-GB" dirty="0" err="1"/>
              <a:t>Ausgemeindungen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Gebietsabtausch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Gemeinden. Es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b="1" dirty="0" err="1"/>
              <a:t>nur</a:t>
            </a:r>
            <a:r>
              <a:rPr lang="en-GB" b="1" dirty="0"/>
              <a:t> </a:t>
            </a:r>
            <a:r>
              <a:rPr lang="en-GB" b="1" dirty="0" err="1"/>
              <a:t>Veränderungen</a:t>
            </a:r>
            <a:r>
              <a:rPr lang="en-GB" b="1" dirty="0"/>
              <a:t> von </a:t>
            </a:r>
            <a:r>
              <a:rPr lang="en-GB" b="1" dirty="0" err="1"/>
              <a:t>bewohnten</a:t>
            </a:r>
            <a:r>
              <a:rPr lang="en-GB" b="1" dirty="0"/>
              <a:t> </a:t>
            </a:r>
            <a:r>
              <a:rPr lang="en-GB" b="1" dirty="0" err="1"/>
              <a:t>Gebieten</a:t>
            </a:r>
            <a:r>
              <a:rPr lang="en-GB" b="1" dirty="0"/>
              <a:t> </a:t>
            </a:r>
            <a:r>
              <a:rPr lang="en-GB" b="1" dirty="0" err="1"/>
              <a:t>ausgewiesen</a:t>
            </a:r>
            <a:r>
              <a:rPr lang="en-GB" dirty="0"/>
              <a:t>, die Namen der </a:t>
            </a:r>
            <a:r>
              <a:rPr lang="en-GB" dirty="0" err="1"/>
              <a:t>betroffenen</a:t>
            </a:r>
            <a:r>
              <a:rPr lang="en-GB" dirty="0"/>
              <a:t> </a:t>
            </a:r>
            <a:r>
              <a:rPr lang="en-GB" dirty="0" err="1"/>
              <a:t>Gebiete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den </a:t>
            </a:r>
            <a:r>
              <a:rPr lang="en-GB" b="1" dirty="0" err="1"/>
              <a:t>jährlichen</a:t>
            </a:r>
            <a:r>
              <a:rPr lang="en-GB" b="1" dirty="0"/>
              <a:t> </a:t>
            </a:r>
            <a:r>
              <a:rPr lang="en-GB" b="1" dirty="0" err="1"/>
              <a:t>Mutationsmeldungen</a:t>
            </a:r>
            <a:r>
              <a:rPr lang="en-GB" b="1" dirty="0"/>
              <a:t> des BFS </a:t>
            </a:r>
            <a:r>
              <a:rPr lang="en-GB" dirty="0" err="1"/>
              <a:t>entnommen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82E5E-711B-7107-AC2F-BC97E57AA57C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84425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19C9-C49D-E7A4-CF10-43FE0043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BB08-7182-7398-93AC-8EDA4E97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Andere Mutationen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842-2CD7-1E3B-A3C5-BF8B9DDD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EB7A-E52B-B57D-D9B8-D093EA029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E8662-832F-9E3E-4015-8A7C9940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54270D-B232-A378-94B9-EDC8CD955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 err="1"/>
              <a:t>Formelle</a:t>
            </a:r>
            <a:r>
              <a:rPr lang="en-GB" dirty="0"/>
              <a:t> </a:t>
            </a:r>
            <a:r>
              <a:rPr lang="en-GB" dirty="0" err="1"/>
              <a:t>Neunummerierungen</a:t>
            </a:r>
            <a:r>
              <a:rPr lang="en-GB" dirty="0"/>
              <a:t> </a:t>
            </a:r>
            <a:r>
              <a:rPr lang="en-GB" dirty="0" err="1"/>
              <a:t>wurden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das BFS </a:t>
            </a:r>
            <a:r>
              <a:rPr lang="en-GB" dirty="0" err="1"/>
              <a:t>vorgenommen</a:t>
            </a:r>
            <a:r>
              <a:rPr lang="en-GB" dirty="0"/>
              <a:t>, um die </a:t>
            </a:r>
            <a:r>
              <a:rPr lang="en-GB" dirty="0" err="1"/>
              <a:t>ursprüngliche</a:t>
            </a:r>
            <a:r>
              <a:rPr lang="en-GB" dirty="0"/>
              <a:t> Logik des </a:t>
            </a:r>
            <a:r>
              <a:rPr lang="en-GB" dirty="0" err="1"/>
              <a:t>Nummerierungssystems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Jahre 1960 </a:t>
            </a:r>
            <a:r>
              <a:rPr lang="en-GB" dirty="0" err="1"/>
              <a:t>beizubehalten</a:t>
            </a:r>
            <a:r>
              <a:rPr lang="en-GB" dirty="0"/>
              <a:t>. Ab </a:t>
            </a:r>
            <a:r>
              <a:rPr lang="en-GB" dirty="0" err="1"/>
              <a:t>dem</a:t>
            </a:r>
            <a:r>
              <a:rPr lang="en-GB" dirty="0"/>
              <a:t> Jahr 2000 </a:t>
            </a:r>
            <a:r>
              <a:rPr lang="en-GB" dirty="0" err="1"/>
              <a:t>wurden</a:t>
            </a:r>
            <a:r>
              <a:rPr lang="en-GB" dirty="0"/>
              <a:t> </a:t>
            </a:r>
            <a:r>
              <a:rPr lang="en-GB" dirty="0" err="1"/>
              <a:t>ausser</a:t>
            </a:r>
            <a:r>
              <a:rPr lang="en-GB" dirty="0"/>
              <a:t> für die </a:t>
            </a:r>
            <a:r>
              <a:rPr lang="en-GB" dirty="0" err="1"/>
              <a:t>gemeindefreien</a:t>
            </a:r>
            <a:r>
              <a:rPr lang="en-GB" dirty="0"/>
              <a:t> </a:t>
            </a:r>
            <a:r>
              <a:rPr lang="en-GB" dirty="0" err="1"/>
              <a:t>Spezialgebiete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b="1" dirty="0" err="1"/>
              <a:t>Neunummerierungen</a:t>
            </a:r>
            <a:r>
              <a:rPr lang="en-GB" dirty="0"/>
              <a:t> </a:t>
            </a:r>
            <a:r>
              <a:rPr lang="en-GB" dirty="0" err="1"/>
              <a:t>mehr</a:t>
            </a:r>
            <a:r>
              <a:rPr lang="en-GB" dirty="0"/>
              <a:t> </a:t>
            </a:r>
            <a:r>
              <a:rPr lang="en-GB" dirty="0" err="1"/>
              <a:t>vorgenommen</a:t>
            </a:r>
            <a:r>
              <a:rPr lang="en-GB" dirty="0"/>
              <a:t>.</a:t>
            </a:r>
          </a:p>
          <a:p>
            <a:endParaRPr lang="en-GB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Keine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nennenswerten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Mutationen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BCD10-C6C3-2DD2-A8DD-C2B1D10D7ADE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705843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B687-82D3-FC4F-2A9B-712ABBCA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54C9-4633-4FCD-F6A8-A1E61309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</a:t>
            </a:r>
            <a:r>
              <a:rPr lang="de-CH" dirty="0"/>
              <a:t> Fazit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9F23-29FE-11B0-1BE3-A2AB3E82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D457-7477-681F-E8D8-7975EBC7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592E6-097F-D3CE-5ACE-A5121579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45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A2BD50-C65E-3534-8102-19A7A545A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Symbol" pitchFamily="2" charset="2"/>
              <a:buChar char="Þ"/>
              <a:defRPr/>
            </a:pP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Die Jurisdiction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Komponente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sollte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zumindes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t </a:t>
            </a:r>
            <a:r>
              <a:rPr lang="en-GB" b="1" dirty="0">
                <a:solidFill>
                  <a:prstClr val="black"/>
                </a:solidFill>
                <a:latin typeface="Aptos" panose="02110004020202020204"/>
              </a:rPr>
              <a:t>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im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Namen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tragen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,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damit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so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auch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auf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Gemeindestufe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erkennbar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bleibt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,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dass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es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sich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um CH Recht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handelt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.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Wie Deutschland und Österreich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kennt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auch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die Schweiz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eine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weitere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Unterteilung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in Bundesländer; D</a:t>
            </a:r>
            <a:r>
              <a:rPr lang="en-GB" dirty="0">
                <a:solidFill>
                  <a:prstClr val="black"/>
                </a:solidFill>
              </a:rPr>
              <a:t>as </a:t>
            </a:r>
            <a:r>
              <a:rPr lang="en-GB" dirty="0" err="1">
                <a:solidFill>
                  <a:prstClr val="black"/>
                </a:solidFill>
              </a:rPr>
              <a:t>Katonskürzel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wird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automatisch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erkannt</a:t>
            </a:r>
            <a:r>
              <a:rPr lang="en-GB" dirty="0">
                <a:solidFill>
                  <a:prstClr val="black"/>
                </a:solidFill>
              </a:rPr>
              <a:t> und </a:t>
            </a:r>
            <a:r>
              <a:rPr lang="en-GB" dirty="0" err="1">
                <a:solidFill>
                  <a:prstClr val="black"/>
                </a:solidFill>
              </a:rPr>
              <a:t>kann</a:t>
            </a:r>
            <a:r>
              <a:rPr lang="en-GB" dirty="0">
                <a:solidFill>
                  <a:prstClr val="black"/>
                </a:solidFill>
              </a:rPr>
              <a:t> optional </a:t>
            </a:r>
            <a:r>
              <a:rPr lang="en-GB" dirty="0" err="1">
                <a:solidFill>
                  <a:prstClr val="black"/>
                </a:solidFill>
              </a:rPr>
              <a:t>zur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Bildung</a:t>
            </a:r>
            <a:r>
              <a:rPr lang="en-GB" dirty="0">
                <a:solidFill>
                  <a:prstClr val="black"/>
                </a:solidFill>
              </a:rPr>
              <a:t> der URL </a:t>
            </a:r>
            <a:r>
              <a:rPr lang="en-GB" dirty="0" err="1">
                <a:solidFill>
                  <a:prstClr val="black"/>
                </a:solidFill>
              </a:rPr>
              <a:t>verwendet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werden</a:t>
            </a:r>
            <a:r>
              <a:rPr lang="en-GB" dirty="0">
                <a:solidFill>
                  <a:prstClr val="black"/>
                </a:solidFill>
              </a:rPr>
              <a:t>.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/CH-6831/ …wird zu… /CH-</a:t>
            </a:r>
            <a:r>
              <a:rPr lang="en-CH" b="1" dirty="0"/>
              <a:t>JU</a:t>
            </a:r>
            <a:r>
              <a:rPr lang="en-CH" dirty="0"/>
              <a:t>-6831/ 	Moutier (JU)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/CH-1631/ …wird zu… /CH-</a:t>
            </a:r>
            <a:r>
              <a:rPr lang="en-CH" b="1" dirty="0"/>
              <a:t>GL</a:t>
            </a:r>
            <a:r>
              <a:rPr lang="en-CH" dirty="0"/>
              <a:t>-1631/ 	Glarus Süd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624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347B-C47D-761E-9A39-4FCC1579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97CC-81BA-5717-9B6F-C51B765E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</a:t>
            </a:r>
            <a:r>
              <a:rPr lang="de-CH" dirty="0"/>
              <a:t> Fazit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76A8-E229-7AA9-42F7-05A634D7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78BF7-51B8-685B-D197-CAE46348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83F53-8755-1187-0656-C3349DFD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7CEE91-1BE5-DF1E-CB73-7B27DD82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Symbol" pitchFamily="2" charset="2"/>
              <a:buChar char="Þ"/>
              <a:defRPr/>
            </a:pP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Moutier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erhielt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dem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Kantonswechsel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eine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neue</a:t>
            </a:r>
            <a:r>
              <a:rPr lang="en-GB" dirty="0">
                <a:solidFill>
                  <a:prstClr val="black"/>
                </a:solidFill>
              </a:rPr>
              <a:t> BFS Nummer. Alle Gemeinden </a:t>
            </a:r>
            <a:r>
              <a:rPr lang="en-GB" dirty="0" err="1">
                <a:solidFill>
                  <a:prstClr val="black"/>
                </a:solidFill>
              </a:rPr>
              <a:t>im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fusionierten</a:t>
            </a:r>
            <a:r>
              <a:rPr lang="en-GB" dirty="0">
                <a:solidFill>
                  <a:prstClr val="black"/>
                </a:solidFill>
              </a:rPr>
              <a:t> Glarus, </a:t>
            </a:r>
            <a:r>
              <a:rPr lang="en-GB" dirty="0" err="1">
                <a:solidFill>
                  <a:prstClr val="black"/>
                </a:solidFill>
              </a:rPr>
              <a:t>auch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diejenigen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mit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bestehendem</a:t>
            </a:r>
            <a:r>
              <a:rPr lang="en-GB" dirty="0">
                <a:solidFill>
                  <a:prstClr val="black"/>
                </a:solidFill>
              </a:rPr>
              <a:t> Namen, </a:t>
            </a:r>
            <a:r>
              <a:rPr lang="en-GB" dirty="0" err="1">
                <a:solidFill>
                  <a:prstClr val="black"/>
                </a:solidFill>
              </a:rPr>
              <a:t>erhielten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eine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neue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b="1" dirty="0">
                <a:solidFill>
                  <a:prstClr val="black"/>
                </a:solidFill>
              </a:rPr>
              <a:t>BFS-Nummer</a:t>
            </a:r>
            <a:r>
              <a:rPr lang="en-GB" dirty="0">
                <a:solidFill>
                  <a:prstClr val="black"/>
                </a:solidFill>
              </a:rPr>
              <a:t>. 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lang="en-GB" dirty="0">
                <a:solidFill>
                  <a:prstClr val="black"/>
                </a:solidFill>
              </a:rPr>
              <a:t>Damit das </a:t>
            </a:r>
            <a:r>
              <a:rPr lang="en-GB" dirty="0" err="1">
                <a:solidFill>
                  <a:prstClr val="black"/>
                </a:solidFill>
              </a:rPr>
              <a:t>Gemeinderecht</a:t>
            </a:r>
            <a:r>
              <a:rPr lang="en-GB" dirty="0">
                <a:solidFill>
                  <a:prstClr val="black"/>
                </a:solidFill>
              </a:rPr>
              <a:t> von Glarus (Gemeinde) </a:t>
            </a:r>
            <a:r>
              <a:rPr lang="en-GB" dirty="0" err="1">
                <a:solidFill>
                  <a:prstClr val="black"/>
                </a:solidFill>
              </a:rPr>
              <a:t>vor</a:t>
            </a:r>
            <a:r>
              <a:rPr lang="en-GB" dirty="0">
                <a:solidFill>
                  <a:prstClr val="black"/>
                </a:solidFill>
              </a:rPr>
              <a:t> der </a:t>
            </a:r>
            <a:r>
              <a:rPr lang="en-GB" dirty="0" err="1">
                <a:solidFill>
                  <a:prstClr val="black"/>
                </a:solidFill>
              </a:rPr>
              <a:t>Fusionierung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zugänglich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bleibt</a:t>
            </a:r>
            <a:r>
              <a:rPr lang="en-GB" dirty="0">
                <a:solidFill>
                  <a:prstClr val="black"/>
                </a:solidFill>
              </a:rPr>
              <a:t>, </a:t>
            </a:r>
            <a:r>
              <a:rPr lang="en-GB" dirty="0" err="1">
                <a:solidFill>
                  <a:prstClr val="black"/>
                </a:solidFill>
              </a:rPr>
              <a:t>sollten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auch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Vorgänger</a:t>
            </a:r>
            <a:r>
              <a:rPr lang="en-GB" b="1" dirty="0">
                <a:solidFill>
                  <a:prstClr val="black"/>
                </a:solidFill>
              </a:rPr>
              <a:t> BFS-</a:t>
            </a:r>
            <a:r>
              <a:rPr lang="en-GB" b="1" dirty="0" err="1">
                <a:solidFill>
                  <a:prstClr val="black"/>
                </a:solidFill>
              </a:rPr>
              <a:t>Nummern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zugelassen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werden</a:t>
            </a:r>
            <a:r>
              <a:rPr lang="en-GB" dirty="0">
                <a:solidFill>
                  <a:prstClr val="black"/>
                </a:solidFill>
              </a:rPr>
              <a:t>.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</a:t>
            </a:r>
            <a:r>
              <a:rPr lang="en-CH" b="1" dirty="0"/>
              <a:t>GL</a:t>
            </a:r>
            <a:r>
              <a:rPr lang="en-CH" dirty="0"/>
              <a:t>-1609/	Gemeinde Glarus vor Fusionierung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</a:t>
            </a:r>
            <a:r>
              <a:rPr lang="en-CH" b="1" dirty="0"/>
              <a:t>GL</a:t>
            </a:r>
            <a:r>
              <a:rPr lang="en-CH" dirty="0"/>
              <a:t>-1632/	Gemeinde Glarus nach Fusionierung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2832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64D6-3C2A-4D31-E469-0CE889A57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A116F-B9AF-6E9A-27F0-9E56EC0170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2. Component</a:t>
            </a:r>
          </a:p>
        </p:txBody>
      </p:sp>
    </p:spTree>
    <p:extLst>
      <p:ext uri="{BB962C8B-B14F-4D97-AF65-F5344CB8AC3E}">
        <p14:creationId xmlns:p14="http://schemas.microsoft.com/office/powerpoint/2010/main" val="2843182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48D1-1BF9-8C4E-1D8F-3B226534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C19D-6958-30E7-FA23-3ABF654F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BAA0-D5EF-A676-AE3B-3B942308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CD140-8132-5079-8DAF-6832C95A8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C4202-EF39-AAA8-1888-ED8F30C6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48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EC0AC0-F236-986A-D533-768ED7018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Eigentlicher Identifier eines Gesetzestextes. Erlaubt sind:</a:t>
            </a:r>
          </a:p>
          <a:p>
            <a:pPr lvl="1"/>
            <a:r>
              <a:rPr lang="en-CH" dirty="0"/>
              <a:t>Datum oder Jaht der Publikation oder des Inkrafttretens, z.B. YYYY oder YYYY-MM-DD</a:t>
            </a:r>
          </a:p>
          <a:p>
            <a:pPr lvl="1"/>
            <a:r>
              <a:rPr lang="en-CH" dirty="0"/>
              <a:t>Typ eines Dokuments, z.B. ob es sich um ein Gesetz oder einen Gesetzesentwurf handelt</a:t>
            </a:r>
          </a:p>
          <a:p>
            <a:pPr lvl="1"/>
            <a:r>
              <a:rPr lang="en-CH" dirty="0"/>
              <a:t>Domain bzw. Themengebiet, z.B. eine Nummer in einer Systematischen Rechtssammlung</a:t>
            </a:r>
            <a:endParaRPr lang="de-CH" dirty="0"/>
          </a:p>
          <a:p>
            <a:r>
              <a:rPr lang="de-CH" dirty="0"/>
              <a:t>Für gewöhnlich besteht er aus der Kombination von Datum + fortlaufenden Nummer oder einer Sammlung + Registernummer </a:t>
            </a:r>
          </a:p>
          <a:p>
            <a:endParaRPr lang="de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13279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5039-3D81-B87D-543E-BC71FD05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0E86-2AB5-4962-C291-C70C88BA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Was braucht es wirklich?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90885-C481-6B3A-5530-AE23AE46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F9D67-AD78-5857-4777-6EA28163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1E847-5573-7CFC-9621-F69874EC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49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13479C-4B83-FEF0-C85F-B468E3AF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BC6A6A-8695-133C-B137-B9BAD54D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4378"/>
            <a:ext cx="10514440" cy="39792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FA88FF-9DFC-9E3C-F682-5B96FE38C626}"/>
              </a:ext>
            </a:extLst>
          </p:cNvPr>
          <p:cNvSpPr/>
          <p:nvPr/>
        </p:nvSpPr>
        <p:spPr>
          <a:xfrm>
            <a:off x="7599744" y="3429000"/>
            <a:ext cx="553656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DD40E8-805C-6E35-173D-4F50398924EA}"/>
              </a:ext>
            </a:extLst>
          </p:cNvPr>
          <p:cNvSpPr/>
          <p:nvPr/>
        </p:nvSpPr>
        <p:spPr>
          <a:xfrm>
            <a:off x="9152680" y="4623121"/>
            <a:ext cx="836272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2DC80-B648-7BFB-2265-FE2DBEBC018B}"/>
              </a:ext>
            </a:extLst>
          </p:cNvPr>
          <p:cNvSpPr/>
          <p:nvPr/>
        </p:nvSpPr>
        <p:spPr>
          <a:xfrm>
            <a:off x="6763472" y="2500205"/>
            <a:ext cx="1847128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814E69-F440-36A6-E8DB-90BD35B52BB9}"/>
              </a:ext>
            </a:extLst>
          </p:cNvPr>
          <p:cNvSpPr/>
          <p:nvPr/>
        </p:nvSpPr>
        <p:spPr>
          <a:xfrm>
            <a:off x="2471194" y="5233760"/>
            <a:ext cx="1847128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74537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5C4-2B32-8309-63A1-99967491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D4FDF2-9969-50E7-975F-8AB6F67B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679"/>
            <a:ext cx="10614102" cy="4316284"/>
          </a:xfrm>
        </p:spPr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Level		</a:t>
            </a:r>
            <a:r>
              <a:rPr lang="en-GB" dirty="0" err="1"/>
              <a:t>Sammlung</a:t>
            </a:r>
            <a:endParaRPr lang="en-GB" dirty="0"/>
          </a:p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Level				Jahr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Level					</a:t>
            </a:r>
            <a:r>
              <a:rPr lang="en-GB" b="1" dirty="0"/>
              <a:t>Natural Identifier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47E8C-ACE8-544C-E22A-E4118058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 – Fedlex Publikationspraxis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0CF7E-D69E-8703-5C01-73E75612A30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1876B-9DA2-9F83-2C31-5D91C86B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088DA-95B9-F7E0-A2F7-85E16F3E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34BAF-49CC-796A-418D-56AB04E3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93211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B497-58BC-2FD9-B483-82EA5657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7463-57DB-F441-2AA3-977D805B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Fedlex Publikationspraxis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AD629-0A31-AB40-7367-6BB4DA9F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319E2-E71F-08DC-6D32-520DBF35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4E6FF-97F9-9633-D732-6510D0BD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51</a:t>
            </a:fld>
            <a:endParaRPr lang="en-CH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B2956DD-7D10-4A7C-41E7-A76394958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5299" cy="4351338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normative Texte,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  <a:p>
            <a:r>
              <a:rPr lang="en-GB" b="1" dirty="0"/>
              <a:t>SR</a:t>
            </a:r>
            <a:endParaRPr lang="en-GB" dirty="0"/>
          </a:p>
          <a:p>
            <a:pPr lvl="1"/>
            <a:r>
              <a:rPr lang="en-GB" dirty="0" err="1"/>
              <a:t>tatsächlicher</a:t>
            </a:r>
            <a:r>
              <a:rPr lang="en-GB" dirty="0"/>
              <a:t> Stand des </a:t>
            </a:r>
            <a:r>
              <a:rPr lang="en-GB" dirty="0" err="1"/>
              <a:t>Rechts</a:t>
            </a:r>
            <a:r>
              <a:rPr lang="en-GB" dirty="0"/>
              <a:t> (=in Kraft)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Staatsverträge</a:t>
            </a:r>
            <a:r>
              <a:rPr lang="en-GB" dirty="0"/>
              <a:t>, </a:t>
            </a:r>
            <a:r>
              <a:rPr lang="en-GB" dirty="0" err="1"/>
              <a:t>systematisch</a:t>
            </a:r>
            <a:endParaRPr lang="en-GB" dirty="0"/>
          </a:p>
          <a:p>
            <a:pPr lvl="1"/>
            <a:r>
              <a:rPr lang="en-GB" dirty="0" err="1"/>
              <a:t>bereinigt</a:t>
            </a:r>
            <a:r>
              <a:rPr lang="en-GB" dirty="0"/>
              <a:t> und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Sachgebieten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</a:t>
            </a:r>
            <a:r>
              <a:rPr lang="en-GB" dirty="0" err="1"/>
              <a:t>Verträgen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(BS) (1848 bis 1947)</a:t>
            </a:r>
          </a:p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Botschaften</a:t>
            </a:r>
            <a:r>
              <a:rPr lang="en-GB" dirty="0"/>
              <a:t> und </a:t>
            </a:r>
            <a:r>
              <a:rPr lang="en-GB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dirty="0" err="1"/>
              <a:t>Referendumsfrist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E4875-1876-C111-7474-0E351803896D}"/>
              </a:ext>
            </a:extLst>
          </p:cNvPr>
          <p:cNvSpPr txBox="1"/>
          <p:nvPr/>
        </p:nvSpPr>
        <p:spPr>
          <a:xfrm>
            <a:off x="838200" y="5992297"/>
            <a:ext cx="11476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3057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B3F4-85ED-FFFC-3D66-AE889DB1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DC3D-240F-E0D7-1244-22503221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LexFind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FEC8-9134-9E38-14B4-EA25AEC4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5379-871C-5799-DA9C-D6AC4D2B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45C7-E418-E7EA-9CBC-97F3F00D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52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832C62-C57A-7F0A-C235-F98630787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ADE51E-0D71-722B-AB1D-28A28044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6377"/>
            <a:ext cx="6453851" cy="41091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82E367-9105-E26D-69AE-A8ED6824C84D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www.lexfind.ch</a:t>
            </a:r>
            <a:r>
              <a:rPr lang="en-GB" dirty="0"/>
              <a:t>/</a:t>
            </a:r>
            <a:r>
              <a:rPr lang="en-GB" dirty="0" err="1"/>
              <a:t>fe</a:t>
            </a:r>
            <a:r>
              <a:rPr lang="en-GB" dirty="0"/>
              <a:t>/de/systematic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505E91-5F91-A1B2-3E7E-E7F5CB6FD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844" y="1866377"/>
            <a:ext cx="1953320" cy="442608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BB24FB-1FAB-4B72-D4B3-83ED93966ED2}"/>
              </a:ext>
            </a:extLst>
          </p:cNvPr>
          <p:cNvCxnSpPr>
            <a:cxnSpLocks/>
          </p:cNvCxnSpPr>
          <p:nvPr/>
        </p:nvCxnSpPr>
        <p:spPr>
          <a:xfrm flipV="1">
            <a:off x="1886673" y="3009418"/>
            <a:ext cx="5980171" cy="752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DBAE42-D383-9A5C-7FF1-2E852D25D377}"/>
              </a:ext>
            </a:extLst>
          </p:cNvPr>
          <p:cNvCxnSpPr>
            <a:cxnSpLocks/>
          </p:cNvCxnSpPr>
          <p:nvPr/>
        </p:nvCxnSpPr>
        <p:spPr>
          <a:xfrm flipV="1">
            <a:off x="2037144" y="3240911"/>
            <a:ext cx="5829700" cy="752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1D5992-1196-1425-5C3A-8719E2AEF1A6}"/>
              </a:ext>
            </a:extLst>
          </p:cNvPr>
          <p:cNvCxnSpPr>
            <a:cxnSpLocks/>
          </p:cNvCxnSpPr>
          <p:nvPr/>
        </p:nvCxnSpPr>
        <p:spPr>
          <a:xfrm flipV="1">
            <a:off x="2129742" y="3657600"/>
            <a:ext cx="5737102" cy="567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85F10C-C8EC-9534-266C-7D64FE686C7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409954" y="4079418"/>
            <a:ext cx="3456890" cy="353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B588BE9-8AEC-F833-8B2B-C8FE0C207829}"/>
              </a:ext>
            </a:extLst>
          </p:cNvPr>
          <p:cNvSpPr/>
          <p:nvPr/>
        </p:nvSpPr>
        <p:spPr>
          <a:xfrm>
            <a:off x="981918" y="5613957"/>
            <a:ext cx="1934902" cy="309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055805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0B67-EA6B-9CD4-EA1F-7ECEB602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21CB5F-CBB5-FF9C-3D46-E07650CB6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444821"/>
            <a:ext cx="9366335" cy="33540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07A3B8-22C3-A8A1-9514-8917B13F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- Rückwärtskompatibilität?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1553A-D915-B915-02E6-02D9C098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BA735-89B3-D426-7EFC-59E96888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C8544-BDD0-693B-9A03-5A80EBBD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53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5F0B48-AAD2-7048-F63E-8B3B7D4A6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pPr marL="0" indent="0">
              <a:buNone/>
            </a:pPr>
            <a:r>
              <a:rPr lang="en-CH" dirty="0"/>
              <a:t>		</a:t>
            </a:r>
            <a:r>
              <a:rPr lang="en-CH" sz="2400" dirty="0"/>
              <a:t>OR</a:t>
            </a:r>
            <a:endParaRPr lang="en-CH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317CC3-F24D-02E6-20AE-39FB816CE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89883"/>
            <a:ext cx="6506144" cy="6597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80574E-4CFD-0F42-A115-519D7BEBFC3E}"/>
              </a:ext>
            </a:extLst>
          </p:cNvPr>
          <p:cNvSpPr/>
          <p:nvPr/>
        </p:nvSpPr>
        <p:spPr>
          <a:xfrm>
            <a:off x="4166886" y="1866377"/>
            <a:ext cx="1678329" cy="413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B85E6-8915-323B-160B-2C6C732B4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140" y="2563772"/>
            <a:ext cx="4494095" cy="61926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563BF6-B691-7E4A-7315-C871BBD66E8B}"/>
              </a:ext>
            </a:extLst>
          </p:cNvPr>
          <p:cNvSpPr/>
          <p:nvPr/>
        </p:nvSpPr>
        <p:spPr>
          <a:xfrm>
            <a:off x="9100839" y="2655089"/>
            <a:ext cx="1536296" cy="413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346192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9E24-D76F-85B5-1749-99E56928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820882-AF1E-DEC2-5BDB-253BB8B394CA}"/>
              </a:ext>
            </a:extLst>
          </p:cNvPr>
          <p:cNvSpPr/>
          <p:nvPr/>
        </p:nvSpPr>
        <p:spPr>
          <a:xfrm>
            <a:off x="838201" y="4479403"/>
            <a:ext cx="10515600" cy="1697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E155C-6DFD-8EF2-CCD9-6E8361FC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3DC0-5ADB-545B-77C6-900C98AB1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Der Bund und alle </a:t>
            </a:r>
            <a:r>
              <a:rPr lang="en-GB" dirty="0" err="1"/>
              <a:t>Kantone</a:t>
            </a:r>
            <a:r>
              <a:rPr lang="en-GB" dirty="0"/>
              <a:t> (</a:t>
            </a:r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Anspruch</a:t>
            </a:r>
            <a:r>
              <a:rPr lang="en-GB" dirty="0"/>
              <a:t> auf </a:t>
            </a:r>
            <a:r>
              <a:rPr lang="en-GB" dirty="0" err="1"/>
              <a:t>Vollständigkeit</a:t>
            </a:r>
            <a:r>
              <a:rPr lang="en-GB" dirty="0"/>
              <a:t>) </a:t>
            </a:r>
            <a:r>
              <a:rPr lang="en-GB" dirty="0" err="1"/>
              <a:t>kennen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Amtliche</a:t>
            </a:r>
            <a:r>
              <a:rPr lang="en-GB" dirty="0"/>
              <a:t> 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Systematische</a:t>
            </a:r>
            <a:r>
              <a:rPr lang="en-GB" dirty="0"/>
              <a:t> </a:t>
            </a:r>
            <a:r>
              <a:rPr lang="en-GB" dirty="0" err="1"/>
              <a:t>Rechtssammlung</a:t>
            </a:r>
            <a:r>
              <a:rPr lang="en-GB" dirty="0"/>
              <a:t>.</a:t>
            </a:r>
          </a:p>
          <a:p>
            <a:r>
              <a:rPr lang="en-GB" dirty="0"/>
              <a:t>Die </a:t>
            </a:r>
            <a:r>
              <a:rPr lang="en-GB" dirty="0" err="1"/>
              <a:t>Publikation</a:t>
            </a:r>
            <a:r>
              <a:rPr lang="en-GB" dirty="0"/>
              <a:t> auf </a:t>
            </a:r>
            <a:r>
              <a:rPr lang="en-GB" dirty="0" err="1"/>
              <a:t>Bundesebene</a:t>
            </a:r>
            <a:r>
              <a:rPr lang="en-GB" dirty="0"/>
              <a:t> hat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Papierformat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elektronischen</a:t>
            </a:r>
            <a:r>
              <a:rPr lang="en-GB" dirty="0"/>
              <a:t> </a:t>
            </a:r>
            <a:r>
              <a:rPr lang="en-GB" dirty="0" err="1"/>
              <a:t>Publikation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Entwicklung</a:t>
            </a:r>
            <a:r>
              <a:rPr lang="en-GB" dirty="0"/>
              <a:t> </a:t>
            </a:r>
            <a:r>
              <a:rPr lang="en-GB" dirty="0" err="1"/>
              <a:t>durchgemacht</a:t>
            </a:r>
            <a:r>
              <a:rPr lang="en-GB" dirty="0"/>
              <a:t>, die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Einfluss</a:t>
            </a:r>
            <a:r>
              <a:rPr lang="en-GB" dirty="0"/>
              <a:t> auf Identifier hat.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</a:p>
          <a:p>
            <a:r>
              <a:rPr lang="en-GB" dirty="0" err="1">
                <a:solidFill>
                  <a:schemeClr val="bg1"/>
                </a:solidFill>
              </a:rPr>
              <a:t>Notwendig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sind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nur</a:t>
            </a:r>
            <a:r>
              <a:rPr lang="en-GB" dirty="0">
                <a:solidFill>
                  <a:schemeClr val="bg1"/>
                </a:solidFill>
              </a:rPr>
              <a:t> das Jahr und </a:t>
            </a:r>
            <a:r>
              <a:rPr lang="en-GB" dirty="0" err="1">
                <a:solidFill>
                  <a:schemeClr val="bg1"/>
                </a:solidFill>
              </a:rPr>
              <a:t>ein</a:t>
            </a:r>
            <a:r>
              <a:rPr lang="en-GB" dirty="0">
                <a:solidFill>
                  <a:schemeClr val="bg1"/>
                </a:solidFill>
              </a:rPr>
              <a:t> Natural Identifier.</a:t>
            </a:r>
          </a:p>
          <a:p>
            <a:r>
              <a:rPr lang="en-GB" dirty="0" err="1">
                <a:solidFill>
                  <a:schemeClr val="bg1"/>
                </a:solidFill>
              </a:rPr>
              <a:t>Alternativen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wie</a:t>
            </a:r>
            <a:r>
              <a:rPr lang="en-GB" dirty="0">
                <a:solidFill>
                  <a:schemeClr val="bg1"/>
                </a:solidFill>
              </a:rPr>
              <a:t> SR </a:t>
            </a:r>
            <a:r>
              <a:rPr lang="en-GB" dirty="0" err="1">
                <a:solidFill>
                  <a:schemeClr val="bg1"/>
                </a:solidFill>
              </a:rPr>
              <a:t>Nummern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oder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Abkürzungen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sind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zugelassen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581FC-1C19-3984-A419-1FFEC81E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8777A-3F45-99E0-B9F7-27AD2578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C53E-4CAD-F132-CC61-B6F2103A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847720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063F-0B5E-FC51-B57C-361B191A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BBCB-7311-09F7-BF94-1A595AC1A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Diskussion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B8AD1-38EB-5F1A-5072-E96A7304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52761-9B95-1D49-7149-36A8517FF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5A89F-09DD-E783-CBE5-97A1CB42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55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205C5C-6452-EA32-7E9E-3874CE958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Mehrere Datumsangaben in einer URL mit unterschiedlichen Bedeutungen möglich, z.B. Publikation oder Inkrafttreten UND Point-in-time</a:t>
            </a:r>
          </a:p>
          <a:p>
            <a:r>
              <a:rPr lang="de-CH" dirty="0" err="1"/>
              <a:t>Canonical</a:t>
            </a:r>
            <a:r>
              <a:rPr lang="de-CH" dirty="0"/>
              <a:t> URIs und Alias URIs sind erlaubt, z.B. für Ländercodes</a:t>
            </a:r>
          </a:p>
          <a:p>
            <a:r>
              <a:rPr lang="de-CH" dirty="0"/>
              <a:t>Wie gehen Schweizer Publikationsstellen mit Korrekturen um?</a:t>
            </a:r>
          </a:p>
          <a:p>
            <a:endParaRPr lang="de-CH" dirty="0"/>
          </a:p>
          <a:p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068A4-ADA2-F0D2-73A4-7502C98D9EE4}"/>
              </a:ext>
            </a:extLst>
          </p:cNvPr>
          <p:cNvSpPr txBox="1"/>
          <p:nvPr/>
        </p:nvSpPr>
        <p:spPr>
          <a:xfrm>
            <a:off x="838200" y="599229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https://op.europa.eu/documents/2050822/2138819/ELI+-+A+Technical+Implementation+Guide.pdf/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DC7A4A-948B-C8F8-C81F-1E9C004F3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038" b="5838"/>
          <a:stretch>
            <a:fillRect/>
          </a:stretch>
        </p:blipFill>
        <p:spPr>
          <a:xfrm>
            <a:off x="1398529" y="4213964"/>
            <a:ext cx="6326609" cy="17783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628F9E-5757-5965-1CDE-299EDB93493C}"/>
              </a:ext>
            </a:extLst>
          </p:cNvPr>
          <p:cNvSpPr/>
          <p:nvPr/>
        </p:nvSpPr>
        <p:spPr>
          <a:xfrm>
            <a:off x="2667001" y="4482376"/>
            <a:ext cx="3444433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B6C1D-0B00-0B48-7474-761AC37761A9}"/>
              </a:ext>
            </a:extLst>
          </p:cNvPr>
          <p:cNvSpPr/>
          <p:nvPr/>
        </p:nvSpPr>
        <p:spPr>
          <a:xfrm>
            <a:off x="3171464" y="5346055"/>
            <a:ext cx="1851950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859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C6CA-3BA0-4F9A-33B2-57BFE1A9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02FD-40D2-061E-B4DD-41487260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Weitere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55218-40FF-1914-B225-31627322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1A45F-7505-5E66-0C86-34A4ABDA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79B1-6EC1-EF9D-9129-C010AC54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56</a:t>
            </a:fld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B9DBA7-F9AB-C925-904C-FC3DCFF93DC8}"/>
              </a:ext>
            </a:extLst>
          </p:cNvPr>
          <p:cNvSpPr/>
          <p:nvPr/>
        </p:nvSpPr>
        <p:spPr>
          <a:xfrm>
            <a:off x="6431183" y="2531689"/>
            <a:ext cx="2179417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ECD4E-D832-A9F2-70FB-922BB8438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15253"/>
            <a:ext cx="10515599" cy="276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727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6AB0-9E7F-4F34-6601-8148FFC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14A-C13C-D34B-E464-BA3D0C36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Language +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ACA9-69F9-DBD9-2173-7B0038A9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C8B6-8106-EAE3-BD18-36732B45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0972C-8978-E8B6-DEF9-EBFF3C31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57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2A5D7-D95E-F49A-A9E9-C80B2CFE32FF}"/>
              </a:ext>
            </a:extLst>
          </p:cNvPr>
          <p:cNvSpPr txBox="1"/>
          <p:nvPr/>
        </p:nvSpPr>
        <p:spPr>
          <a:xfrm>
            <a:off x="838200" y="599229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https://op.europa.eu/documents/2050822/2138819/ELI+-+A+Technical+Implementation+Guide.pdf/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E80663-9A97-BD2B-2F16-70690C76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120444"/>
            <a:ext cx="10515599" cy="3871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4B0855-8A7D-F2BA-FF6F-FBB81F0F9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69291"/>
            <a:ext cx="10450420" cy="10450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9AF99A4-5380-22B9-98A2-388B0FC9CB6A}"/>
              </a:ext>
            </a:extLst>
          </p:cNvPr>
          <p:cNvSpPr/>
          <p:nvPr/>
        </p:nvSpPr>
        <p:spPr>
          <a:xfrm>
            <a:off x="6431183" y="2531689"/>
            <a:ext cx="2179417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55725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15DC-9154-6F5F-88C1-6AFD24B6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B1799F-0B73-24E1-AE62-15E4126F9CBB}"/>
              </a:ext>
            </a:extLst>
          </p:cNvPr>
          <p:cNvSpPr/>
          <p:nvPr/>
        </p:nvSpPr>
        <p:spPr>
          <a:xfrm>
            <a:off x="838201" y="4282633"/>
            <a:ext cx="10515600" cy="1894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6FF85-9E0E-CF6E-4B4C-B5B3037B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5541"/>
            <a:ext cx="11025851" cy="762217"/>
          </a:xfrm>
        </p:spPr>
        <p:txBody>
          <a:bodyPr>
            <a:noAutofit/>
          </a:bodyPr>
          <a:lstStyle/>
          <a:p>
            <a:r>
              <a:rPr lang="en-CH" dirty="0"/>
              <a:t>Language + Format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B73E8-396E-BEB1-931D-5C61AE240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Der Bund </a:t>
            </a:r>
            <a:r>
              <a:rPr lang="en-GB" dirty="0" err="1"/>
              <a:t>publiziert</a:t>
            </a:r>
            <a:r>
              <a:rPr lang="en-GB" dirty="0"/>
              <a:t> </a:t>
            </a:r>
            <a:r>
              <a:rPr lang="en-GB" dirty="0" err="1"/>
              <a:t>mehrsprachig</a:t>
            </a:r>
            <a:r>
              <a:rPr lang="en-GB" dirty="0"/>
              <a:t> </a:t>
            </a:r>
            <a:r>
              <a:rPr lang="en-GB" dirty="0" err="1"/>
              <a:t>während</a:t>
            </a:r>
            <a:r>
              <a:rPr lang="en-GB" dirty="0"/>
              <a:t> die </a:t>
            </a:r>
            <a:r>
              <a:rPr lang="en-GB" dirty="0" err="1"/>
              <a:t>meisten</a:t>
            </a:r>
            <a:r>
              <a:rPr lang="en-GB" dirty="0"/>
              <a:t> </a:t>
            </a:r>
            <a:r>
              <a:rPr lang="en-GB" dirty="0" err="1"/>
              <a:t>Kantone</a:t>
            </a:r>
            <a:r>
              <a:rPr lang="en-GB" dirty="0"/>
              <a:t> mono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bilinguale</a:t>
            </a:r>
            <a:r>
              <a:rPr lang="en-GB" dirty="0"/>
              <a:t> </a:t>
            </a:r>
            <a:r>
              <a:rPr lang="en-GB" dirty="0" err="1"/>
              <a:t>Gesetzessammlungen</a:t>
            </a:r>
            <a:r>
              <a:rPr lang="en-GB" dirty="0"/>
              <a:t> </a:t>
            </a:r>
            <a:r>
              <a:rPr lang="en-GB" dirty="0" err="1"/>
              <a:t>führen</a:t>
            </a:r>
            <a:r>
              <a:rPr lang="en-GB" dirty="0"/>
              <a:t>.</a:t>
            </a:r>
          </a:p>
          <a:p>
            <a:r>
              <a:rPr lang="en-GB" dirty="0"/>
              <a:t>Der Bund </a:t>
            </a:r>
            <a:r>
              <a:rPr lang="en-GB" dirty="0" err="1"/>
              <a:t>übersetzt</a:t>
            </a:r>
            <a:r>
              <a:rPr lang="en-GB" dirty="0"/>
              <a:t> </a:t>
            </a:r>
            <a:r>
              <a:rPr lang="en-GB" dirty="0" err="1"/>
              <a:t>wichtige</a:t>
            </a:r>
            <a:r>
              <a:rPr lang="en-GB" dirty="0"/>
              <a:t> </a:t>
            </a:r>
            <a:r>
              <a:rPr lang="en-GB" dirty="0" err="1"/>
              <a:t>Erlasse</a:t>
            </a:r>
            <a:r>
              <a:rPr lang="en-GB" dirty="0"/>
              <a:t> ins </a:t>
            </a:r>
            <a:r>
              <a:rPr lang="en-GB" dirty="0" err="1"/>
              <a:t>Englische</a:t>
            </a:r>
            <a:r>
              <a:rPr lang="en-GB" dirty="0"/>
              <a:t>.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Langauge</a:t>
            </a:r>
            <a:r>
              <a:rPr lang="en-GB" dirty="0">
                <a:solidFill>
                  <a:schemeClr val="bg1"/>
                </a:solidFill>
              </a:rPr>
              <a:t>: Two letter ISO-639-1 language code. Die </a:t>
            </a:r>
            <a:r>
              <a:rPr lang="en-GB" dirty="0" err="1">
                <a:solidFill>
                  <a:schemeClr val="bg1"/>
                </a:solidFill>
              </a:rPr>
              <a:t>voreingstellte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Sprache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entspricht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dem</a:t>
            </a:r>
            <a:r>
              <a:rPr lang="en-GB" dirty="0">
                <a:solidFill>
                  <a:schemeClr val="bg1"/>
                </a:solidFill>
              </a:rPr>
              <a:t> Browser user-agent.</a:t>
            </a:r>
          </a:p>
          <a:p>
            <a:r>
              <a:rPr lang="en-GB" dirty="0">
                <a:solidFill>
                  <a:schemeClr val="bg1"/>
                </a:solidFill>
              </a:rPr>
              <a:t>Version: </a:t>
            </a:r>
            <a:r>
              <a:rPr lang="en-GB" dirty="0" err="1">
                <a:solidFill>
                  <a:schemeClr val="bg1"/>
                </a:solidFill>
              </a:rPr>
              <a:t>siehe</a:t>
            </a:r>
            <a:r>
              <a:rPr lang="en-GB" dirty="0">
                <a:solidFill>
                  <a:schemeClr val="bg1"/>
                </a:solidFill>
              </a:rPr>
              <a:t> Reference (AS und SR </a:t>
            </a:r>
            <a:r>
              <a:rPr lang="en-GB" dirty="0" err="1">
                <a:solidFill>
                  <a:schemeClr val="bg1"/>
                </a:solidFill>
              </a:rPr>
              <a:t>als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eigenständige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Komponente</a:t>
            </a:r>
            <a:r>
              <a:rPr lang="en-GB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35A30-D7E1-3345-AA7D-2EECBB22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D8D9-C1AC-3420-0B85-FD5AB2B2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1D3E8-2033-CC78-6DED-B257E3D5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39991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Weiterführende Literatur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7015D-E8BC-6920-3474-B3D7CDF6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C55DD-B377-5191-F52D-DA826781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AC35F-15AC-885C-47B0-8E128DBE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2213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9718-4152-4E86-3A46-83FC16C4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Kontakt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E682A-63A7-1888-1CCB-6F0C9327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515599" cy="4310585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Martin Gajdos</a:t>
            </a:r>
            <a:br>
              <a:rPr lang="en-CH" dirty="0"/>
            </a:br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eCH Fachgruppe Politische Geschäfte</a:t>
            </a:r>
            <a:br>
              <a:rPr lang="en-CH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Editor eCH-0296 Erlasse und Gesetzestexte</a:t>
            </a:r>
            <a:br>
              <a:rPr lang="en-CH" dirty="0"/>
            </a:br>
            <a:br>
              <a:rPr lang="en-CH" dirty="0"/>
            </a:br>
            <a:r>
              <a:rPr lang="en-GB" dirty="0"/>
              <a:t>m</a:t>
            </a:r>
            <a:r>
              <a:rPr lang="en-CH" dirty="0"/>
              <a:t>artin.gajdos@me.com</a:t>
            </a:r>
            <a:br>
              <a:rPr lang="en-CH" dirty="0"/>
            </a:br>
            <a:r>
              <a:rPr lang="en-CH" dirty="0"/>
              <a:t>+41 76 401 28 02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6A751-6EED-6064-4291-F672BE26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20.05.2026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3B32A-8467-B229-0245-CA875C57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4 vom 20. Mai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23E78-D08A-8098-738E-5BABCBC9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60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5922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2556</TotalTime>
  <Words>4848</Words>
  <Application>Microsoft Macintosh PowerPoint</Application>
  <PresentationFormat>Widescreen</PresentationFormat>
  <Paragraphs>667</Paragraphs>
  <Slides>60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Display</vt:lpstr>
      <vt:lpstr>Arial</vt:lpstr>
      <vt:lpstr>Symbol</vt:lpstr>
      <vt:lpstr>Wingdings</vt:lpstr>
      <vt:lpstr>Office Theme</vt:lpstr>
      <vt:lpstr>eCH-0296 Erlasse und Gesetzestexte</vt:lpstr>
      <vt:lpstr>Agenda</vt:lpstr>
      <vt:lpstr>Heutiges Ziel </vt:lpstr>
      <vt:lpstr>Scope</vt:lpstr>
      <vt:lpstr>Scope (2)</vt:lpstr>
      <vt:lpstr>ELI Framework</vt:lpstr>
      <vt:lpstr>ELI Komponenten</vt:lpstr>
      <vt:lpstr>ELI Komponenten - Template</vt:lpstr>
      <vt:lpstr>ELI Komponenten - Beispiel</vt:lpstr>
      <vt:lpstr>ELI Komponenten - Guidelines</vt:lpstr>
      <vt:lpstr>ELI Komponenten - Citation</vt:lpstr>
      <vt:lpstr>ELI Komponenten – Citation (2)</vt:lpstr>
      <vt:lpstr>ELI Komponenten – Citation (3)</vt:lpstr>
      <vt:lpstr>Exkurs: Sammlungen</vt:lpstr>
      <vt:lpstr>Exkurs: Sammlung?</vt:lpstr>
      <vt:lpstr>Fedlex - URI Template (Pillar I)</vt:lpstr>
      <vt:lpstr>Fedlex - URI Template (Pillar I)</vt:lpstr>
      <vt:lpstr>Fedlex - Collections</vt:lpstr>
      <vt:lpstr>Fedlex – Collections (2)</vt:lpstr>
      <vt:lpstr>Fedlex – Collections (3)</vt:lpstr>
      <vt:lpstr>Fedlex – Partial URIs</vt:lpstr>
      <vt:lpstr>Fedlex – Legacy URIs</vt:lpstr>
      <vt:lpstr>Fedlex – Legacy URIs</vt:lpstr>
      <vt:lpstr>Fedlex – Legacy URIs</vt:lpstr>
      <vt:lpstr>Fedlex – Sektorielle Abkommen </vt:lpstr>
      <vt:lpstr>Fedlex – Erlasse/Gesetzestexte</vt:lpstr>
      <vt:lpstr>Fedlex – Was gibt es noch zu tun?</vt:lpstr>
      <vt:lpstr>Fedlex – Was gibt es nocht zu tun?</vt:lpstr>
      <vt:lpstr>Fedlex – Was gibt es nocht zu tun?</vt:lpstr>
      <vt:lpstr>Kantone – Was gibt es nocht zu tun?</vt:lpstr>
      <vt:lpstr>Fedlex - References</vt:lpstr>
      <vt:lpstr>Jurisdiction</vt:lpstr>
      <vt:lpstr>Jurisdiction</vt:lpstr>
      <vt:lpstr>Jurisdiction – Federal States?</vt:lpstr>
      <vt:lpstr>Jurisdiction - ELI4CH Implementierung</vt:lpstr>
      <vt:lpstr>Jurisdiction – Amtliches Gemeindeverzeichnis</vt:lpstr>
      <vt:lpstr>Jurisdiction – Diskussion</vt:lpstr>
      <vt:lpstr>Jurisdiction – Änderung der Kantonszugehörigkeit</vt:lpstr>
      <vt:lpstr>Jurisdiction – Änderung der Kantonszugehörigkeit</vt:lpstr>
      <vt:lpstr>Jurisdiction – Aufgehobene Gemeinden</vt:lpstr>
      <vt:lpstr>Jurisdiction – Neu entstandene Gemeinden</vt:lpstr>
      <vt:lpstr>Jurisdiction – Legacy Version</vt:lpstr>
      <vt:lpstr>Jurisdiction – Kein Einfluss auf BFS-Gde Nr. </vt:lpstr>
      <vt:lpstr>Jurisdiction – Andere Mutationen</vt:lpstr>
      <vt:lpstr>Jurisdiction – Fazit</vt:lpstr>
      <vt:lpstr>Jurisdiction – Fazit</vt:lpstr>
      <vt:lpstr>Reference</vt:lpstr>
      <vt:lpstr>Reference</vt:lpstr>
      <vt:lpstr>Reference – Was braucht es wirklich?</vt:lpstr>
      <vt:lpstr>Reference – Fedlex Publikationspraxis</vt:lpstr>
      <vt:lpstr>Reference – Fedlex Publikationspraxis (2)</vt:lpstr>
      <vt:lpstr>Reference – LexFind</vt:lpstr>
      <vt:lpstr>Reference - Rückwärtskompatibilität?</vt:lpstr>
      <vt:lpstr>Reference - ELI4CH Implementierung</vt:lpstr>
      <vt:lpstr>Reference – Diskussion</vt:lpstr>
      <vt:lpstr>Weitere</vt:lpstr>
      <vt:lpstr>Language + Format</vt:lpstr>
      <vt:lpstr>Language + Format - ELI4CH Implementierung</vt:lpstr>
      <vt:lpstr>Weiterführende Literatur</vt:lpstr>
      <vt:lpstr>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</dc:creator>
  <cp:lastModifiedBy>Martin</cp:lastModifiedBy>
  <cp:revision>22</cp:revision>
  <cp:lastPrinted>2026-05-19T09:02:05Z</cp:lastPrinted>
  <dcterms:created xsi:type="dcterms:W3CDTF">2026-04-14T03:26:36Z</dcterms:created>
  <dcterms:modified xsi:type="dcterms:W3CDTF">2026-05-20T12:54:23Z</dcterms:modified>
</cp:coreProperties>
</file>