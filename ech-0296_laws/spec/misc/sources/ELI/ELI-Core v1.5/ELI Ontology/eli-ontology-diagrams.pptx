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12192000" cy="6858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99" d="100"/>
          <a:sy n="99" d="100"/>
        </p:scale>
        <p:origin x="900" y="72"/>
      </p:cViewPr>
      <p:guideLst>
        <p:guide pos="2160" orient="horz"/>
        <p:guide pos="384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 bwMode="auto">
          <a:xfrm>
            <a:off x="914400" y="2130426"/>
            <a:ext cx="10363200" cy="1470025"/>
          </a:xfrm>
        </p:spPr>
        <p:txBody>
          <a:bodyPr/>
          <a:lstStyle/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fr-FR"/>
              <a:t>Cliquez pour modifier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CC8B66-7046-4CA7-86BE-1CA3C9671D13}" type="datetimeFigureOut">
              <a:rPr lang="en-US"/>
              <a:t/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4BA589-D1E5-47AA-AE8B-6DF3DF4408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CC8B66-7046-4CA7-86BE-1CA3C9671D13}" type="datetimeFigureOut">
              <a:rPr lang="en-US"/>
              <a:t/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4BA589-D1E5-47AA-AE8B-6DF3DF4408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CC8B66-7046-4CA7-86BE-1CA3C9671D13}" type="datetimeFigureOut">
              <a:rPr lang="en-US"/>
              <a:t/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4BA589-D1E5-47AA-AE8B-6DF3DF4408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CC8B66-7046-4CA7-86BE-1CA3C9671D13}" type="datetimeFigureOut">
              <a:rPr lang="en-US"/>
              <a:t/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4BA589-D1E5-47AA-AE8B-6DF3DF4408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CC8B66-7046-4CA7-86BE-1CA3C9671D13}" type="datetimeFigureOut">
              <a:rPr lang="en-US"/>
              <a:t/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4BA589-D1E5-47AA-AE8B-6DF3DF4408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CC8B66-7046-4CA7-86BE-1CA3C9671D13}" type="datetimeFigureOut">
              <a:rPr lang="en-US"/>
              <a:t/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4BA589-D1E5-47AA-AE8B-6DF3DF4408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CC8B66-7046-4CA7-86BE-1CA3C9671D13}" type="datetimeFigureOut">
              <a:rPr lang="en-US"/>
              <a:t/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4BA589-D1E5-47AA-AE8B-6DF3DF4408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CC8B66-7046-4CA7-86BE-1CA3C9671D13}" type="datetimeFigureOut">
              <a:rPr lang="en-US"/>
              <a:t/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4BA589-D1E5-47AA-AE8B-6DF3DF4408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 bwMode="auto"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CC8B66-7046-4CA7-86BE-1CA3C9671D13}" type="datetimeFigureOut">
              <a:rPr lang="en-US"/>
              <a:t/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4BA589-D1E5-47AA-AE8B-6DF3DF4408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CC8B66-7046-4CA7-86BE-1CA3C9671D13}" type="datetimeFigureOut">
              <a:rPr lang="en-US"/>
              <a:t/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4BA589-D1E5-47AA-AE8B-6DF3DF4408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839200" y="274639"/>
            <a:ext cx="2743200" cy="5851525"/>
          </a:xfrm>
        </p:spPr>
        <p:txBody>
          <a:bodyPr vert="eaVert"/>
          <a:lstStyle/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609600" y="274639"/>
            <a:ext cx="8026400" cy="5851525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CC8B66-7046-4CA7-86BE-1CA3C9671D13}" type="datetimeFigureOut">
              <a:rPr lang="en-US"/>
              <a:t/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4BA589-D1E5-47AA-AE8B-6DF3DF4408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ACC8B66-7046-4CA7-86BE-1CA3C9671D13}" type="datetimeFigureOut">
              <a:rPr lang="en-US"/>
              <a:t/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54BA589-D1E5-47AA-AE8B-6DF3DF4408DD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ELI </a:t>
            </a:r>
            <a:r>
              <a:rPr lang="fr-FR"/>
              <a:t>Ontology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V1.5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2238348" y="1927220"/>
            <a:ext cx="2928928" cy="644525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3600">
                <a:solidFill>
                  <a:schemeClr val="tx1"/>
                </a:solidFill>
              </a:rPr>
              <a:t>LegalResource</a:t>
            </a:r>
            <a:endParaRPr lang="fr-FR" sz="360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952860" y="3429001"/>
            <a:ext cx="3286148" cy="642936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3600">
                <a:solidFill>
                  <a:schemeClr val="tx1"/>
                </a:solidFill>
              </a:rPr>
              <a:t>LegalExpression</a:t>
            </a:r>
            <a:endParaRPr lang="fr-FR" sz="360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6456338" y="5132394"/>
            <a:ext cx="2354263" cy="6445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3600">
                <a:solidFill>
                  <a:schemeClr val="tx1"/>
                </a:solidFill>
              </a:rPr>
              <a:t>Format</a:t>
            </a:r>
            <a:endParaRPr/>
          </a:p>
        </p:txBody>
      </p:sp>
      <p:cxnSp>
        <p:nvCxnSpPr>
          <p:cNvPr id="6" name="Connecteur en angle 5"/>
          <p:cNvCxnSpPr>
            <a:cxnSpLocks/>
            <a:stCxn id="3" idx="0"/>
            <a:endCxn id="2" idx="2"/>
          </p:cNvCxnSpPr>
          <p:nvPr/>
        </p:nvCxnSpPr>
        <p:spPr bwMode="auto">
          <a:xfrm rot="16199998" flipV="1">
            <a:off x="4220745" y="2053811"/>
            <a:ext cx="857256" cy="189312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en angle 6"/>
          <p:cNvCxnSpPr>
            <a:cxnSpLocks/>
            <a:stCxn id="4" idx="0"/>
            <a:endCxn id="3" idx="2"/>
          </p:cNvCxnSpPr>
          <p:nvPr/>
        </p:nvCxnSpPr>
        <p:spPr bwMode="auto">
          <a:xfrm rot="16199998" flipV="1">
            <a:off x="6084475" y="3583399"/>
            <a:ext cx="1060457" cy="20375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en angle 7"/>
          <p:cNvCxnSpPr>
            <a:cxnSpLocks/>
            <a:stCxn id="11" idx="1"/>
            <a:endCxn id="4" idx="2"/>
          </p:cNvCxnSpPr>
          <p:nvPr/>
        </p:nvCxnSpPr>
        <p:spPr bwMode="auto">
          <a:xfrm rot="10800000">
            <a:off x="7633471" y="5776919"/>
            <a:ext cx="1391459" cy="502966"/>
          </a:xfrm>
          <a:prstGeom prst="bentConnector2">
            <a:avLst/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58"/>
          <p:cNvSpPr txBox="1">
            <a:spLocks noChangeArrowheads="1"/>
          </p:cNvSpPr>
          <p:nvPr/>
        </p:nvSpPr>
        <p:spPr bwMode="auto">
          <a:xfrm>
            <a:off x="3738546" y="2643182"/>
            <a:ext cx="2714644" cy="338554"/>
          </a:xfrm>
          <a:prstGeom prst="rect">
            <a:avLst/>
          </a:prstGeom>
          <a:solidFill>
            <a:schemeClr val="bg1">
              <a:alpha val="79999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600"/>
              <a:t>Can </a:t>
            </a:r>
            <a:r>
              <a:rPr lang="fr-FR" sz="1600"/>
              <a:t>be</a:t>
            </a:r>
            <a:r>
              <a:rPr lang="fr-FR" sz="1600"/>
              <a:t> </a:t>
            </a:r>
            <a:r>
              <a:rPr lang="fr-FR" sz="1600"/>
              <a:t>expressed</a:t>
            </a:r>
            <a:r>
              <a:rPr lang="fr-FR" sz="1600"/>
              <a:t> in </a:t>
            </a:r>
            <a:r>
              <a:rPr lang="fr-FR" sz="1600"/>
              <a:t>various</a:t>
            </a:r>
            <a:endParaRPr lang="fr-FR" sz="1600"/>
          </a:p>
        </p:txBody>
      </p:sp>
      <p:sp>
        <p:nvSpPr>
          <p:cNvPr id="10" name="ZoneTexte 59"/>
          <p:cNvSpPr txBox="1">
            <a:spLocks noChangeArrowheads="1"/>
          </p:cNvSpPr>
          <p:nvPr/>
        </p:nvSpPr>
        <p:spPr bwMode="auto">
          <a:xfrm>
            <a:off x="5595904" y="4233454"/>
            <a:ext cx="3643368" cy="338554"/>
          </a:xfrm>
          <a:prstGeom prst="rect">
            <a:avLst/>
          </a:prstGeom>
          <a:solidFill>
            <a:schemeClr val="bg1">
              <a:alpha val="79999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600"/>
              <a:t>Can </a:t>
            </a:r>
            <a:r>
              <a:rPr lang="fr-FR" sz="1600"/>
              <a:t>be</a:t>
            </a:r>
            <a:r>
              <a:rPr lang="fr-FR" sz="1600"/>
              <a:t> </a:t>
            </a:r>
            <a:r>
              <a:rPr lang="fr-FR" sz="1600"/>
              <a:t>published</a:t>
            </a:r>
            <a:r>
              <a:rPr lang="fr-FR" sz="1600"/>
              <a:t> in </a:t>
            </a:r>
            <a:r>
              <a:rPr lang="fr-FR" sz="1600"/>
              <a:t>various</a:t>
            </a:r>
            <a:endParaRPr lang="fr-FR" sz="1600"/>
          </a:p>
        </p:txBody>
      </p:sp>
      <p:sp>
        <p:nvSpPr>
          <p:cNvPr id="11" name="ZoneTexte 60"/>
          <p:cNvSpPr txBox="1">
            <a:spLocks noChangeArrowheads="1"/>
          </p:cNvSpPr>
          <p:nvPr/>
        </p:nvSpPr>
        <p:spPr bwMode="auto">
          <a:xfrm>
            <a:off x="9024928" y="5987498"/>
            <a:ext cx="1428760" cy="584775"/>
          </a:xfrm>
          <a:prstGeom prst="rect">
            <a:avLst/>
          </a:prstGeom>
          <a:solidFill>
            <a:schemeClr val="bg1">
              <a:alpha val="79999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600"/>
              <a:t>Is </a:t>
            </a:r>
            <a:r>
              <a:rPr lang="fr-FR" sz="1600"/>
              <a:t>expressed</a:t>
            </a:r>
            <a:r>
              <a:rPr lang="fr-FR" sz="1600"/>
              <a:t> in </a:t>
            </a:r>
            <a:r>
              <a:rPr lang="fr-FR" sz="1600"/>
              <a:t>concrete</a:t>
            </a:r>
            <a:r>
              <a:rPr lang="fr-FR" sz="1600"/>
              <a:t> files</a:t>
            </a:r>
            <a:endParaRPr/>
          </a:p>
        </p:txBody>
      </p:sp>
      <p:cxnSp>
        <p:nvCxnSpPr>
          <p:cNvPr id="19" name="Connecteur en angle 18"/>
          <p:cNvCxnSpPr>
            <a:cxnSpLocks/>
            <a:stCxn id="2" idx="0"/>
            <a:endCxn id="2" idx="1"/>
          </p:cNvCxnSpPr>
          <p:nvPr/>
        </p:nvCxnSpPr>
        <p:spPr bwMode="auto">
          <a:xfrm rot="16199998" flipH="1" flipV="1">
            <a:off x="2809449" y="1356118"/>
            <a:ext cx="322263" cy="1464464"/>
          </a:xfrm>
          <a:prstGeom prst="bentConnector4">
            <a:avLst>
              <a:gd name="adj1" fmla="val -70936"/>
              <a:gd name="adj2" fmla="val 115610"/>
            </a:avLst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58"/>
          <p:cNvSpPr txBox="1">
            <a:spLocks noChangeArrowheads="1"/>
          </p:cNvSpPr>
          <p:nvPr/>
        </p:nvSpPr>
        <p:spPr bwMode="auto">
          <a:xfrm>
            <a:off x="1881158" y="1304496"/>
            <a:ext cx="1785950" cy="338554"/>
          </a:xfrm>
          <a:prstGeom prst="rect">
            <a:avLst/>
          </a:prstGeom>
          <a:solidFill>
            <a:schemeClr val="bg1">
              <a:alpha val="79999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600"/>
              <a:t>Can </a:t>
            </a:r>
            <a:r>
              <a:rPr lang="fr-FR" sz="1600"/>
              <a:t>contain</a:t>
            </a:r>
            <a:r>
              <a:rPr lang="fr-FR" sz="1600"/>
              <a:t> </a:t>
            </a:r>
            <a:r>
              <a:rPr lang="fr-FR" sz="1600"/>
              <a:t>other</a:t>
            </a:r>
            <a:endParaRPr lang="fr-FR" sz="1600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981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fr-FR" sz="4400">
                <a:latin typeface="+mj-lt"/>
                <a:ea typeface="+mj-ea"/>
                <a:cs typeface="+mj-cs"/>
              </a:rPr>
              <a:t>ELI « </a:t>
            </a:r>
            <a:r>
              <a:rPr lang="fr-FR" sz="4400">
                <a:latin typeface="+mj-lt"/>
                <a:ea typeface="+mj-ea"/>
                <a:cs typeface="+mj-cs"/>
              </a:rPr>
              <a:t>backbone</a:t>
            </a:r>
            <a:r>
              <a:rPr lang="fr-FR" sz="4400">
                <a:latin typeface="+mj-lt"/>
                <a:ea typeface="+mj-ea"/>
                <a:cs typeface="+mj-cs"/>
              </a:rPr>
              <a:t> »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Detailed</a:t>
            </a:r>
            <a:r>
              <a:rPr lang="fr-FR"/>
              <a:t> </a:t>
            </a:r>
            <a:r>
              <a:rPr lang="fr-FR"/>
              <a:t>ontology</a:t>
            </a:r>
            <a:r>
              <a:rPr lang="fr-FR"/>
              <a:t> </a:t>
            </a:r>
            <a:r>
              <a:rPr lang="fr-FR"/>
              <a:t>diagrams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ELI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Legend</a:t>
            </a:r>
            <a:endParaRPr lang="en-US"/>
          </a:p>
        </p:txBody>
      </p:sp>
      <p:sp>
        <p:nvSpPr>
          <p:cNvPr id="3" name="Rectangle 2"/>
          <p:cNvSpPr/>
          <p:nvPr/>
        </p:nvSpPr>
        <p:spPr bwMode="auto">
          <a:xfrm>
            <a:off x="2153422" y="1928802"/>
            <a:ext cx="1728000" cy="4286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skos:Concept</a:t>
            </a:r>
            <a:endParaRPr lang="fr-FR" sz="14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2166910" y="1357298"/>
            <a:ext cx="1728000" cy="428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LegalResource</a:t>
            </a: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5" name="ZoneTexte 4"/>
          <p:cNvSpPr txBox="1"/>
          <p:nvPr/>
        </p:nvSpPr>
        <p:spPr bwMode="auto">
          <a:xfrm>
            <a:off x="4167174" y="1978216"/>
            <a:ext cx="56436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400">
                <a:latin typeface="Century Gothic"/>
              </a:rPr>
              <a:t>Class </a:t>
            </a:r>
            <a:r>
              <a:rPr lang="fr-FR" sz="1400">
                <a:latin typeface="Century Gothic"/>
              </a:rPr>
              <a:t>defined</a:t>
            </a:r>
            <a:r>
              <a:rPr lang="fr-FR" sz="1400">
                <a:latin typeface="Century Gothic"/>
              </a:rPr>
              <a:t> in </a:t>
            </a:r>
            <a:r>
              <a:rPr lang="fr-FR" sz="1400">
                <a:latin typeface="Century Gothic"/>
              </a:rPr>
              <a:t>another</a:t>
            </a:r>
            <a:r>
              <a:rPr lang="fr-FR" sz="1400">
                <a:latin typeface="Century Gothic"/>
              </a:rPr>
              <a:t> </a:t>
            </a:r>
            <a:r>
              <a:rPr lang="fr-FR" sz="1400">
                <a:latin typeface="Century Gothic"/>
              </a:rPr>
              <a:t>ontology</a:t>
            </a:r>
            <a:endParaRPr lang="en-US" sz="1400">
              <a:latin typeface="Century Gothic"/>
            </a:endParaRPr>
          </a:p>
        </p:txBody>
      </p:sp>
      <p:sp>
        <p:nvSpPr>
          <p:cNvPr id="6" name="ZoneTexte 5"/>
          <p:cNvSpPr txBox="1"/>
          <p:nvPr/>
        </p:nvSpPr>
        <p:spPr bwMode="auto">
          <a:xfrm>
            <a:off x="4167174" y="1406712"/>
            <a:ext cx="56436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400">
                <a:latin typeface="Century Gothic"/>
              </a:rPr>
              <a:t>Class </a:t>
            </a:r>
            <a:r>
              <a:rPr lang="fr-FR" sz="1400">
                <a:latin typeface="Century Gothic"/>
              </a:rPr>
              <a:t>defined</a:t>
            </a:r>
            <a:r>
              <a:rPr lang="fr-FR" sz="1400">
                <a:latin typeface="Century Gothic"/>
              </a:rPr>
              <a:t> in the model</a:t>
            </a:r>
            <a:endParaRPr lang="en-US" sz="1400">
              <a:latin typeface="Century Gothic"/>
            </a:endParaRPr>
          </a:p>
        </p:txBody>
      </p:sp>
      <p:sp>
        <p:nvSpPr>
          <p:cNvPr id="9" name="ZoneTexte 8"/>
          <p:cNvSpPr txBox="1"/>
          <p:nvPr/>
        </p:nvSpPr>
        <p:spPr bwMode="auto">
          <a:xfrm>
            <a:off x="4167174" y="4335670"/>
            <a:ext cx="56436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400">
                <a:latin typeface="Century Gothic"/>
              </a:rPr>
              <a:t>Class/</a:t>
            </a:r>
            <a:r>
              <a:rPr lang="fr-FR" sz="1400">
                <a:latin typeface="Century Gothic"/>
              </a:rPr>
              <a:t>subclass</a:t>
            </a:r>
            <a:r>
              <a:rPr lang="fr-FR" sz="1400">
                <a:latin typeface="Century Gothic"/>
              </a:rPr>
              <a:t> </a:t>
            </a:r>
            <a:r>
              <a:rPr lang="fr-FR" sz="1400">
                <a:latin typeface="Century Gothic"/>
              </a:rPr>
              <a:t>relationship</a:t>
            </a:r>
            <a:r>
              <a:rPr lang="fr-FR" sz="1400">
                <a:latin typeface="Century Gothic"/>
              </a:rPr>
              <a:t> (</a:t>
            </a:r>
            <a:r>
              <a:rPr lang="fr-FR" sz="1400">
                <a:latin typeface="Century Gothic"/>
              </a:rPr>
              <a:t>rdfs:subclassOf</a:t>
            </a:r>
            <a:r>
              <a:rPr lang="fr-FR" sz="1400">
                <a:latin typeface="Century Gothic"/>
              </a:rPr>
              <a:t>)</a:t>
            </a:r>
            <a:endParaRPr lang="en-US" sz="1400">
              <a:latin typeface="Century Gothic"/>
            </a:endParaRPr>
          </a:p>
        </p:txBody>
      </p:sp>
      <p:cxnSp>
        <p:nvCxnSpPr>
          <p:cNvPr id="10" name="Forme 69"/>
          <p:cNvCxnSpPr>
            <a:cxnSpLocks/>
          </p:cNvCxnSpPr>
          <p:nvPr/>
        </p:nvCxnSpPr>
        <p:spPr bwMode="auto">
          <a:xfrm>
            <a:off x="2238348" y="4951223"/>
            <a:ext cx="1500198" cy="21431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 bwMode="auto">
          <a:xfrm>
            <a:off x="4167174" y="4951224"/>
            <a:ext cx="56436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400">
                <a:latin typeface="Century Gothic"/>
              </a:rPr>
              <a:t>Property</a:t>
            </a:r>
            <a:r>
              <a:rPr lang="fr-FR" sz="1400">
                <a:latin typeface="Century Gothic"/>
              </a:rPr>
              <a:t> </a:t>
            </a:r>
            <a:r>
              <a:rPr lang="fr-FR" sz="1400">
                <a:latin typeface="Century Gothic"/>
              </a:rPr>
              <a:t>linking</a:t>
            </a:r>
            <a:r>
              <a:rPr lang="fr-FR" sz="1400">
                <a:latin typeface="Century Gothic"/>
              </a:rPr>
              <a:t> 2 ressources</a:t>
            </a:r>
            <a:endParaRPr lang="en-US" sz="1400">
              <a:latin typeface="Century Gothic"/>
            </a:endParaRPr>
          </a:p>
        </p:txBody>
      </p:sp>
      <p:grpSp>
        <p:nvGrpSpPr>
          <p:cNvPr id="8" name="Groupe 80"/>
          <p:cNvGrpSpPr/>
          <p:nvPr/>
        </p:nvGrpSpPr>
        <p:grpSpPr bwMode="auto">
          <a:xfrm>
            <a:off x="2166910" y="2500306"/>
            <a:ext cx="1714512" cy="857256"/>
            <a:chOff x="3681406" y="3662800"/>
            <a:chExt cx="2428892" cy="1509126"/>
          </a:xfrm>
        </p:grpSpPr>
        <p:sp>
          <p:nvSpPr>
            <p:cNvPr id="15" name="Rectangle 14"/>
            <p:cNvSpPr/>
            <p:nvPr/>
          </p:nvSpPr>
          <p:spPr bwMode="auto">
            <a:xfrm>
              <a:off x="3681406" y="3662800"/>
              <a:ext cx="2428892" cy="150912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defRPr/>
              </a:pPr>
              <a:r>
                <a:rPr lang="fr-FR" sz="1400">
                  <a:solidFill>
                    <a:schemeClr val="tx1"/>
                  </a:solidFill>
                  <a:latin typeface="Century Gothic"/>
                </a:rPr>
                <a:t>LegalResource</a:t>
              </a:r>
              <a:endParaRPr lang="fr-FR" sz="1600">
                <a:solidFill>
                  <a:schemeClr val="tx1"/>
                </a:solidFill>
                <a:latin typeface="Century Gothic"/>
              </a:endParaRPr>
            </a:p>
            <a:p>
              <a:pPr>
                <a:buFont typeface="Arial"/>
                <a:buChar char="•"/>
                <a:defRPr/>
              </a:pPr>
              <a:endParaRPr lang="fr-FR" sz="1100">
                <a:solidFill>
                  <a:schemeClr val="tx1"/>
                </a:solidFill>
                <a:latin typeface="Century Gothic"/>
              </a:endParaRPr>
            </a:p>
            <a:p>
              <a:pPr>
                <a:buFont typeface="Arial"/>
                <a:buChar char="•"/>
                <a:defRPr/>
              </a:pPr>
              <a:r>
                <a:rPr lang="fr-FR" sz="1100">
                  <a:solidFill>
                    <a:schemeClr val="tx1"/>
                  </a:solidFill>
                  <a:latin typeface="Century Gothic"/>
                </a:rPr>
                <a:t> </a:t>
              </a:r>
              <a:r>
                <a:rPr lang="fr-FR" sz="1100">
                  <a:solidFill>
                    <a:schemeClr val="tx1"/>
                  </a:solidFill>
                  <a:latin typeface="Century Gothic"/>
                </a:rPr>
                <a:t>date_document</a:t>
              </a:r>
              <a:endParaRPr lang="fr-FR" sz="1100">
                <a:solidFill>
                  <a:schemeClr val="tx1"/>
                </a:solidFill>
                <a:latin typeface="Century Gothic"/>
              </a:endParaRPr>
            </a:p>
          </p:txBody>
        </p:sp>
        <p:cxnSp>
          <p:nvCxnSpPr>
            <p:cNvPr id="16" name="Connecteur droit 15"/>
            <p:cNvCxnSpPr>
              <a:cxnSpLocks/>
            </p:cNvCxnSpPr>
            <p:nvPr/>
          </p:nvCxnSpPr>
          <p:spPr bwMode="auto">
            <a:xfrm>
              <a:off x="3681406" y="4241644"/>
              <a:ext cx="2428892" cy="1587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" name="ZoneTexte 16"/>
          <p:cNvSpPr txBox="1"/>
          <p:nvPr/>
        </p:nvSpPr>
        <p:spPr bwMode="auto">
          <a:xfrm>
            <a:off x="4167174" y="2691466"/>
            <a:ext cx="5643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400">
                <a:latin typeface="Century Gothic"/>
              </a:rPr>
              <a:t>Literal</a:t>
            </a:r>
            <a:r>
              <a:rPr lang="fr-FR" sz="1400">
                <a:latin typeface="Century Gothic"/>
              </a:rPr>
              <a:t> </a:t>
            </a:r>
            <a:r>
              <a:rPr lang="fr-FR" sz="1400">
                <a:latin typeface="Century Gothic"/>
              </a:rPr>
              <a:t>properties</a:t>
            </a:r>
            <a:r>
              <a:rPr lang="fr-FR" sz="1400">
                <a:latin typeface="Century Gothic"/>
              </a:rPr>
              <a:t> (strings, </a:t>
            </a:r>
            <a:r>
              <a:rPr lang="fr-FR" sz="1400">
                <a:latin typeface="Century Gothic"/>
              </a:rPr>
              <a:t>integer</a:t>
            </a:r>
            <a:r>
              <a:rPr lang="fr-FR" sz="1400">
                <a:latin typeface="Century Gothic"/>
              </a:rPr>
              <a:t>, </a:t>
            </a:r>
            <a:r>
              <a:rPr lang="fr-FR" sz="1400">
                <a:latin typeface="Century Gothic"/>
              </a:rPr>
              <a:t>float</a:t>
            </a:r>
            <a:r>
              <a:rPr lang="fr-FR" sz="1400">
                <a:latin typeface="Century Gothic"/>
              </a:rPr>
              <a:t>, dates, </a:t>
            </a:r>
            <a:r>
              <a:rPr lang="fr-FR" sz="1400">
                <a:latin typeface="Century Gothic"/>
              </a:rPr>
              <a:t>booleans</a:t>
            </a:r>
            <a:r>
              <a:rPr lang="fr-FR" sz="1400">
                <a:latin typeface="Century Gothic"/>
              </a:rPr>
              <a:t>, </a:t>
            </a:r>
            <a:r>
              <a:rPr lang="fr-FR" sz="1400">
                <a:latin typeface="Century Gothic"/>
              </a:rPr>
              <a:t>xsd:anyURI</a:t>
            </a:r>
            <a:r>
              <a:rPr lang="fr-FR" sz="1400">
                <a:latin typeface="Century Gothic"/>
              </a:rPr>
              <a:t>, etc.) on a class</a:t>
            </a:r>
            <a:endParaRPr lang="en-US" sz="1400">
              <a:latin typeface="Century Gothic"/>
            </a:endParaRPr>
          </a:p>
        </p:txBody>
      </p:sp>
      <p:cxnSp>
        <p:nvCxnSpPr>
          <p:cNvPr id="18" name="Forme 69"/>
          <p:cNvCxnSpPr>
            <a:cxnSpLocks/>
          </p:cNvCxnSpPr>
          <p:nvPr/>
        </p:nvCxnSpPr>
        <p:spPr bwMode="auto">
          <a:xfrm>
            <a:off x="2238348" y="6000768"/>
            <a:ext cx="1500198" cy="21431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 bwMode="auto">
          <a:xfrm>
            <a:off x="2309786" y="6182046"/>
            <a:ext cx="1357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based_on</a:t>
            </a:r>
            <a:r>
              <a:rPr lang="fr-FR" sz="1200">
                <a:latin typeface="Century Gothic"/>
              </a:rPr>
              <a:t> / </a:t>
            </a:r>
            <a:r>
              <a:rPr lang="fr-FR" sz="1200">
                <a:latin typeface="Century Gothic"/>
              </a:rPr>
              <a:t>basis_for</a:t>
            </a:r>
            <a:endParaRPr lang="en-US" sz="1200">
              <a:latin typeface="Century Gothic"/>
            </a:endParaRPr>
          </a:p>
        </p:txBody>
      </p:sp>
      <p:sp>
        <p:nvSpPr>
          <p:cNvPr id="20" name="ZoneTexte 19"/>
          <p:cNvSpPr txBox="1"/>
          <p:nvPr/>
        </p:nvSpPr>
        <p:spPr bwMode="auto">
          <a:xfrm>
            <a:off x="2309786" y="4652200"/>
            <a:ext cx="1357322" cy="276999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is_about</a:t>
            </a:r>
            <a:endParaRPr lang="en-US" sz="1200">
              <a:latin typeface="Century Gothic"/>
            </a:endParaRPr>
          </a:p>
        </p:txBody>
      </p:sp>
      <p:sp>
        <p:nvSpPr>
          <p:cNvPr id="21" name="ZoneTexte 20"/>
          <p:cNvSpPr txBox="1"/>
          <p:nvPr/>
        </p:nvSpPr>
        <p:spPr bwMode="auto">
          <a:xfrm>
            <a:off x="4167174" y="6050182"/>
            <a:ext cx="56436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400">
                <a:latin typeface="Century Gothic"/>
              </a:rPr>
              <a:t>Object </a:t>
            </a:r>
            <a:r>
              <a:rPr lang="fr-FR" sz="1400">
                <a:latin typeface="Century Gothic"/>
              </a:rPr>
              <a:t>property</a:t>
            </a:r>
            <a:r>
              <a:rPr lang="fr-FR" sz="1400">
                <a:latin typeface="Century Gothic"/>
              </a:rPr>
              <a:t> and </a:t>
            </a:r>
            <a:r>
              <a:rPr lang="fr-FR" sz="1400">
                <a:latin typeface="Century Gothic"/>
              </a:rPr>
              <a:t>its</a:t>
            </a:r>
            <a:r>
              <a:rPr lang="fr-FR" sz="1400">
                <a:latin typeface="Century Gothic"/>
              </a:rPr>
              <a:t> inverse </a:t>
            </a:r>
            <a:r>
              <a:rPr lang="fr-FR" sz="1400">
                <a:latin typeface="Century Gothic"/>
              </a:rPr>
              <a:t>property</a:t>
            </a:r>
            <a:endParaRPr lang="en-US" sz="1400">
              <a:latin typeface="Century Gothic"/>
            </a:endParaRPr>
          </a:p>
        </p:txBody>
      </p:sp>
      <p:sp>
        <p:nvSpPr>
          <p:cNvPr id="23" name="ZoneTexte 22"/>
          <p:cNvSpPr txBox="1"/>
          <p:nvPr/>
        </p:nvSpPr>
        <p:spPr bwMode="auto">
          <a:xfrm>
            <a:off x="8810643" y="6488691"/>
            <a:ext cx="1858075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b="1">
                <a:solidFill>
                  <a:srgbClr val="FF0000"/>
                </a:solidFill>
                <a:latin typeface="Century Gothic"/>
              </a:rPr>
              <a:t>V1.5</a:t>
            </a:r>
            <a:endParaRPr lang="en-US" b="1">
              <a:solidFill>
                <a:srgbClr val="FF0000"/>
              </a:solidFill>
              <a:latin typeface="Century Gothic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2166910" y="3478413"/>
            <a:ext cx="1714512" cy="6429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>
              <a:buFont typeface="Arial"/>
              <a:buChar char="•"/>
              <a:defRPr/>
            </a:pPr>
            <a:r>
              <a:rPr lang="fr-FR" sz="1100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100">
                <a:solidFill>
                  <a:schemeClr val="tx1"/>
                </a:solidFill>
                <a:latin typeface="Century Gothic"/>
              </a:rPr>
              <a:t>physicalMedium</a:t>
            </a:r>
            <a:r>
              <a:rPr lang="fr-FR" sz="1100">
                <a:solidFill>
                  <a:schemeClr val="tx1"/>
                </a:solidFill>
                <a:latin typeface="Century Gothic"/>
              </a:rPr>
              <a:t> (*)</a:t>
            </a:r>
            <a:endParaRPr/>
          </a:p>
        </p:txBody>
      </p:sp>
      <p:sp>
        <p:nvSpPr>
          <p:cNvPr id="26" name="ZoneTexte 25"/>
          <p:cNvSpPr txBox="1"/>
          <p:nvPr/>
        </p:nvSpPr>
        <p:spPr bwMode="auto">
          <a:xfrm>
            <a:off x="4167174" y="3549852"/>
            <a:ext cx="62151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400">
                <a:latin typeface="Century Gothic"/>
              </a:rPr>
              <a:t>AnnotationProperty</a:t>
            </a:r>
            <a:r>
              <a:rPr lang="fr-FR" sz="1400">
                <a:latin typeface="Century Gothic"/>
              </a:rPr>
              <a:t>, </a:t>
            </a:r>
            <a:r>
              <a:rPr lang="fr-FR" sz="1400">
                <a:latin typeface="Century Gothic"/>
              </a:rPr>
              <a:t>that</a:t>
            </a:r>
            <a:r>
              <a:rPr lang="fr-FR" sz="1400">
                <a:latin typeface="Century Gothic"/>
              </a:rPr>
              <a:t> </a:t>
            </a:r>
            <a:r>
              <a:rPr lang="fr-FR" sz="1400">
                <a:latin typeface="Century Gothic"/>
              </a:rPr>
              <a:t>can</a:t>
            </a:r>
            <a:r>
              <a:rPr lang="fr-FR" sz="1400">
                <a:latin typeface="Century Gothic"/>
              </a:rPr>
              <a:t> </a:t>
            </a:r>
            <a:r>
              <a:rPr lang="fr-FR" sz="1400">
                <a:latin typeface="Century Gothic"/>
              </a:rPr>
              <a:t>take</a:t>
            </a:r>
            <a:r>
              <a:rPr lang="fr-FR" sz="1400">
                <a:latin typeface="Century Gothic"/>
              </a:rPr>
              <a:t> as a value </a:t>
            </a:r>
            <a:r>
              <a:rPr lang="fr-FR" sz="1400">
                <a:latin typeface="Century Gothic"/>
              </a:rPr>
              <a:t>either</a:t>
            </a:r>
            <a:r>
              <a:rPr lang="fr-FR" sz="1400">
                <a:latin typeface="Century Gothic"/>
              </a:rPr>
              <a:t> a </a:t>
            </a:r>
            <a:r>
              <a:rPr lang="fr-FR" sz="1400">
                <a:latin typeface="Century Gothic"/>
              </a:rPr>
              <a:t>literal</a:t>
            </a:r>
            <a:r>
              <a:rPr lang="fr-FR" sz="1400">
                <a:latin typeface="Century Gothic"/>
              </a:rPr>
              <a:t> or a URI</a:t>
            </a:r>
            <a:endParaRPr lang="en-US" sz="1400">
              <a:latin typeface="Century Gothic"/>
            </a:endParaRPr>
          </a:p>
        </p:txBody>
      </p:sp>
      <p:cxnSp>
        <p:nvCxnSpPr>
          <p:cNvPr id="25" name="Forme 69"/>
          <p:cNvCxnSpPr>
            <a:cxnSpLocks/>
          </p:cNvCxnSpPr>
          <p:nvPr/>
        </p:nvCxnSpPr>
        <p:spPr bwMode="auto">
          <a:xfrm>
            <a:off x="2238348" y="5640189"/>
            <a:ext cx="1500198" cy="158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 bwMode="auto">
          <a:xfrm>
            <a:off x="4167174" y="5354437"/>
            <a:ext cx="5643602" cy="630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400">
                <a:latin typeface="Century Gothic"/>
              </a:rPr>
              <a:t>Min and max </a:t>
            </a:r>
            <a:r>
              <a:rPr lang="fr-FR" sz="1400">
                <a:latin typeface="Century Gothic"/>
              </a:rPr>
              <a:t>cardinalities</a:t>
            </a:r>
            <a:r>
              <a:rPr lang="fr-FR" sz="1400">
                <a:latin typeface="Century Gothic"/>
              </a:rPr>
              <a:t> on a </a:t>
            </a:r>
            <a:r>
              <a:rPr lang="fr-FR" sz="1400">
                <a:latin typeface="Century Gothic"/>
              </a:rPr>
              <a:t>property</a:t>
            </a:r>
            <a:r>
              <a:rPr lang="fr-FR" sz="1400">
                <a:latin typeface="Century Gothic"/>
              </a:rPr>
              <a:t> :</a:t>
            </a:r>
            <a:endParaRPr/>
          </a:p>
          <a:p>
            <a:pPr>
              <a:defRPr/>
            </a:pPr>
            <a:r>
              <a:rPr lang="fr-FR" sz="1050">
                <a:latin typeface="Century Gothic"/>
              </a:rPr>
              <a:t>[1] one and </a:t>
            </a:r>
            <a:r>
              <a:rPr lang="fr-FR" sz="1050">
                <a:latin typeface="Century Gothic"/>
              </a:rPr>
              <a:t>only</a:t>
            </a:r>
            <a:r>
              <a:rPr lang="fr-FR" sz="1050">
                <a:latin typeface="Century Gothic"/>
              </a:rPr>
              <a:t> one value, [1..*] </a:t>
            </a:r>
            <a:r>
              <a:rPr lang="fr-FR" sz="1050">
                <a:latin typeface="Century Gothic"/>
              </a:rPr>
              <a:t>at</a:t>
            </a:r>
            <a:r>
              <a:rPr lang="fr-FR" sz="1050">
                <a:latin typeface="Century Gothic"/>
              </a:rPr>
              <a:t> least one value. If </a:t>
            </a:r>
            <a:r>
              <a:rPr lang="fr-FR" sz="1050">
                <a:latin typeface="Century Gothic"/>
              </a:rPr>
              <a:t>nothing</a:t>
            </a:r>
            <a:r>
              <a:rPr lang="fr-FR" sz="1050">
                <a:latin typeface="Century Gothic"/>
              </a:rPr>
              <a:t> </a:t>
            </a:r>
            <a:r>
              <a:rPr lang="fr-FR" sz="1050">
                <a:latin typeface="Century Gothic"/>
              </a:rPr>
              <a:t>is</a:t>
            </a:r>
            <a:r>
              <a:rPr lang="fr-FR" sz="1050">
                <a:latin typeface="Century Gothic"/>
              </a:rPr>
              <a:t> </a:t>
            </a:r>
            <a:r>
              <a:rPr lang="fr-FR" sz="1050">
                <a:latin typeface="Century Gothic"/>
              </a:rPr>
              <a:t>written</a:t>
            </a:r>
            <a:r>
              <a:rPr lang="fr-FR" sz="1050">
                <a:latin typeface="Century Gothic"/>
              </a:rPr>
              <a:t>, assume [0..*], no restriction.</a:t>
            </a:r>
            <a:endParaRPr lang="en-US" sz="1050">
              <a:latin typeface="Century Gothic"/>
            </a:endParaRPr>
          </a:p>
        </p:txBody>
      </p:sp>
      <p:sp>
        <p:nvSpPr>
          <p:cNvPr id="30" name="ZoneTexte 29"/>
          <p:cNvSpPr txBox="1"/>
          <p:nvPr/>
        </p:nvSpPr>
        <p:spPr bwMode="auto">
          <a:xfrm>
            <a:off x="1881158" y="5286389"/>
            <a:ext cx="1928826" cy="276999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has_legalresource</a:t>
            </a:r>
            <a:r>
              <a:rPr lang="fr-FR" sz="1200">
                <a:latin typeface="Century Gothic"/>
              </a:rPr>
              <a:t> [1..*]</a:t>
            </a:r>
            <a:endParaRPr lang="en-US" sz="1200">
              <a:latin typeface="Century Gothic"/>
            </a:endParaRPr>
          </a:p>
        </p:txBody>
      </p:sp>
      <p:sp>
        <p:nvSpPr>
          <p:cNvPr id="27" name="Google Shape;168;p26"/>
          <p:cNvSpPr/>
          <p:nvPr/>
        </p:nvSpPr>
        <p:spPr bwMode="auto">
          <a:xfrm>
            <a:off x="2150816" y="4324855"/>
            <a:ext cx="1744095" cy="250542"/>
          </a:xfrm>
          <a:prstGeom prst="rightArrow">
            <a:avLst>
              <a:gd name="adj1" fmla="val 50000"/>
              <a:gd name="adj2" fmla="val 111822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2216574" y="840493"/>
            <a:ext cx="2500330" cy="500066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Work</a:t>
            </a:r>
            <a:endParaRPr/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4859779" y="1918896"/>
            <a:ext cx="2500330" cy="428628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Expression</a:t>
            </a:r>
            <a:endParaRPr/>
          </a:p>
        </p:txBody>
      </p:sp>
      <p:sp>
        <p:nvSpPr>
          <p:cNvPr id="7" name="Rectangle 6"/>
          <p:cNvSpPr/>
          <p:nvPr/>
        </p:nvSpPr>
        <p:spPr bwMode="auto">
          <a:xfrm>
            <a:off x="7810019" y="3146453"/>
            <a:ext cx="2500330" cy="50006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Manifestation</a:t>
            </a:r>
            <a:endParaRPr/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9" name="ZoneTexte 8"/>
          <p:cNvSpPr txBox="1"/>
          <p:nvPr/>
        </p:nvSpPr>
        <p:spPr bwMode="auto">
          <a:xfrm>
            <a:off x="8810643" y="6488691"/>
            <a:ext cx="1858075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b="1">
                <a:solidFill>
                  <a:srgbClr val="FF0000"/>
                </a:solidFill>
                <a:latin typeface="Century Gothic"/>
              </a:rPr>
              <a:t>V1.5</a:t>
            </a:r>
            <a:endParaRPr lang="en-US" b="1">
              <a:solidFill>
                <a:srgbClr val="FF0000"/>
              </a:solidFill>
              <a:latin typeface="Century Gothic"/>
            </a:endParaRPr>
          </a:p>
        </p:txBody>
      </p:sp>
      <p:sp>
        <p:nvSpPr>
          <p:cNvPr id="10" name="ZoneTexte 9"/>
          <p:cNvSpPr txBox="1"/>
          <p:nvPr/>
        </p:nvSpPr>
        <p:spPr bwMode="auto">
          <a:xfrm>
            <a:off x="1524000" y="6488668"/>
            <a:ext cx="5072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/>
              <a:t>ELI : backbone</a:t>
            </a:r>
            <a:endParaRPr lang="en-US"/>
          </a:p>
        </p:txBody>
      </p:sp>
      <p:cxnSp>
        <p:nvCxnSpPr>
          <p:cNvPr id="30" name="Forme 29"/>
          <p:cNvCxnSpPr>
            <a:cxnSpLocks/>
            <a:stCxn id="5" idx="1"/>
            <a:endCxn id="53" idx="2"/>
          </p:cNvCxnSpPr>
          <p:nvPr/>
        </p:nvCxnSpPr>
        <p:spPr bwMode="auto">
          <a:xfrm rot="10800000">
            <a:off x="4442062" y="1333387"/>
            <a:ext cx="417718" cy="799824"/>
          </a:xfrm>
          <a:prstGeom prst="bentConnector2">
            <a:avLst/>
          </a:prstGeom>
          <a:ln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/>
          <p:cNvSpPr txBox="1"/>
          <p:nvPr/>
        </p:nvSpPr>
        <p:spPr bwMode="auto">
          <a:xfrm>
            <a:off x="3463171" y="1644466"/>
            <a:ext cx="135729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200">
                <a:latin typeface="Century Gothic"/>
              </a:rPr>
              <a:t>is_realized_by</a:t>
            </a:r>
            <a:r>
              <a:rPr lang="fr-FR" sz="1200">
                <a:latin typeface="Century Gothic"/>
              </a:rPr>
              <a:t> / </a:t>
            </a:r>
            <a:r>
              <a:rPr lang="fr-FR" sz="1200">
                <a:latin typeface="Century Gothic"/>
              </a:rPr>
              <a:t>realizes</a:t>
            </a:r>
            <a:r>
              <a:rPr lang="fr-FR" sz="1200">
                <a:latin typeface="Century Gothic"/>
              </a:rPr>
              <a:t> [1..*]</a:t>
            </a:r>
            <a:endParaRPr lang="en-US" sz="1200">
              <a:latin typeface="Century Gothic"/>
            </a:endParaRPr>
          </a:p>
        </p:txBody>
      </p:sp>
      <p:cxnSp>
        <p:nvCxnSpPr>
          <p:cNvPr id="34" name="Forme 33"/>
          <p:cNvCxnSpPr>
            <a:cxnSpLocks/>
            <a:stCxn id="7" idx="1"/>
            <a:endCxn id="54" idx="2"/>
          </p:cNvCxnSpPr>
          <p:nvPr/>
        </p:nvCxnSpPr>
        <p:spPr bwMode="auto">
          <a:xfrm rot="10800000">
            <a:off x="6919896" y="2345103"/>
            <a:ext cx="890125" cy="1051385"/>
          </a:xfrm>
          <a:prstGeom prst="bentConnector2">
            <a:avLst/>
          </a:prstGeom>
          <a:ln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 bwMode="auto">
          <a:xfrm>
            <a:off x="9260913" y="4097869"/>
            <a:ext cx="1048440" cy="4286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owl:Thing</a:t>
            </a:r>
            <a:endParaRPr lang="fr-FR" sz="14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40" name="Forme 39"/>
          <p:cNvCxnSpPr>
            <a:cxnSpLocks/>
            <a:stCxn id="57" idx="2"/>
            <a:endCxn id="39" idx="0"/>
          </p:cNvCxnSpPr>
          <p:nvPr/>
        </p:nvCxnSpPr>
        <p:spPr bwMode="auto">
          <a:xfrm rot="5400000">
            <a:off x="9547320" y="3860054"/>
            <a:ext cx="475629" cy="127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/>
          <p:cNvSpPr txBox="1"/>
          <p:nvPr/>
        </p:nvSpPr>
        <p:spPr bwMode="auto">
          <a:xfrm>
            <a:off x="9192214" y="3712223"/>
            <a:ext cx="151229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200">
                <a:latin typeface="Century Gothic"/>
              </a:rPr>
              <a:t>is_exemplified_by</a:t>
            </a:r>
            <a:endParaRPr lang="en-US" sz="1200">
              <a:latin typeface="Century Gothic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4370624" y="1190511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4" name="Rectangle 53"/>
          <p:cNvSpPr/>
          <p:nvPr/>
        </p:nvSpPr>
        <p:spPr bwMode="auto">
          <a:xfrm>
            <a:off x="6848456" y="2202225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7" name="Rectangle 56"/>
          <p:cNvSpPr/>
          <p:nvPr/>
        </p:nvSpPr>
        <p:spPr bwMode="auto">
          <a:xfrm>
            <a:off x="9713695" y="347936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Rectangle 62"/>
          <p:cNvSpPr/>
          <p:nvPr/>
        </p:nvSpPr>
        <p:spPr bwMode="auto">
          <a:xfrm>
            <a:off x="2229274" y="5090748"/>
            <a:ext cx="2500330" cy="80648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LegalResource</a:t>
            </a: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>
              <a:buFont typeface="Arial"/>
              <a:buChar char="•"/>
              <a:defRPr/>
            </a:pPr>
            <a:r>
              <a:rPr lang="fr-FR" sz="1100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100">
                <a:solidFill>
                  <a:schemeClr val="tx1"/>
                </a:solidFill>
                <a:latin typeface="Century Gothic"/>
              </a:rPr>
              <a:t>id_local</a:t>
            </a:r>
            <a:endParaRPr lang="fr-FR" sz="11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64" name="Connecteur droit 63"/>
          <p:cNvCxnSpPr>
            <a:cxnSpLocks/>
          </p:cNvCxnSpPr>
          <p:nvPr/>
        </p:nvCxnSpPr>
        <p:spPr bwMode="auto">
          <a:xfrm>
            <a:off x="2229274" y="5519375"/>
            <a:ext cx="2500330" cy="1587"/>
          </a:xfrm>
          <a:prstGeom prst="line">
            <a:avLst/>
          </a:prstGeom>
          <a:solidFill>
            <a:srgbClr val="7030A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Rectangle 64"/>
          <p:cNvSpPr/>
          <p:nvPr/>
        </p:nvSpPr>
        <p:spPr bwMode="auto">
          <a:xfrm>
            <a:off x="4859779" y="5090748"/>
            <a:ext cx="2500330" cy="806481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LegalExpression</a:t>
            </a: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>
              <a:buFont typeface="Arial"/>
              <a:buChar char="•"/>
              <a:defRPr/>
            </a:pPr>
            <a:r>
              <a:rPr lang="fr-FR" sz="1100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100">
                <a:solidFill>
                  <a:schemeClr val="tx1"/>
                </a:solidFill>
                <a:latin typeface="Century Gothic"/>
              </a:rPr>
              <a:t>id_local</a:t>
            </a:r>
            <a:endParaRPr lang="fr-FR" sz="11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66" name="Connecteur droit 65"/>
          <p:cNvCxnSpPr>
            <a:cxnSpLocks/>
          </p:cNvCxnSpPr>
          <p:nvPr/>
        </p:nvCxnSpPr>
        <p:spPr bwMode="auto">
          <a:xfrm>
            <a:off x="4859779" y="5519375"/>
            <a:ext cx="2500330" cy="1587"/>
          </a:xfrm>
          <a:prstGeom prst="line">
            <a:avLst/>
          </a:prstGeom>
          <a:solidFill>
            <a:srgbClr val="7030A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Rectangle 66"/>
          <p:cNvSpPr/>
          <p:nvPr/>
        </p:nvSpPr>
        <p:spPr bwMode="auto">
          <a:xfrm>
            <a:off x="7810019" y="5081418"/>
            <a:ext cx="2500330" cy="81581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Format</a:t>
            </a:r>
            <a:endParaRPr/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>
              <a:buFont typeface="Arial"/>
              <a:buChar char="•"/>
              <a:defRPr/>
            </a:pPr>
            <a:r>
              <a:rPr lang="fr-FR" sz="1100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100">
                <a:solidFill>
                  <a:schemeClr val="tx1"/>
                </a:solidFill>
                <a:latin typeface="Century Gothic"/>
              </a:rPr>
              <a:t>id_local</a:t>
            </a:r>
            <a:endParaRPr lang="fr-FR" sz="11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68" name="Connecteur droit 67"/>
          <p:cNvCxnSpPr>
            <a:cxnSpLocks/>
          </p:cNvCxnSpPr>
          <p:nvPr/>
        </p:nvCxnSpPr>
        <p:spPr bwMode="auto">
          <a:xfrm>
            <a:off x="7810019" y="5510044"/>
            <a:ext cx="2500330" cy="1587"/>
          </a:xfrm>
          <a:prstGeom prst="line">
            <a:avLst/>
          </a:prstGeom>
          <a:solidFill>
            <a:srgbClr val="7030A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0" name="Rectangle 89"/>
          <p:cNvSpPr/>
          <p:nvPr/>
        </p:nvSpPr>
        <p:spPr bwMode="auto">
          <a:xfrm>
            <a:off x="5239595" y="6444044"/>
            <a:ext cx="1728000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owl:Thing</a:t>
            </a:r>
            <a:endParaRPr lang="fr-FR" sz="14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91" name="Forme 69"/>
          <p:cNvCxnSpPr>
            <a:cxnSpLocks/>
            <a:stCxn id="63" idx="2"/>
            <a:endCxn id="90" idx="0"/>
          </p:cNvCxnSpPr>
          <p:nvPr/>
        </p:nvCxnSpPr>
        <p:spPr bwMode="auto">
          <a:xfrm rot="16199998" flipH="1">
            <a:off x="4518110" y="4858559"/>
            <a:ext cx="546814" cy="262415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Forme 69"/>
          <p:cNvCxnSpPr>
            <a:cxnSpLocks/>
            <a:stCxn id="65" idx="2"/>
            <a:endCxn id="90" idx="0"/>
          </p:cNvCxnSpPr>
          <p:nvPr/>
        </p:nvCxnSpPr>
        <p:spPr bwMode="auto">
          <a:xfrm rot="5400000">
            <a:off x="5833362" y="6167461"/>
            <a:ext cx="546816" cy="635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Forme 69"/>
          <p:cNvCxnSpPr>
            <a:cxnSpLocks/>
            <a:stCxn id="67" idx="2"/>
            <a:endCxn id="90" idx="0"/>
          </p:cNvCxnSpPr>
          <p:nvPr/>
        </p:nvCxnSpPr>
        <p:spPr bwMode="auto">
          <a:xfrm rot="5400000">
            <a:off x="7308482" y="4692343"/>
            <a:ext cx="546816" cy="295658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ZoneTexte 107"/>
          <p:cNvSpPr txBox="1"/>
          <p:nvPr/>
        </p:nvSpPr>
        <p:spPr bwMode="auto">
          <a:xfrm>
            <a:off x="5580321" y="5967327"/>
            <a:ext cx="107194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200">
                <a:latin typeface="Century Gothic"/>
              </a:rPr>
              <a:t>uri_schema</a:t>
            </a:r>
            <a:endParaRPr lang="en-US" sz="1200">
              <a:latin typeface="Century Gothic"/>
            </a:endParaRPr>
          </a:p>
        </p:txBody>
      </p:sp>
      <p:sp>
        <p:nvSpPr>
          <p:cNvPr id="42" name="Google Shape;168;p26"/>
          <p:cNvSpPr/>
          <p:nvPr/>
        </p:nvSpPr>
        <p:spPr bwMode="auto">
          <a:xfrm rot="16199998">
            <a:off x="1627834" y="3049712"/>
            <a:ext cx="3668853" cy="250542"/>
          </a:xfrm>
          <a:prstGeom prst="rightArrow">
            <a:avLst>
              <a:gd name="adj1" fmla="val 50000"/>
              <a:gd name="adj2" fmla="val 111822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5" name="Google Shape;168;p26"/>
          <p:cNvSpPr/>
          <p:nvPr/>
        </p:nvSpPr>
        <p:spPr bwMode="auto">
          <a:xfrm rot="16199998">
            <a:off x="4737780" y="3551983"/>
            <a:ext cx="2664309" cy="250542"/>
          </a:xfrm>
          <a:prstGeom prst="rightArrow">
            <a:avLst>
              <a:gd name="adj1" fmla="val 50000"/>
              <a:gd name="adj2" fmla="val 111822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7" name="ZoneTexte 36"/>
          <p:cNvSpPr txBox="1"/>
          <p:nvPr/>
        </p:nvSpPr>
        <p:spPr bwMode="auto">
          <a:xfrm>
            <a:off x="6236472" y="2737996"/>
            <a:ext cx="14943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200">
                <a:latin typeface="Century Gothic"/>
              </a:rPr>
              <a:t>is_embodied_by</a:t>
            </a:r>
            <a:r>
              <a:rPr lang="fr-FR" sz="1200">
                <a:latin typeface="Century Gothic"/>
              </a:rPr>
              <a:t> / </a:t>
            </a:r>
            <a:r>
              <a:rPr lang="fr-FR" sz="1200">
                <a:latin typeface="Century Gothic"/>
              </a:rPr>
              <a:t>embodies</a:t>
            </a:r>
            <a:endParaRPr lang="en-US" sz="1200">
              <a:latin typeface="Century Gothic"/>
            </a:endParaRPr>
          </a:p>
        </p:txBody>
      </p:sp>
      <p:sp>
        <p:nvSpPr>
          <p:cNvPr id="46" name="Google Shape;168;p26"/>
          <p:cNvSpPr/>
          <p:nvPr/>
        </p:nvSpPr>
        <p:spPr bwMode="auto">
          <a:xfrm rot="16199998">
            <a:off x="8418750" y="4202692"/>
            <a:ext cx="1362891" cy="250542"/>
          </a:xfrm>
          <a:prstGeom prst="rightArrow">
            <a:avLst>
              <a:gd name="adj1" fmla="val 50000"/>
              <a:gd name="adj2" fmla="val 111822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1610234" y="2136846"/>
            <a:ext cx="1691035" cy="500066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ComplexWork</a:t>
            </a: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55" name="Google Shape;168;p26"/>
          <p:cNvSpPr/>
          <p:nvPr/>
        </p:nvSpPr>
        <p:spPr bwMode="auto">
          <a:xfrm rot="16199998">
            <a:off x="2111321" y="1586425"/>
            <a:ext cx="742279" cy="250542"/>
          </a:xfrm>
          <a:prstGeom prst="rightArrow">
            <a:avLst>
              <a:gd name="adj1" fmla="val 50000"/>
              <a:gd name="adj2" fmla="val 111822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cxnSp>
        <p:nvCxnSpPr>
          <p:cNvPr id="13" name="Connecteur droit 12"/>
          <p:cNvCxnSpPr>
            <a:cxnSpLocks/>
          </p:cNvCxnSpPr>
          <p:nvPr/>
        </p:nvCxnSpPr>
        <p:spPr bwMode="auto">
          <a:xfrm>
            <a:off x="1524000" y="4725144"/>
            <a:ext cx="91440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 bwMode="auto">
          <a:xfrm>
            <a:off x="2202629" y="116632"/>
            <a:ext cx="2513030" cy="4286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frbroo:F1_Work</a:t>
            </a:r>
            <a:endParaRPr/>
          </a:p>
        </p:txBody>
      </p:sp>
      <p:sp>
        <p:nvSpPr>
          <p:cNvPr id="58" name="Rectangle 57"/>
          <p:cNvSpPr/>
          <p:nvPr/>
        </p:nvSpPr>
        <p:spPr bwMode="auto">
          <a:xfrm>
            <a:off x="4845835" y="1186444"/>
            <a:ext cx="2500330" cy="4286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frbroo:F22_Self-Contained_Expression</a:t>
            </a:r>
            <a:endParaRPr/>
          </a:p>
        </p:txBody>
      </p:sp>
      <p:sp>
        <p:nvSpPr>
          <p:cNvPr id="59" name="Rectangle 58"/>
          <p:cNvSpPr/>
          <p:nvPr/>
        </p:nvSpPr>
        <p:spPr bwMode="auto">
          <a:xfrm>
            <a:off x="7796074" y="2414000"/>
            <a:ext cx="2513817" cy="4286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frbroo:F3_Manifestation_Product_Type</a:t>
            </a:r>
            <a:endParaRPr/>
          </a:p>
        </p:txBody>
      </p:sp>
      <p:sp>
        <p:nvSpPr>
          <p:cNvPr id="60" name="Google Shape;168;p26"/>
          <p:cNvSpPr/>
          <p:nvPr/>
        </p:nvSpPr>
        <p:spPr bwMode="auto">
          <a:xfrm rot="16199998">
            <a:off x="3303804" y="538056"/>
            <a:ext cx="310680" cy="250542"/>
          </a:xfrm>
          <a:prstGeom prst="rightArrow">
            <a:avLst>
              <a:gd name="adj1" fmla="val 50000"/>
              <a:gd name="adj2" fmla="val 81088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1" name="Google Shape;168;p26"/>
          <p:cNvSpPr/>
          <p:nvPr/>
        </p:nvSpPr>
        <p:spPr bwMode="auto">
          <a:xfrm rot="16199998">
            <a:off x="5900649" y="1602668"/>
            <a:ext cx="310680" cy="250542"/>
          </a:xfrm>
          <a:prstGeom prst="rightArrow">
            <a:avLst>
              <a:gd name="adj1" fmla="val 50000"/>
              <a:gd name="adj2" fmla="val 81088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2" name="Google Shape;168;p26"/>
          <p:cNvSpPr/>
          <p:nvPr/>
        </p:nvSpPr>
        <p:spPr bwMode="auto">
          <a:xfrm rot="16199998">
            <a:off x="8930910" y="2813440"/>
            <a:ext cx="310680" cy="250542"/>
          </a:xfrm>
          <a:prstGeom prst="rightArrow">
            <a:avLst>
              <a:gd name="adj1" fmla="val 50000"/>
              <a:gd name="adj2" fmla="val 81088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Rectangle 58"/>
          <p:cNvSpPr/>
          <p:nvPr/>
        </p:nvSpPr>
        <p:spPr bwMode="auto">
          <a:xfrm>
            <a:off x="7142239" y="336646"/>
            <a:ext cx="1285884" cy="172420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endParaRPr lang="en-US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3849422" y="3940491"/>
            <a:ext cx="2500330" cy="93610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Work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sz="1200">
                <a:solidFill>
                  <a:prstClr val="black"/>
                </a:solidFill>
                <a:latin typeface="Century Gothic"/>
              </a:rPr>
              <a:t> </a:t>
            </a:r>
            <a:r>
              <a:rPr lang="en-US" sz="1200">
                <a:solidFill>
                  <a:prstClr val="black"/>
                </a:solidFill>
                <a:latin typeface="Century Gothic"/>
              </a:rPr>
              <a:t>date_document</a:t>
            </a:r>
            <a:endParaRPr lang="en-US" sz="120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9" name="ZoneTexte 8"/>
          <p:cNvSpPr txBox="1"/>
          <p:nvPr/>
        </p:nvSpPr>
        <p:spPr bwMode="auto">
          <a:xfrm>
            <a:off x="8810643" y="6488691"/>
            <a:ext cx="1858075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b="1">
                <a:solidFill>
                  <a:srgbClr val="FF0000"/>
                </a:solidFill>
                <a:latin typeface="Century Gothic"/>
              </a:rPr>
              <a:t>V1.5</a:t>
            </a:r>
            <a:endParaRPr lang="en-US" b="1">
              <a:solidFill>
                <a:srgbClr val="FF0000"/>
              </a:solidFill>
              <a:latin typeface="Century Gothic"/>
            </a:endParaRPr>
          </a:p>
        </p:txBody>
      </p:sp>
      <p:sp>
        <p:nvSpPr>
          <p:cNvPr id="10" name="ZoneTexte 9"/>
          <p:cNvSpPr txBox="1"/>
          <p:nvPr/>
        </p:nvSpPr>
        <p:spPr bwMode="auto">
          <a:xfrm>
            <a:off x="1523999" y="6488667"/>
            <a:ext cx="5079985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/>
              <a:t>ELI : </a:t>
            </a:r>
            <a:r>
              <a:rPr lang="fr-FR"/>
              <a:t>generic</a:t>
            </a:r>
            <a:r>
              <a:rPr lang="fr-FR"/>
              <a:t> FRBR </a:t>
            </a:r>
            <a:r>
              <a:rPr lang="fr-FR"/>
              <a:t>level, Work and Expressions</a:t>
            </a:r>
            <a:endParaRPr lang="en-US"/>
          </a:p>
        </p:txBody>
      </p:sp>
      <p:sp>
        <p:nvSpPr>
          <p:cNvPr id="23" name="Rectangle 22"/>
          <p:cNvSpPr/>
          <p:nvPr/>
        </p:nvSpPr>
        <p:spPr bwMode="auto">
          <a:xfrm>
            <a:off x="3849422" y="4555043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4" name="Forme 23"/>
          <p:cNvCxnSpPr>
            <a:cxnSpLocks/>
            <a:stCxn id="23" idx="1"/>
            <a:endCxn id="2" idx="2"/>
          </p:cNvCxnSpPr>
          <p:nvPr/>
        </p:nvCxnSpPr>
        <p:spPr bwMode="auto">
          <a:xfrm rot="10800000" flipH="1" flipV="1">
            <a:off x="3849422" y="4626481"/>
            <a:ext cx="1250165" cy="250114"/>
          </a:xfrm>
          <a:prstGeom prst="bentConnector4">
            <a:avLst>
              <a:gd name="adj1" fmla="val -18286"/>
              <a:gd name="adj2" fmla="val 191398"/>
            </a:avLst>
          </a:prstGeom>
          <a:ln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 bwMode="auto">
          <a:xfrm>
            <a:off x="3431704" y="5127576"/>
            <a:ext cx="2643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has_part</a:t>
            </a:r>
            <a:r>
              <a:rPr lang="fr-FR" sz="1200">
                <a:latin typeface="Century Gothic"/>
              </a:rPr>
              <a:t> / </a:t>
            </a:r>
            <a:r>
              <a:rPr lang="fr-FR" sz="1200">
                <a:latin typeface="Century Gothic"/>
              </a:rPr>
              <a:t>is_part_of</a:t>
            </a:r>
            <a:endParaRPr lang="fr-FR" sz="1200">
              <a:latin typeface="Century Gothic"/>
            </a:endParaRPr>
          </a:p>
          <a:p>
            <a:pPr>
              <a:defRPr/>
            </a:pPr>
            <a:r>
              <a:rPr lang="fr-FR" sz="1200">
                <a:latin typeface="Century Gothic"/>
              </a:rPr>
              <a:t>has_member</a:t>
            </a:r>
            <a:r>
              <a:rPr lang="fr-FR" sz="1200">
                <a:latin typeface="Century Gothic"/>
              </a:rPr>
              <a:t> / </a:t>
            </a:r>
            <a:r>
              <a:rPr lang="fr-FR" sz="1200">
                <a:latin typeface="Century Gothic"/>
              </a:rPr>
              <a:t>is_member_of</a:t>
            </a:r>
            <a:endParaRPr lang="en-US" sz="1200">
              <a:latin typeface="Century Gothic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6206876" y="407707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" name="Rectangle 50"/>
          <p:cNvSpPr/>
          <p:nvPr/>
        </p:nvSpPr>
        <p:spPr bwMode="auto">
          <a:xfrm>
            <a:off x="1775520" y="3077509"/>
            <a:ext cx="1714512" cy="428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WorkType</a:t>
            </a: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52" name="Forme 69"/>
          <p:cNvCxnSpPr>
            <a:cxnSpLocks/>
            <a:stCxn id="2" idx="1"/>
            <a:endCxn id="51" idx="3"/>
          </p:cNvCxnSpPr>
          <p:nvPr/>
        </p:nvCxnSpPr>
        <p:spPr bwMode="auto">
          <a:xfrm rot="10800000">
            <a:off x="3490032" y="3291826"/>
            <a:ext cx="359390" cy="111671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ZoneTexte 54"/>
          <p:cNvSpPr txBox="1"/>
          <p:nvPr/>
        </p:nvSpPr>
        <p:spPr bwMode="auto">
          <a:xfrm>
            <a:off x="3632908" y="3006073"/>
            <a:ext cx="1785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work_type</a:t>
            </a:r>
            <a:r>
              <a:rPr lang="fr-FR" sz="1200">
                <a:latin typeface="Century Gothic"/>
              </a:rPr>
              <a:t> [1..*]</a:t>
            </a:r>
            <a:endParaRPr/>
          </a:p>
        </p:txBody>
      </p:sp>
      <p:sp>
        <p:nvSpPr>
          <p:cNvPr id="56" name="Rectangle 55"/>
          <p:cNvSpPr/>
          <p:nvPr/>
        </p:nvSpPr>
        <p:spPr bwMode="auto">
          <a:xfrm>
            <a:off x="5854680" y="330603"/>
            <a:ext cx="1285884" cy="17302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endParaRPr lang="en-US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5890415" y="330603"/>
            <a:ext cx="2500330" cy="17302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Work</a:t>
            </a:r>
            <a:endParaRPr/>
          </a:p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Or</a:t>
            </a:r>
            <a:endParaRPr/>
          </a:p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Expression</a:t>
            </a:r>
            <a:endParaRPr/>
          </a:p>
          <a:p>
            <a:pPr lvl="0">
              <a:defRPr/>
            </a:pPr>
            <a:endParaRPr lang="fr-FR" sz="1100">
              <a:solidFill>
                <a:prstClr val="black"/>
              </a:solidFill>
              <a:latin typeface="Century Gothic"/>
            </a:endParaRPr>
          </a:p>
          <a:p>
            <a:pPr lvl="0">
              <a:buFont typeface="Arial"/>
              <a:buChar char="•"/>
              <a:defRPr/>
            </a:pPr>
            <a:r>
              <a:rPr lang="fr-FR" sz="1100" b="0" i="0" u="none" strike="noStrike" cap="none" spc="0">
                <a:solidFill>
                  <a:prstClr val="black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fr-FR" sz="1100" b="0" i="0" u="none" strike="noStrike" cap="none" spc="0">
                <a:solidFill>
                  <a:prstClr val="black"/>
                </a:solidFill>
                <a:latin typeface="Century Gothic"/>
                <a:ea typeface="Century Gothic"/>
                <a:cs typeface="Century Gothic"/>
              </a:rPr>
              <a:t>number</a:t>
            </a:r>
            <a:endParaRPr lang="en-US" sz="110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60" name="Forme 109"/>
          <p:cNvCxnSpPr>
            <a:cxnSpLocks/>
            <a:stCxn id="62" idx="2"/>
            <a:endCxn id="58" idx="3"/>
          </p:cNvCxnSpPr>
          <p:nvPr/>
        </p:nvCxnSpPr>
        <p:spPr bwMode="auto">
          <a:xfrm rot="5399977" flipH="1" flipV="1">
            <a:off x="7768170" y="1434336"/>
            <a:ext cx="861184" cy="383964"/>
          </a:xfrm>
          <a:prstGeom prst="bentConnector4">
            <a:avLst>
              <a:gd name="adj1" fmla="val -34176"/>
              <a:gd name="adj2" fmla="val 159537"/>
            </a:avLst>
          </a:prstGeom>
          <a:ln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ZoneTexte 60"/>
          <p:cNvSpPr txBox="1"/>
          <p:nvPr/>
        </p:nvSpPr>
        <p:spPr bwMode="auto">
          <a:xfrm>
            <a:off x="8667767" y="980728"/>
            <a:ext cx="2143827" cy="1189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is_derivative_of</a:t>
            </a:r>
            <a:r>
              <a:rPr lang="fr-FR" sz="1200">
                <a:latin typeface="Century Gothic"/>
              </a:rPr>
              <a:t> /</a:t>
            </a:r>
            <a:endParaRPr/>
          </a:p>
          <a:p>
            <a:pPr>
              <a:defRPr/>
            </a:pPr>
            <a:r>
              <a:rPr lang="fr-FR" sz="1200">
                <a:latin typeface="Century Gothic"/>
              </a:rPr>
              <a:t>has_derivative</a:t>
            </a:r>
            <a:endParaRPr lang="fr-FR" sz="1200">
              <a:latin typeface="Century Gothic"/>
            </a:endParaRPr>
          </a:p>
          <a:p>
            <a:pPr>
              <a:defRPr/>
            </a:pPr>
            <a:r>
              <a:rPr lang="fr-FR" sz="1200">
                <a:latin typeface="Century Gothic"/>
              </a:rPr>
              <a:t>has_annex</a:t>
            </a:r>
            <a:r>
              <a:rPr lang="fr-FR" sz="1200">
                <a:latin typeface="Century Gothic"/>
              </a:rPr>
              <a:t> / </a:t>
            </a:r>
            <a:r>
              <a:rPr lang="fr-FR" sz="1200">
                <a:latin typeface="Century Gothic"/>
              </a:rPr>
              <a:t>is_annex_of</a:t>
            </a:r>
            <a:endParaRPr lang="fr-FR" sz="1200">
              <a:latin typeface="Century Gothic"/>
            </a:endParaRPr>
          </a:p>
          <a:p>
            <a:pPr>
              <a:defRPr/>
            </a:pPr>
            <a:r>
              <a:rPr lang="fr-FR" sz="1200">
                <a:latin typeface="Century Gothic"/>
              </a:rPr>
              <a:t>changed_by</a:t>
            </a:r>
            <a:r>
              <a:rPr lang="fr-FR" sz="1200">
                <a:latin typeface="Century Gothic"/>
              </a:rPr>
              <a:t> / changes</a:t>
            </a:r>
            <a:endParaRPr/>
          </a:p>
          <a:p>
            <a:pPr>
              <a:defRPr/>
            </a:pPr>
            <a:r>
              <a:rPr lang="fr-FR" sz="1200">
                <a:latin typeface="Century Gothic"/>
              </a:rPr>
              <a:t>corrects / </a:t>
            </a:r>
            <a:r>
              <a:rPr lang="fr-FR" sz="1200">
                <a:latin typeface="Century Gothic"/>
              </a:rPr>
              <a:t>corrected_by</a:t>
            </a:r>
            <a:r>
              <a:rPr lang="fr-FR" sz="1200">
                <a:latin typeface="Century Gothic"/>
              </a:rPr>
              <a:t>*</a:t>
            </a:r>
            <a:endParaRPr/>
          </a:p>
          <a:p>
            <a:pPr>
              <a:defRPr/>
            </a:pPr>
            <a:r>
              <a:rPr lang="fr-FR" sz="1200">
                <a:latin typeface="Century Gothic"/>
              </a:rPr>
              <a:t>amends</a:t>
            </a:r>
            <a:r>
              <a:rPr lang="fr-FR" sz="1200">
                <a:latin typeface="Century Gothic"/>
              </a:rPr>
              <a:t> / </a:t>
            </a:r>
            <a:r>
              <a:rPr lang="fr-FR" sz="1200">
                <a:latin typeface="Century Gothic"/>
              </a:rPr>
              <a:t>amended_by</a:t>
            </a:r>
            <a:endParaRPr lang="fr-FR" sz="1200">
              <a:latin typeface="Century Gothic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7935341" y="1914035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9" name="Forme 121"/>
          <p:cNvCxnSpPr>
            <a:cxnSpLocks/>
            <a:stCxn id="2" idx="3"/>
            <a:endCxn id="71" idx="2"/>
          </p:cNvCxnSpPr>
          <p:nvPr/>
        </p:nvCxnSpPr>
        <p:spPr bwMode="auto">
          <a:xfrm flipV="1">
            <a:off x="6349753" y="2060849"/>
            <a:ext cx="1201625" cy="2347695"/>
          </a:xfrm>
          <a:prstGeom prst="bentConnector2">
            <a:avLst/>
          </a:prstGeom>
          <a:ln>
            <a:solidFill>
              <a:schemeClr val="tx1"/>
            </a:solidFill>
            <a:headEnd type="none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Forme 59"/>
          <p:cNvCxnSpPr>
            <a:cxnSpLocks/>
            <a:stCxn id="58" idx="2"/>
            <a:endCxn id="44" idx="3"/>
          </p:cNvCxnSpPr>
          <p:nvPr/>
        </p:nvCxnSpPr>
        <p:spPr bwMode="auto">
          <a:xfrm rot="5400000">
            <a:off x="5701335" y="2709265"/>
            <a:ext cx="2087662" cy="790828"/>
          </a:xfrm>
          <a:prstGeom prst="bentConnector2">
            <a:avLst/>
          </a:prstGeom>
          <a:ln>
            <a:solidFill>
              <a:schemeClr val="tx1"/>
            </a:solidFill>
            <a:headEnd type="none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 bwMode="auto">
          <a:xfrm>
            <a:off x="7479939" y="191797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ZoneTexte 71"/>
          <p:cNvSpPr txBox="1"/>
          <p:nvPr/>
        </p:nvSpPr>
        <p:spPr bwMode="auto">
          <a:xfrm>
            <a:off x="7520024" y="3077740"/>
            <a:ext cx="10390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based_on</a:t>
            </a:r>
            <a:endParaRPr lang="fr-FR" sz="1200">
              <a:latin typeface="Century Gothic"/>
            </a:endParaRPr>
          </a:p>
        </p:txBody>
      </p:sp>
      <p:sp>
        <p:nvSpPr>
          <p:cNvPr id="73" name="ZoneTexte 72"/>
          <p:cNvSpPr txBox="1"/>
          <p:nvPr/>
        </p:nvSpPr>
        <p:spPr bwMode="auto">
          <a:xfrm>
            <a:off x="6123744" y="3088752"/>
            <a:ext cx="10390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200">
                <a:latin typeface="Century Gothic"/>
              </a:rPr>
              <a:t>basis_for</a:t>
            </a:r>
            <a:endParaRPr lang="fr-FR" sz="1200">
              <a:latin typeface="Century Gothic"/>
            </a:endParaRPr>
          </a:p>
        </p:txBody>
      </p:sp>
      <p:sp>
        <p:nvSpPr>
          <p:cNvPr id="74" name="ZoneTexte 73"/>
          <p:cNvSpPr txBox="1"/>
          <p:nvPr/>
        </p:nvSpPr>
        <p:spPr bwMode="auto">
          <a:xfrm>
            <a:off x="7810512" y="6581025"/>
            <a:ext cx="21431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050">
                <a:latin typeface="Century Gothic"/>
              </a:rPr>
              <a:t>* : </a:t>
            </a:r>
            <a:r>
              <a:rPr lang="fr-FR" sz="1050">
                <a:latin typeface="Century Gothic"/>
              </a:rPr>
              <a:t>also</a:t>
            </a:r>
            <a:r>
              <a:rPr lang="fr-FR" sz="1050">
                <a:latin typeface="Century Gothic"/>
              </a:rPr>
              <a:t> </a:t>
            </a:r>
            <a:r>
              <a:rPr lang="fr-FR" sz="1050">
                <a:latin typeface="Century Gothic"/>
              </a:rPr>
              <a:t>applies</a:t>
            </a:r>
            <a:r>
              <a:rPr lang="fr-FR" sz="1050">
                <a:latin typeface="Century Gothic"/>
              </a:rPr>
              <a:t> to Format</a:t>
            </a:r>
            <a:endParaRPr/>
          </a:p>
        </p:txBody>
      </p:sp>
      <p:sp>
        <p:nvSpPr>
          <p:cNvPr id="75" name="Google Shape;168;p26"/>
          <p:cNvSpPr/>
          <p:nvPr/>
        </p:nvSpPr>
        <p:spPr bwMode="auto">
          <a:xfrm rot="18075979">
            <a:off x="4699360" y="2855571"/>
            <a:ext cx="2009707" cy="250542"/>
          </a:xfrm>
          <a:prstGeom prst="rightArrow">
            <a:avLst>
              <a:gd name="adj1" fmla="val 50000"/>
              <a:gd name="adj2" fmla="val 81088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1881158" y="214290"/>
            <a:ext cx="1785950" cy="4286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skos:Concept</a:t>
            </a:r>
            <a:endParaRPr lang="fr-FR" sz="14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26" name="Forme 69"/>
          <p:cNvCxnSpPr>
            <a:cxnSpLocks/>
            <a:stCxn id="2" idx="1"/>
            <a:endCxn id="25" idx="1"/>
          </p:cNvCxnSpPr>
          <p:nvPr/>
        </p:nvCxnSpPr>
        <p:spPr bwMode="auto">
          <a:xfrm rot="10800000">
            <a:off x="1881158" y="428606"/>
            <a:ext cx="1968264" cy="3979939"/>
          </a:xfrm>
          <a:prstGeom prst="bentConnector3">
            <a:avLst>
              <a:gd name="adj1" fmla="val 111614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/>
          <p:cNvSpPr txBox="1"/>
          <p:nvPr/>
        </p:nvSpPr>
        <p:spPr bwMode="auto">
          <a:xfrm>
            <a:off x="1706331" y="1500334"/>
            <a:ext cx="1428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is_about</a:t>
            </a:r>
            <a:endParaRPr lang="en-US" sz="1200">
              <a:latin typeface="Century Gothic"/>
            </a:endParaRPr>
          </a:p>
        </p:txBody>
      </p:sp>
      <p:sp>
        <p:nvSpPr>
          <p:cNvPr id="1588562677" name="Rectangle 52"/>
          <p:cNvSpPr/>
          <p:nvPr/>
        </p:nvSpPr>
        <p:spPr bwMode="auto">
          <a:xfrm>
            <a:off x="10309789" y="336645"/>
            <a:ext cx="1728000" cy="42862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owl:Thing</a:t>
            </a:r>
            <a:endParaRPr lang="fr-FR" sz="14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1639856898" name="Forme 109"/>
          <p:cNvCxnSpPr>
            <a:cxnSpLocks/>
            <a:stCxn id="1588562677" idx="1"/>
            <a:endCxn id="2066465083" idx="3"/>
          </p:cNvCxnSpPr>
          <p:nvPr/>
        </p:nvCxnSpPr>
        <p:spPr bwMode="auto">
          <a:xfrm rot="10799989" flipH="0" flipV="1">
            <a:off x="8369331" y="558372"/>
            <a:ext cx="1940457" cy="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6465083" name="Rectangle 61"/>
          <p:cNvSpPr/>
          <p:nvPr/>
        </p:nvSpPr>
        <p:spPr bwMode="auto">
          <a:xfrm>
            <a:off x="8226455" y="494347"/>
            <a:ext cx="142875" cy="142875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32027797" name="ZoneTexte 71"/>
          <p:cNvSpPr txBox="1"/>
          <p:nvPr/>
        </p:nvSpPr>
        <p:spPr bwMode="auto">
          <a:xfrm flipH="0" flipV="0">
            <a:off x="8621529" y="315967"/>
            <a:ext cx="1468446" cy="4575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refers_to / is_referred_to_by</a:t>
            </a:r>
            <a:endParaRPr lang="fr-FR" sz="1200">
              <a:latin typeface="Century Gothic"/>
            </a:endParaRPr>
          </a:p>
        </p:txBody>
      </p:sp>
      <p:cxnSp>
        <p:nvCxnSpPr>
          <p:cNvPr id="691961625" name="Forme 69"/>
          <p:cNvCxnSpPr>
            <a:cxnSpLocks/>
            <a:stCxn id="1357688323" idx="2"/>
            <a:endCxn id="1227814439" idx="0"/>
          </p:cNvCxnSpPr>
          <p:nvPr/>
        </p:nvCxnSpPr>
        <p:spPr bwMode="auto">
          <a:xfrm rot="5399977" flipH="0" flipV="0">
            <a:off x="9843277" y="5308437"/>
            <a:ext cx="781636" cy="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3221897" name="ZoneTexte 27"/>
          <p:cNvSpPr txBox="1"/>
          <p:nvPr/>
        </p:nvSpPr>
        <p:spPr bwMode="auto">
          <a:xfrm>
            <a:off x="9595243" y="5127575"/>
            <a:ext cx="1429087" cy="27467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language</a:t>
            </a:r>
            <a:r>
              <a:rPr lang="fr-FR" sz="1200">
                <a:latin typeface="Century Gothic"/>
              </a:rPr>
              <a:t> [1..*]</a:t>
            </a:r>
            <a:endParaRPr/>
          </a:p>
        </p:txBody>
      </p:sp>
      <p:sp>
        <p:nvSpPr>
          <p:cNvPr id="1227814439" name="Rectangle 31"/>
          <p:cNvSpPr/>
          <p:nvPr/>
        </p:nvSpPr>
        <p:spPr bwMode="auto">
          <a:xfrm>
            <a:off x="9370095" y="5699256"/>
            <a:ext cx="1728000" cy="428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Language</a:t>
            </a: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1357688323" name="Rectangle 52"/>
          <p:cNvSpPr/>
          <p:nvPr/>
        </p:nvSpPr>
        <p:spPr bwMode="auto">
          <a:xfrm flipH="0" flipV="0">
            <a:off x="8983930" y="3704760"/>
            <a:ext cx="2500329" cy="1212858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Expression</a:t>
            </a:r>
            <a:endParaRPr/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 lvl="0">
              <a:buFont typeface="Arial"/>
              <a:buChar char="•"/>
              <a:defRPr/>
            </a:pPr>
            <a:r>
              <a:rPr lang="en-US" sz="1200">
                <a:solidFill>
                  <a:prstClr val="black"/>
                </a:solidFill>
                <a:latin typeface="Century Gothic"/>
              </a:rPr>
              <a:t> title </a:t>
            </a:r>
            <a:r>
              <a:rPr lang="fr-FR" sz="1200">
                <a:solidFill>
                  <a:prstClr val="black"/>
                </a:solidFill>
                <a:latin typeface="Century Gothic"/>
              </a:rPr>
              <a:t>[1..*]</a:t>
            </a:r>
            <a:endParaRPr lang="en-US" sz="1200">
              <a:solidFill>
                <a:prstClr val="black"/>
              </a:solidFill>
              <a:latin typeface="Century Gothic"/>
            </a:endParaRPr>
          </a:p>
          <a:p>
            <a:pPr lvl="0">
              <a:buFont typeface="Arial"/>
              <a:buChar char="•"/>
              <a:defRPr/>
            </a:pPr>
            <a:r>
              <a:rPr lang="en-US" sz="1200">
                <a:solidFill>
                  <a:prstClr val="black"/>
                </a:solidFill>
                <a:latin typeface="Century Gothic"/>
              </a:rPr>
              <a:t> </a:t>
            </a:r>
            <a:r>
              <a:rPr lang="en-US" sz="1200">
                <a:solidFill>
                  <a:prstClr val="black"/>
                </a:solidFill>
                <a:latin typeface="Century Gothic"/>
              </a:rPr>
              <a:t>title_short</a:t>
            </a:r>
            <a:endParaRPr lang="en-US" sz="1200">
              <a:solidFill>
                <a:prstClr val="black"/>
              </a:solidFill>
              <a:latin typeface="Century Gothic"/>
            </a:endParaRPr>
          </a:p>
          <a:p>
            <a:pPr lvl="0">
              <a:buFont typeface="Arial"/>
              <a:buChar char="•"/>
              <a:defRPr/>
            </a:pPr>
            <a:r>
              <a:rPr lang="en-US" sz="1200">
                <a:solidFill>
                  <a:prstClr val="black"/>
                </a:solidFill>
                <a:latin typeface="Century Gothic"/>
              </a:rPr>
              <a:t> </a:t>
            </a:r>
            <a:r>
              <a:rPr lang="en-US" sz="1200">
                <a:solidFill>
                  <a:prstClr val="black"/>
                </a:solidFill>
                <a:latin typeface="Century Gothic"/>
              </a:rPr>
              <a:t>title_alternative</a:t>
            </a:r>
            <a:endParaRPr lang="fr-FR" sz="1200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1274941798" name="Google Shape;168;p26"/>
          <p:cNvSpPr/>
          <p:nvPr/>
        </p:nvSpPr>
        <p:spPr bwMode="auto">
          <a:xfrm rot="14947459" flipH="0" flipV="0">
            <a:off x="7792584" y="2776564"/>
            <a:ext cx="1623972" cy="249300"/>
          </a:xfrm>
          <a:prstGeom prst="rightArrow">
            <a:avLst>
              <a:gd name="adj1" fmla="val 50000"/>
              <a:gd name="adj2" fmla="val 81088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" name="Rectangle 53"/>
          <p:cNvSpPr/>
          <p:nvPr/>
        </p:nvSpPr>
        <p:spPr bwMode="auto">
          <a:xfrm flipH="0" flipV="0">
            <a:off x="7024693" y="1071545"/>
            <a:ext cx="1211595" cy="250032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endParaRPr lang="en-US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5738810" y="1071546"/>
            <a:ext cx="1285884" cy="250033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endParaRPr lang="en-US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5756136" y="4799657"/>
            <a:ext cx="2500330" cy="1643073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LegalResource</a:t>
            </a: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>
              <a:buFont typeface="Arial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Century Gothic"/>
              </a:rPr>
              <a:t> </a:t>
            </a:r>
            <a:r>
              <a:rPr lang="en-US" sz="1200">
                <a:solidFill>
                  <a:schemeClr val="tx1"/>
                </a:solidFill>
                <a:latin typeface="Century Gothic"/>
              </a:rPr>
              <a:t>responsibility_of</a:t>
            </a:r>
            <a:endParaRPr lang="en-US" sz="1200">
              <a:solidFill>
                <a:schemeClr val="tx1"/>
              </a:solidFill>
              <a:latin typeface="Century Gothic"/>
            </a:endParaRPr>
          </a:p>
          <a:p>
            <a:pPr>
              <a:buFont typeface="Arial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Century Gothic"/>
              </a:rPr>
              <a:t> </a:t>
            </a:r>
            <a:r>
              <a:rPr lang="en-US" sz="1200">
                <a:solidFill>
                  <a:schemeClr val="tx1"/>
                </a:solidFill>
                <a:latin typeface="Century Gothic"/>
              </a:rPr>
              <a:t>date_publication</a:t>
            </a: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3" name="Connecteur droit 2"/>
          <p:cNvCxnSpPr>
            <a:cxnSpLocks/>
          </p:cNvCxnSpPr>
          <p:nvPr/>
        </p:nvCxnSpPr>
        <p:spPr bwMode="auto">
          <a:xfrm>
            <a:off x="5756136" y="5217006"/>
            <a:ext cx="2500330" cy="1587"/>
          </a:xfrm>
          <a:prstGeom prst="lin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ZoneTexte 8"/>
          <p:cNvSpPr txBox="1"/>
          <p:nvPr/>
        </p:nvSpPr>
        <p:spPr bwMode="auto">
          <a:xfrm>
            <a:off x="8810643" y="6488691"/>
            <a:ext cx="1858075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b="1">
                <a:solidFill>
                  <a:srgbClr val="FF0000"/>
                </a:solidFill>
                <a:latin typeface="Century Gothic"/>
              </a:rPr>
              <a:t>V1.5</a:t>
            </a:r>
            <a:endParaRPr lang="en-US" b="1">
              <a:solidFill>
                <a:srgbClr val="FF0000"/>
              </a:solidFill>
              <a:latin typeface="Century Gothic"/>
            </a:endParaRPr>
          </a:p>
        </p:txBody>
      </p:sp>
      <p:sp>
        <p:nvSpPr>
          <p:cNvPr id="10" name="ZoneTexte 9"/>
          <p:cNvSpPr txBox="1"/>
          <p:nvPr/>
        </p:nvSpPr>
        <p:spPr bwMode="auto">
          <a:xfrm>
            <a:off x="1524000" y="6488668"/>
            <a:ext cx="5072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/>
              <a:t>ELI : </a:t>
            </a:r>
            <a:r>
              <a:rPr lang="fr-FR"/>
              <a:t>LegalResource</a:t>
            </a:r>
            <a:r>
              <a:rPr lang="fr-FR"/>
              <a:t> </a:t>
            </a:r>
            <a:r>
              <a:rPr lang="fr-FR"/>
              <a:t>level</a:t>
            </a:r>
            <a:endParaRPr lang="en-US"/>
          </a:p>
        </p:txBody>
      </p:sp>
      <p:sp>
        <p:nvSpPr>
          <p:cNvPr id="28" name="Rectangle 27"/>
          <p:cNvSpPr/>
          <p:nvPr/>
        </p:nvSpPr>
        <p:spPr bwMode="auto">
          <a:xfrm>
            <a:off x="1881157" y="815382"/>
            <a:ext cx="1785950" cy="4286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skos:Concept</a:t>
            </a:r>
            <a:endParaRPr lang="fr-FR" sz="14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49" name="Forme 48"/>
          <p:cNvCxnSpPr>
            <a:cxnSpLocks/>
            <a:stCxn id="63" idx="2"/>
            <a:endCxn id="55" idx="3"/>
          </p:cNvCxnSpPr>
          <p:nvPr/>
        </p:nvCxnSpPr>
        <p:spPr bwMode="auto">
          <a:xfrm rot="5400000" flipH="1" flipV="1">
            <a:off x="7827823" y="6014086"/>
            <a:ext cx="500065" cy="357222"/>
          </a:xfrm>
          <a:prstGeom prst="bentConnector4">
            <a:avLst>
              <a:gd name="adj1" fmla="val -45714"/>
              <a:gd name="adj2" fmla="val 163994"/>
            </a:avLst>
          </a:prstGeom>
          <a:ln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ZoneTexte 51"/>
          <p:cNvSpPr txBox="1"/>
          <p:nvPr/>
        </p:nvSpPr>
        <p:spPr bwMode="auto">
          <a:xfrm>
            <a:off x="5239723" y="261445"/>
            <a:ext cx="1785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200">
                <a:latin typeface="Century Gothic"/>
              </a:rPr>
              <a:t>related_to</a:t>
            </a:r>
            <a:endParaRPr lang="fr-FR" sz="1200">
              <a:latin typeface="Century Gothic"/>
            </a:endParaRPr>
          </a:p>
          <a:p>
            <a:pPr algn="r">
              <a:defRPr/>
            </a:pPr>
            <a:r>
              <a:rPr lang="fr-FR" sz="1200">
                <a:latin typeface="Century Gothic"/>
              </a:rPr>
              <a:t>cites / </a:t>
            </a:r>
            <a:r>
              <a:rPr lang="fr-FR" sz="1200">
                <a:latin typeface="Century Gothic"/>
              </a:rPr>
              <a:t>cites_by</a:t>
            </a:r>
            <a:endParaRPr lang="fr-FR" sz="1200">
              <a:latin typeface="Century Gothic"/>
            </a:endParaRPr>
          </a:p>
          <a:p>
            <a:pPr algn="r">
              <a:defRPr/>
            </a:pPr>
            <a:r>
              <a:rPr lang="fr-FR" sz="1200">
                <a:latin typeface="Century Gothic"/>
              </a:rPr>
              <a:t>cited_by_case_law</a:t>
            </a:r>
            <a:endParaRPr lang="en-US" sz="1200">
              <a:latin typeface="Century Gothic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7868430" y="461641"/>
            <a:ext cx="1728000" cy="4286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owl:Thing</a:t>
            </a:r>
            <a:endParaRPr lang="fr-FR" sz="14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7827806" y="6299853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5" name="Forme 69"/>
          <p:cNvCxnSpPr>
            <a:cxnSpLocks/>
            <a:stCxn id="98" idx="0"/>
            <a:endCxn id="53" idx="1"/>
          </p:cNvCxnSpPr>
          <p:nvPr/>
        </p:nvCxnSpPr>
        <p:spPr bwMode="auto">
          <a:xfrm rot="5400000" flipH="1" flipV="1">
            <a:off x="7229483" y="432600"/>
            <a:ext cx="395591" cy="882305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ZoneTexte 68"/>
          <p:cNvSpPr txBox="1"/>
          <p:nvPr/>
        </p:nvSpPr>
        <p:spPr bwMode="auto">
          <a:xfrm>
            <a:off x="8497225" y="6140459"/>
            <a:ext cx="2357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is_another_publication_of</a:t>
            </a:r>
            <a:r>
              <a:rPr lang="fr-FR" sz="1200">
                <a:latin typeface="Century Gothic"/>
              </a:rPr>
              <a:t> / </a:t>
            </a:r>
            <a:r>
              <a:rPr lang="fr-FR" sz="1200">
                <a:latin typeface="Century Gothic"/>
              </a:rPr>
              <a:t>has_another_publication</a:t>
            </a:r>
            <a:endParaRPr lang="fr-FR" sz="1200">
              <a:latin typeface="Century Gothic"/>
            </a:endParaRPr>
          </a:p>
        </p:txBody>
      </p:sp>
      <p:sp>
        <p:nvSpPr>
          <p:cNvPr id="98" name="Rectangle 97"/>
          <p:cNvSpPr/>
          <p:nvPr/>
        </p:nvSpPr>
        <p:spPr bwMode="auto">
          <a:xfrm>
            <a:off x="5735960" y="1071546"/>
            <a:ext cx="2500330" cy="2500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LegalResource</a:t>
            </a: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Or</a:t>
            </a:r>
            <a:endParaRPr/>
          </a:p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LegalExpression</a:t>
            </a: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 lvl="0">
              <a:buFont typeface="Arial"/>
              <a:buChar char="•"/>
              <a:defRPr/>
            </a:pPr>
            <a:r>
              <a:rPr lang="fr-FR" sz="1100">
                <a:solidFill>
                  <a:prstClr val="black"/>
                </a:solidFill>
                <a:latin typeface="Century Gothic"/>
              </a:rPr>
              <a:t> description</a:t>
            </a:r>
            <a:endParaRPr/>
          </a:p>
          <a:p>
            <a:pPr lvl="0">
              <a:buFont typeface="Arial"/>
              <a:buChar char="•"/>
              <a:defRPr/>
            </a:pPr>
            <a:r>
              <a:rPr lang="fr-FR" sz="1100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100">
                <a:solidFill>
                  <a:prstClr val="black"/>
                </a:solidFill>
                <a:latin typeface="Century Gothic"/>
              </a:rPr>
              <a:t>version_date</a:t>
            </a:r>
            <a:endParaRPr lang="fr-FR" sz="1100">
              <a:solidFill>
                <a:prstClr val="black"/>
              </a:solidFill>
              <a:latin typeface="Century Gothic"/>
            </a:endParaRPr>
          </a:p>
          <a:p>
            <a:pPr>
              <a:buFont typeface="Arial"/>
              <a:buChar char="•"/>
              <a:defRPr/>
            </a:pPr>
            <a:r>
              <a:rPr lang="en-US" sz="1100">
                <a:solidFill>
                  <a:schemeClr val="tx1"/>
                </a:solidFill>
                <a:latin typeface="Century Gothic"/>
              </a:rPr>
              <a:t> </a:t>
            </a:r>
            <a:r>
              <a:rPr lang="en-US" sz="1100">
                <a:solidFill>
                  <a:schemeClr val="tx1"/>
                </a:solidFill>
                <a:latin typeface="Century Gothic"/>
              </a:rPr>
              <a:t>first_date_entry_in_force</a:t>
            </a:r>
            <a:endParaRPr lang="en-US" sz="1100">
              <a:solidFill>
                <a:schemeClr val="tx1"/>
              </a:solidFill>
              <a:latin typeface="Century Gothic"/>
            </a:endParaRPr>
          </a:p>
          <a:p>
            <a:pPr>
              <a:buFont typeface="Arial"/>
              <a:buChar char="•"/>
              <a:defRPr/>
            </a:pPr>
            <a:r>
              <a:rPr lang="en-US" sz="1100">
                <a:solidFill>
                  <a:schemeClr val="tx1"/>
                </a:solidFill>
                <a:latin typeface="Century Gothic"/>
              </a:rPr>
              <a:t> </a:t>
            </a:r>
            <a:r>
              <a:rPr lang="en-US" sz="1100">
                <a:solidFill>
                  <a:schemeClr val="tx1"/>
                </a:solidFill>
                <a:latin typeface="Century Gothic"/>
              </a:rPr>
              <a:t>date_no_longer_in_force</a:t>
            </a:r>
            <a:endParaRPr lang="en-US" sz="1100">
              <a:solidFill>
                <a:schemeClr val="tx1"/>
              </a:solidFill>
              <a:latin typeface="Century Gothic"/>
            </a:endParaRPr>
          </a:p>
          <a:p>
            <a:pPr>
              <a:buFont typeface="Arial"/>
              <a:buChar char="•"/>
              <a:defRPr/>
            </a:pPr>
            <a:r>
              <a:rPr lang="fr-FR" sz="1100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100">
                <a:solidFill>
                  <a:schemeClr val="tx1"/>
                </a:solidFill>
                <a:latin typeface="Century Gothic"/>
              </a:rPr>
              <a:t>date_applicability</a:t>
            </a:r>
            <a:endParaRPr lang="fr-FR" sz="1100">
              <a:solidFill>
                <a:schemeClr val="tx1"/>
              </a:solidFill>
              <a:latin typeface="Century Gothic"/>
            </a:endParaRPr>
          </a:p>
          <a:p>
            <a:pPr>
              <a:buFont typeface="Arial"/>
              <a:buChar char="•"/>
              <a:defRPr/>
            </a:pPr>
            <a:r>
              <a:rPr lang="fr-FR" sz="1100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100">
                <a:solidFill>
                  <a:schemeClr val="tx1"/>
                </a:solidFill>
                <a:latin typeface="Century Gothic"/>
              </a:rPr>
              <a:t>cited_by_case_law_reference</a:t>
            </a:r>
            <a:endParaRPr lang="en-US" sz="1100">
              <a:solidFill>
                <a:schemeClr val="tx1"/>
              </a:solidFill>
              <a:latin typeface="Century Gothic"/>
            </a:endParaRPr>
          </a:p>
          <a:p>
            <a:pPr lvl="0">
              <a:buFont typeface="Arial"/>
              <a:buChar char="•"/>
              <a:defRPr/>
            </a:pPr>
            <a:endParaRPr lang="en-US" sz="110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105" name="Rectangle 104"/>
          <p:cNvSpPr/>
          <p:nvPr/>
        </p:nvSpPr>
        <p:spPr bwMode="auto">
          <a:xfrm>
            <a:off x="7564340" y="3436695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7" name="Rectangle 106"/>
          <p:cNvSpPr/>
          <p:nvPr/>
        </p:nvSpPr>
        <p:spPr bwMode="auto">
          <a:xfrm>
            <a:off x="6096000" y="342900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0" name="Forme 109"/>
          <p:cNvCxnSpPr>
            <a:cxnSpLocks/>
            <a:stCxn id="48" idx="2"/>
            <a:endCxn id="98" idx="3"/>
          </p:cNvCxnSpPr>
          <p:nvPr/>
        </p:nvCxnSpPr>
        <p:spPr bwMode="auto">
          <a:xfrm rot="5400000" flipH="1" flipV="1">
            <a:off x="7491008" y="2834290"/>
            <a:ext cx="1257860" cy="232703"/>
          </a:xfrm>
          <a:prstGeom prst="bentConnector4">
            <a:avLst>
              <a:gd name="adj1" fmla="val -18174"/>
              <a:gd name="adj2" fmla="val 198237"/>
            </a:avLst>
          </a:prstGeom>
          <a:ln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ZoneTexte 113"/>
          <p:cNvSpPr txBox="1"/>
          <p:nvPr/>
        </p:nvSpPr>
        <p:spPr bwMode="auto">
          <a:xfrm>
            <a:off x="8500557" y="2521340"/>
            <a:ext cx="21431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consolidates</a:t>
            </a:r>
            <a:r>
              <a:rPr lang="fr-FR" sz="1200">
                <a:latin typeface="Century Gothic"/>
              </a:rPr>
              <a:t> / </a:t>
            </a:r>
            <a:r>
              <a:rPr lang="fr-FR" sz="1200">
                <a:latin typeface="Century Gothic"/>
              </a:rPr>
              <a:t>consolidated_by</a:t>
            </a:r>
            <a:r>
              <a:rPr lang="fr-FR" sz="1200">
                <a:latin typeface="Century Gothic"/>
              </a:rPr>
              <a:t> </a:t>
            </a:r>
            <a:endParaRPr/>
          </a:p>
          <a:p>
            <a:pPr>
              <a:defRPr/>
            </a:pPr>
            <a:r>
              <a:rPr lang="fr-FR" sz="1200">
                <a:latin typeface="Century Gothic"/>
              </a:rPr>
              <a:t>commences / </a:t>
            </a:r>
            <a:r>
              <a:rPr lang="fr-FR" sz="1200">
                <a:latin typeface="Century Gothic"/>
              </a:rPr>
              <a:t>commenced_by</a:t>
            </a:r>
            <a:endParaRPr lang="fr-FR" sz="1200">
              <a:latin typeface="Century Gothic"/>
            </a:endParaRPr>
          </a:p>
          <a:p>
            <a:pPr>
              <a:defRPr/>
            </a:pPr>
            <a:r>
              <a:rPr lang="fr-FR" sz="1200">
                <a:latin typeface="Century Gothic"/>
              </a:rPr>
              <a:t>repeals</a:t>
            </a:r>
            <a:r>
              <a:rPr lang="fr-FR" sz="1200">
                <a:latin typeface="Century Gothic"/>
              </a:rPr>
              <a:t> / </a:t>
            </a:r>
            <a:r>
              <a:rPr lang="fr-FR" sz="1200">
                <a:latin typeface="Century Gothic"/>
              </a:rPr>
              <a:t>repealed_by</a:t>
            </a:r>
            <a:endParaRPr lang="fr-FR" sz="1200">
              <a:latin typeface="Century Gothic"/>
            </a:endParaRPr>
          </a:p>
        </p:txBody>
      </p:sp>
      <p:cxnSp>
        <p:nvCxnSpPr>
          <p:cNvPr id="122" name="Forme 121"/>
          <p:cNvCxnSpPr>
            <a:cxnSpLocks/>
            <a:stCxn id="64" idx="0"/>
            <a:endCxn id="105" idx="2"/>
          </p:cNvCxnSpPr>
          <p:nvPr/>
        </p:nvCxnSpPr>
        <p:spPr bwMode="auto">
          <a:xfrm rot="16199969" flipH="0" flipV="0">
            <a:off x="7021455" y="4189613"/>
            <a:ext cx="1220086" cy="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 droit 127"/>
          <p:cNvCxnSpPr>
            <a:cxnSpLocks/>
          </p:cNvCxnSpPr>
          <p:nvPr/>
        </p:nvCxnSpPr>
        <p:spPr bwMode="auto">
          <a:xfrm>
            <a:off x="5728307" y="1928801"/>
            <a:ext cx="2500330" cy="1587"/>
          </a:xfrm>
          <a:prstGeom prst="lin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1" name="Rectangle 40"/>
          <p:cNvSpPr/>
          <p:nvPr/>
        </p:nvSpPr>
        <p:spPr bwMode="auto">
          <a:xfrm>
            <a:off x="5774544" y="4939116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3" name="Forme 69"/>
          <p:cNvCxnSpPr>
            <a:cxnSpLocks/>
            <a:stCxn id="2" idx="1"/>
            <a:endCxn id="58" idx="3"/>
          </p:cNvCxnSpPr>
          <p:nvPr/>
        </p:nvCxnSpPr>
        <p:spPr bwMode="auto">
          <a:xfrm rot="10799989" flipH="0" flipV="1">
            <a:off x="3667107" y="5621342"/>
            <a:ext cx="2089028" cy="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ZoneTexte 46"/>
          <p:cNvSpPr txBox="1"/>
          <p:nvPr/>
        </p:nvSpPr>
        <p:spPr bwMode="auto">
          <a:xfrm>
            <a:off x="3747225" y="5724960"/>
            <a:ext cx="192879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200">
                <a:latin typeface="Century Gothic"/>
              </a:rPr>
              <a:t>passed_by</a:t>
            </a:r>
            <a:endParaRPr lang="fr-FR" sz="1200">
              <a:latin typeface="Century Gothic"/>
            </a:endParaRPr>
          </a:p>
          <a:p>
            <a:pPr algn="r">
              <a:defRPr/>
            </a:pPr>
            <a:r>
              <a:rPr lang="fr-FR" sz="1200">
                <a:latin typeface="Century Gothic"/>
              </a:rPr>
              <a:t>countersigned_by</a:t>
            </a:r>
            <a:endParaRPr lang="fr-FR" sz="1200">
              <a:latin typeface="Century Gothic"/>
            </a:endParaRPr>
          </a:p>
          <a:p>
            <a:pPr algn="r">
              <a:defRPr/>
            </a:pPr>
            <a:r>
              <a:rPr lang="fr-FR" sz="1200">
                <a:latin typeface="Century Gothic"/>
              </a:rPr>
              <a:t>responsibility_of_agent</a:t>
            </a:r>
            <a:endParaRPr lang="fr-FR" sz="1200">
              <a:latin typeface="Century Gothic"/>
            </a:endParaRPr>
          </a:p>
        </p:txBody>
      </p:sp>
      <p:cxnSp>
        <p:nvCxnSpPr>
          <p:cNvPr id="51" name="Forme 69"/>
          <p:cNvCxnSpPr>
            <a:cxnSpLocks/>
            <a:stCxn id="98" idx="1"/>
            <a:endCxn id="38" idx="3"/>
          </p:cNvCxnSpPr>
          <p:nvPr/>
        </p:nvCxnSpPr>
        <p:spPr bwMode="auto">
          <a:xfrm rot="10799989" flipH="0" flipV="1">
            <a:off x="3667107" y="2321710"/>
            <a:ext cx="2068851" cy="42249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 bwMode="auto">
          <a:xfrm>
            <a:off x="8113590" y="5871227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9" name="ZoneTexte 58"/>
          <p:cNvSpPr txBox="1"/>
          <p:nvPr/>
        </p:nvSpPr>
        <p:spPr bwMode="auto">
          <a:xfrm>
            <a:off x="7635777" y="3928064"/>
            <a:ext cx="278608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applied_by</a:t>
            </a:r>
            <a:endParaRPr lang="fr-FR" sz="1200">
              <a:latin typeface="Century Gothic"/>
            </a:endParaRPr>
          </a:p>
          <a:p>
            <a:pPr>
              <a:defRPr/>
            </a:pPr>
            <a:r>
              <a:rPr lang="fr-FR" sz="1200">
                <a:latin typeface="Century Gothic"/>
              </a:rPr>
              <a:t>transposed_by</a:t>
            </a:r>
            <a:endParaRPr lang="fr-FR" sz="1200">
              <a:latin typeface="Century Gothic"/>
            </a:endParaRPr>
          </a:p>
          <a:p>
            <a:pPr>
              <a:defRPr/>
            </a:pPr>
            <a:r>
              <a:rPr lang="fr-FR" sz="1200">
                <a:latin typeface="Century Gothic"/>
              </a:rPr>
              <a:t>implementation_ensured_by</a:t>
            </a:r>
            <a:endParaRPr lang="fr-FR" sz="1200">
              <a:latin typeface="Century Gothic"/>
            </a:endParaRPr>
          </a:p>
        </p:txBody>
      </p:sp>
      <p:cxnSp>
        <p:nvCxnSpPr>
          <p:cNvPr id="60" name="Forme 59"/>
          <p:cNvCxnSpPr>
            <a:cxnSpLocks/>
            <a:stCxn id="98" idx="2"/>
            <a:endCxn id="2" idx="0"/>
          </p:cNvCxnSpPr>
          <p:nvPr/>
        </p:nvCxnSpPr>
        <p:spPr bwMode="auto">
          <a:xfrm rot="5399977" flipH="0" flipV="1">
            <a:off x="6382322" y="4175678"/>
            <a:ext cx="1227781" cy="201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 bwMode="auto">
          <a:xfrm>
            <a:off x="7555781" y="4799657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ZoneTexte 66"/>
          <p:cNvSpPr txBox="1"/>
          <p:nvPr/>
        </p:nvSpPr>
        <p:spPr bwMode="auto">
          <a:xfrm flipH="0" flipV="0">
            <a:off x="5239722" y="3774991"/>
            <a:ext cx="2284412" cy="823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200">
                <a:latin typeface="Century Gothic"/>
              </a:rPr>
              <a:t>applies</a:t>
            </a:r>
            <a:endParaRPr lang="fr-FR" sz="1200">
              <a:latin typeface="Century Gothic"/>
            </a:endParaRPr>
          </a:p>
          <a:p>
            <a:pPr algn="r">
              <a:defRPr/>
            </a:pPr>
            <a:r>
              <a:rPr lang="fr-FR" sz="1200">
                <a:latin typeface="Century Gothic"/>
              </a:rPr>
              <a:t>transposes</a:t>
            </a:r>
            <a:endParaRPr/>
          </a:p>
          <a:p>
            <a:pPr algn="r">
              <a:defRPr/>
            </a:pPr>
            <a:r>
              <a:rPr lang="fr-FR" sz="1200">
                <a:latin typeface="Century Gothic"/>
              </a:rPr>
              <a:t>ensures_</a:t>
            </a:r>
            <a:endParaRPr lang="fr-FR" sz="1200">
              <a:latin typeface="Century Gothic"/>
            </a:endParaRPr>
          </a:p>
          <a:p>
            <a:pPr algn="r">
              <a:defRPr/>
            </a:pPr>
            <a:r>
              <a:rPr lang="fr-FR" sz="1200">
                <a:latin typeface="Century Gothic"/>
              </a:rPr>
              <a:t>implementation_of</a:t>
            </a:r>
            <a:endParaRPr lang="fr-FR" sz="1200">
              <a:latin typeface="Century Gothic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1939107" y="5407176"/>
            <a:ext cx="1728000" cy="428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Agent</a:t>
            </a: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1939107" y="2529893"/>
            <a:ext cx="1728000" cy="428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InForce</a:t>
            </a: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1939107" y="1672638"/>
            <a:ext cx="1728000" cy="428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Version</a:t>
            </a: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1939107" y="2101266"/>
            <a:ext cx="1728000" cy="428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Admin.Area</a:t>
            </a: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1939107" y="2958522"/>
            <a:ext cx="1728000" cy="428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ResourceType</a:t>
            </a: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68" name="Forme 69"/>
          <p:cNvCxnSpPr>
            <a:cxnSpLocks/>
            <a:stCxn id="41" idx="1"/>
            <a:endCxn id="50" idx="3"/>
          </p:cNvCxnSpPr>
          <p:nvPr/>
        </p:nvCxnSpPr>
        <p:spPr bwMode="auto">
          <a:xfrm rot="10799989" flipH="0" flipV="0">
            <a:off x="3667107" y="3172835"/>
            <a:ext cx="2107436" cy="183771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ZoneTexte 76"/>
          <p:cNvSpPr txBox="1"/>
          <p:nvPr/>
        </p:nvSpPr>
        <p:spPr bwMode="auto">
          <a:xfrm>
            <a:off x="3809983" y="2458456"/>
            <a:ext cx="1428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in_force</a:t>
            </a:r>
            <a:endParaRPr lang="fr-FR" sz="1200">
              <a:latin typeface="Century Gothic"/>
            </a:endParaRPr>
          </a:p>
        </p:txBody>
      </p:sp>
      <p:cxnSp>
        <p:nvCxnSpPr>
          <p:cNvPr id="78" name="Forme 69"/>
          <p:cNvCxnSpPr>
            <a:cxnSpLocks/>
            <a:stCxn id="98" idx="1"/>
            <a:endCxn id="40" idx="3"/>
          </p:cNvCxnSpPr>
          <p:nvPr/>
        </p:nvCxnSpPr>
        <p:spPr bwMode="auto">
          <a:xfrm rot="10799989" flipH="0" flipV="0">
            <a:off x="3667107" y="1886951"/>
            <a:ext cx="2068851" cy="43475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Forme 69"/>
          <p:cNvCxnSpPr>
            <a:cxnSpLocks/>
            <a:stCxn id="98" idx="1"/>
            <a:endCxn id="45" idx="3"/>
          </p:cNvCxnSpPr>
          <p:nvPr/>
        </p:nvCxnSpPr>
        <p:spPr bwMode="auto">
          <a:xfrm rot="10799989" flipH="0" flipV="0">
            <a:off x="3667107" y="2318645"/>
            <a:ext cx="2068851" cy="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ZoneTexte 84"/>
          <p:cNvSpPr txBox="1"/>
          <p:nvPr/>
        </p:nvSpPr>
        <p:spPr bwMode="auto">
          <a:xfrm>
            <a:off x="3809983" y="1601201"/>
            <a:ext cx="1428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version</a:t>
            </a:r>
            <a:endParaRPr/>
          </a:p>
        </p:txBody>
      </p:sp>
      <p:sp>
        <p:nvSpPr>
          <p:cNvPr id="86" name="ZoneTexte 85"/>
          <p:cNvSpPr txBox="1"/>
          <p:nvPr/>
        </p:nvSpPr>
        <p:spPr bwMode="auto">
          <a:xfrm>
            <a:off x="3809983" y="1886952"/>
            <a:ext cx="1428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relevant_for</a:t>
            </a:r>
            <a:endParaRPr lang="fr-FR" sz="1200">
              <a:latin typeface="Century Gothic"/>
            </a:endParaRPr>
          </a:p>
          <a:p>
            <a:pPr>
              <a:defRPr/>
            </a:pPr>
            <a:r>
              <a:rPr lang="fr-FR" sz="1200">
                <a:latin typeface="Century Gothic"/>
              </a:rPr>
              <a:t>jurisdiction</a:t>
            </a:r>
            <a:endParaRPr lang="en-US" sz="1200">
              <a:latin typeface="Century Gothic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7932149" y="3436695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6" name="Google Shape;168;p26"/>
          <p:cNvSpPr/>
          <p:nvPr/>
        </p:nvSpPr>
        <p:spPr bwMode="auto">
          <a:xfrm rot="16199998">
            <a:off x="2636483" y="1325144"/>
            <a:ext cx="346736" cy="250542"/>
          </a:xfrm>
          <a:prstGeom prst="rightArrow">
            <a:avLst>
              <a:gd name="adj1" fmla="val 50000"/>
              <a:gd name="adj2" fmla="val 81088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7" name="ZoneTexte 56"/>
          <p:cNvSpPr txBox="1"/>
          <p:nvPr/>
        </p:nvSpPr>
        <p:spPr bwMode="auto">
          <a:xfrm>
            <a:off x="3856322" y="2962635"/>
            <a:ext cx="178595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type_document</a:t>
            </a:r>
            <a:r>
              <a:rPr lang="fr-FR" sz="1200">
                <a:latin typeface="Century Gothic"/>
              </a:rPr>
              <a:t> [1..*]</a:t>
            </a:r>
            <a:endParaRPr/>
          </a:p>
          <a:p>
            <a:pPr>
              <a:defRPr/>
            </a:pPr>
            <a:r>
              <a:rPr lang="fr-FR" sz="1200">
                <a:latin typeface="Century Gothic"/>
              </a:rPr>
              <a:t>&lt; </a:t>
            </a:r>
            <a:r>
              <a:rPr lang="fr-FR" sz="1200">
                <a:latin typeface="Century Gothic"/>
              </a:rPr>
              <a:t>work_type</a:t>
            </a:r>
            <a:endParaRPr lang="fr-FR" sz="1200">
              <a:latin typeface="Century Gothic"/>
            </a:endParaRPr>
          </a:p>
        </p:txBody>
      </p:sp>
      <p:sp>
        <p:nvSpPr>
          <p:cNvPr id="61" name="Google Shape;168;p26"/>
          <p:cNvSpPr/>
          <p:nvPr/>
        </p:nvSpPr>
        <p:spPr bwMode="auto">
          <a:xfrm rot="16199969">
            <a:off x="5344596" y="4060495"/>
            <a:ext cx="1118763" cy="250542"/>
          </a:xfrm>
          <a:prstGeom prst="rightArrow">
            <a:avLst>
              <a:gd name="adj1" fmla="val 50000"/>
              <a:gd name="adj2" fmla="val 81088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981174037" name="Rectangle 1"/>
          <p:cNvSpPr/>
          <p:nvPr/>
        </p:nvSpPr>
        <p:spPr bwMode="auto">
          <a:xfrm flipH="0" flipV="0">
            <a:off x="8762496" y="4790460"/>
            <a:ext cx="2500329" cy="58157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Work</a:t>
            </a:r>
            <a:endParaRPr/>
          </a:p>
          <a:p>
            <a:pPr>
              <a:defRPr/>
            </a:pPr>
            <a:endParaRPr lang="en-US" sz="120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477578912" name="Google Shape;168;p26"/>
          <p:cNvSpPr/>
          <p:nvPr/>
        </p:nvSpPr>
        <p:spPr bwMode="auto">
          <a:xfrm rot="19506875" flipH="0" flipV="0">
            <a:off x="8381107" y="5501657"/>
            <a:ext cx="603435" cy="216454"/>
          </a:xfrm>
          <a:prstGeom prst="rightArrow">
            <a:avLst>
              <a:gd name="adj1" fmla="val 50000"/>
              <a:gd name="adj2" fmla="val 81088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58939481" name="Rectangle : avec coin rogné 166"/>
          <p:cNvSpPr/>
          <p:nvPr/>
        </p:nvSpPr>
        <p:spPr bwMode="auto">
          <a:xfrm rot="20851206" flipH="0" flipV="0">
            <a:off x="8713933" y="5440446"/>
            <a:ext cx="1685928" cy="472248"/>
          </a:xfrm>
          <a:prstGeom prst="snip1Rect">
            <a:avLst>
              <a:gd name="adj" fmla="val 11023"/>
            </a:avLst>
          </a:prstGeom>
          <a:solidFill>
            <a:srgbClr val="FEF0CB"/>
          </a:solidFill>
          <a:ln w="19049" cap="flat" cmpd="sng" algn="ctr">
            <a:solidFill>
              <a:srgbClr val="FFD56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r>
              <a:rPr lang="fr-FR" sz="1050" i="1">
                <a:solidFill>
                  <a:schemeClr val="tx1">
                    <a:lumMod val="65000"/>
                    <a:lumOff val="35000"/>
                  </a:schemeClr>
                </a:solidFill>
              </a:rPr>
              <a:t>LegalResources inherit all properties from Work</a:t>
            </a:r>
            <a:endParaRPr i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3094660" y="5180175"/>
            <a:ext cx="2500330" cy="740991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LegalExpression</a:t>
            </a: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 algn="ctr">
              <a:defRPr/>
            </a:pPr>
            <a:endParaRPr lang="fr-FR" sz="1200">
              <a:solidFill>
                <a:schemeClr val="tx1"/>
              </a:solidFill>
              <a:latin typeface="Century Gothic"/>
            </a:endParaRPr>
          </a:p>
          <a:p>
            <a:pPr lvl="0">
              <a:buFont typeface="Arial"/>
              <a:buChar char="•"/>
              <a:defRPr/>
            </a:pPr>
            <a:r>
              <a:rPr lang="fr-FR" sz="1200">
                <a:solidFill>
                  <a:prstClr val="black"/>
                </a:solidFill>
                <a:latin typeface="Century Gothic"/>
              </a:rPr>
              <a:t>publisher</a:t>
            </a:r>
            <a:endParaRPr lang="fr-FR" sz="120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9" name="ZoneTexte 8"/>
          <p:cNvSpPr txBox="1"/>
          <p:nvPr/>
        </p:nvSpPr>
        <p:spPr bwMode="auto">
          <a:xfrm>
            <a:off x="8810643" y="6488691"/>
            <a:ext cx="1858075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b="1">
                <a:solidFill>
                  <a:srgbClr val="FF0000"/>
                </a:solidFill>
                <a:latin typeface="Century Gothic"/>
              </a:rPr>
              <a:t>V1.5</a:t>
            </a:r>
            <a:endParaRPr lang="en-US" b="1">
              <a:solidFill>
                <a:srgbClr val="FF0000"/>
              </a:solidFill>
              <a:latin typeface="Century Gothic"/>
            </a:endParaRPr>
          </a:p>
        </p:txBody>
      </p:sp>
      <p:sp>
        <p:nvSpPr>
          <p:cNvPr id="10" name="ZoneTexte 9"/>
          <p:cNvSpPr txBox="1"/>
          <p:nvPr/>
        </p:nvSpPr>
        <p:spPr bwMode="auto">
          <a:xfrm>
            <a:off x="1524000" y="6488668"/>
            <a:ext cx="5072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/>
              <a:t>ELI : </a:t>
            </a:r>
            <a:r>
              <a:rPr lang="fr-FR"/>
              <a:t>LegalExpression</a:t>
            </a:r>
            <a:r>
              <a:rPr lang="fr-FR"/>
              <a:t> </a:t>
            </a:r>
            <a:r>
              <a:rPr lang="fr-FR"/>
              <a:t>level</a:t>
            </a:r>
            <a:endParaRPr lang="en-US"/>
          </a:p>
        </p:txBody>
      </p:sp>
      <p:sp>
        <p:nvSpPr>
          <p:cNvPr id="121" name="ZoneTexte 120"/>
          <p:cNvSpPr txBox="1"/>
          <p:nvPr/>
        </p:nvSpPr>
        <p:spPr bwMode="auto">
          <a:xfrm>
            <a:off x="5622663" y="4679166"/>
            <a:ext cx="22323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200">
                <a:latin typeface="Century Gothic"/>
              </a:rPr>
              <a:t>basis_for</a:t>
            </a:r>
            <a:endParaRPr lang="fr-FR" sz="1200">
              <a:latin typeface="Century Gothic"/>
            </a:endParaRPr>
          </a:p>
          <a:p>
            <a:pPr algn="r">
              <a:defRPr/>
            </a:pPr>
            <a:r>
              <a:rPr lang="fr-FR" sz="1200">
                <a:latin typeface="Century Gothic"/>
              </a:rPr>
              <a:t>applies</a:t>
            </a:r>
            <a:endParaRPr lang="fr-FR" sz="1200">
              <a:latin typeface="Century Gothic"/>
            </a:endParaRPr>
          </a:p>
          <a:p>
            <a:pPr algn="r">
              <a:defRPr/>
            </a:pPr>
            <a:r>
              <a:rPr lang="fr-FR" sz="1200">
                <a:latin typeface="Century Gothic"/>
              </a:rPr>
              <a:t>transposes</a:t>
            </a:r>
            <a:endParaRPr/>
          </a:p>
          <a:p>
            <a:pPr algn="r">
              <a:defRPr/>
            </a:pPr>
            <a:r>
              <a:rPr lang="fr-FR" sz="1200">
                <a:latin typeface="Century Gothic"/>
              </a:rPr>
              <a:t>ensures_implementation_of</a:t>
            </a:r>
            <a:endParaRPr lang="fr-FR" sz="1200">
              <a:latin typeface="Century Gothic"/>
            </a:endParaRPr>
          </a:p>
        </p:txBody>
      </p:sp>
      <p:cxnSp>
        <p:nvCxnSpPr>
          <p:cNvPr id="122" name="Forme 121"/>
          <p:cNvCxnSpPr>
            <a:cxnSpLocks/>
            <a:stCxn id="37" idx="1"/>
          </p:cNvCxnSpPr>
          <p:nvPr/>
        </p:nvCxnSpPr>
        <p:spPr bwMode="auto">
          <a:xfrm rot="10800000">
            <a:off x="7310462" y="3571876"/>
            <a:ext cx="357174" cy="2214578"/>
          </a:xfrm>
          <a:prstGeom prst="bentConnector2">
            <a:avLst/>
          </a:prstGeom>
          <a:ln>
            <a:solidFill>
              <a:schemeClr val="tx1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 bwMode="auto">
          <a:xfrm>
            <a:off x="7667636" y="5572140"/>
            <a:ext cx="2500330" cy="42862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LegalResource</a:t>
            </a: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36" name="ZoneTexte 35"/>
          <p:cNvSpPr txBox="1"/>
          <p:nvPr/>
        </p:nvSpPr>
        <p:spPr bwMode="auto">
          <a:xfrm>
            <a:off x="7912122" y="3953349"/>
            <a:ext cx="24190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based_on</a:t>
            </a:r>
            <a:endParaRPr lang="fr-FR" sz="1200">
              <a:latin typeface="Century Gothic"/>
            </a:endParaRPr>
          </a:p>
          <a:p>
            <a:pPr>
              <a:defRPr/>
            </a:pPr>
            <a:r>
              <a:rPr lang="fr-FR" sz="1200">
                <a:latin typeface="Century Gothic"/>
              </a:rPr>
              <a:t>applied_by</a:t>
            </a:r>
            <a:endParaRPr lang="fr-FR" sz="1200">
              <a:latin typeface="Century Gothic"/>
            </a:endParaRPr>
          </a:p>
          <a:p>
            <a:pPr>
              <a:defRPr/>
            </a:pPr>
            <a:r>
              <a:rPr lang="fr-FR" sz="1200">
                <a:latin typeface="Century Gothic"/>
              </a:rPr>
              <a:t>transposed_by</a:t>
            </a:r>
            <a:endParaRPr lang="fr-FR" sz="1200">
              <a:latin typeface="Century Gothic"/>
            </a:endParaRPr>
          </a:p>
          <a:p>
            <a:pPr>
              <a:defRPr/>
            </a:pPr>
            <a:r>
              <a:rPr lang="fr-FR" sz="1200">
                <a:latin typeface="Century Gothic"/>
              </a:rPr>
              <a:t>implementation_ensured_by</a:t>
            </a:r>
            <a:endParaRPr lang="fr-FR" sz="1200">
              <a:latin typeface="Century Gothic"/>
            </a:endParaRPr>
          </a:p>
        </p:txBody>
      </p:sp>
      <p:cxnSp>
        <p:nvCxnSpPr>
          <p:cNvPr id="38" name="Forme 37"/>
          <p:cNvCxnSpPr>
            <a:cxnSpLocks/>
            <a:stCxn id="56" idx="2"/>
            <a:endCxn id="37" idx="0"/>
          </p:cNvCxnSpPr>
          <p:nvPr/>
        </p:nvCxnSpPr>
        <p:spPr bwMode="auto">
          <a:xfrm rot="16199998" flipH="1">
            <a:off x="7310454" y="3964793"/>
            <a:ext cx="2000264" cy="121443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auto">
          <a:xfrm>
            <a:off x="1881158" y="214290"/>
            <a:ext cx="1785950" cy="4286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skos:Concept</a:t>
            </a:r>
            <a:endParaRPr lang="fr-FR" sz="14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1939108" y="1071546"/>
            <a:ext cx="1728000" cy="428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Version</a:t>
            </a: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1939108" y="1500174"/>
            <a:ext cx="1728000" cy="428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Admin.Area</a:t>
            </a: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44" name="Forme 69"/>
          <p:cNvCxnSpPr>
            <a:cxnSpLocks/>
            <a:endCxn id="33" idx="3"/>
          </p:cNvCxnSpPr>
          <p:nvPr/>
        </p:nvCxnSpPr>
        <p:spPr bwMode="auto">
          <a:xfrm rot="10800000">
            <a:off x="3667110" y="1285862"/>
            <a:ext cx="2393189" cy="129901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Forme 69"/>
          <p:cNvCxnSpPr>
            <a:cxnSpLocks/>
            <a:endCxn id="43" idx="3"/>
          </p:cNvCxnSpPr>
          <p:nvPr/>
        </p:nvCxnSpPr>
        <p:spPr bwMode="auto">
          <a:xfrm rot="10800000">
            <a:off x="3667110" y="1714490"/>
            <a:ext cx="2393189" cy="87038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/>
          <p:cNvSpPr txBox="1"/>
          <p:nvPr/>
        </p:nvSpPr>
        <p:spPr bwMode="auto">
          <a:xfrm>
            <a:off x="3809984" y="1000109"/>
            <a:ext cx="1428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version</a:t>
            </a:r>
            <a:endParaRPr/>
          </a:p>
        </p:txBody>
      </p:sp>
      <p:sp>
        <p:nvSpPr>
          <p:cNvPr id="47" name="ZoneTexte 46"/>
          <p:cNvSpPr txBox="1"/>
          <p:nvPr/>
        </p:nvSpPr>
        <p:spPr bwMode="auto">
          <a:xfrm>
            <a:off x="3809984" y="1428737"/>
            <a:ext cx="1428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relevant_for</a:t>
            </a:r>
            <a:endParaRPr lang="en-US" sz="1200">
              <a:latin typeface="Century Gothic"/>
            </a:endParaRPr>
          </a:p>
        </p:txBody>
      </p:sp>
      <p:cxnSp>
        <p:nvCxnSpPr>
          <p:cNvPr id="50" name="Forme 69"/>
          <p:cNvCxnSpPr>
            <a:cxnSpLocks/>
            <a:endCxn id="51" idx="3"/>
          </p:cNvCxnSpPr>
          <p:nvPr/>
        </p:nvCxnSpPr>
        <p:spPr bwMode="auto">
          <a:xfrm rot="10800000">
            <a:off x="3667108" y="2143116"/>
            <a:ext cx="2393192" cy="44176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 bwMode="auto">
          <a:xfrm>
            <a:off x="1939108" y="1928802"/>
            <a:ext cx="1728000" cy="428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InForce</a:t>
            </a: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54" name="ZoneTexte 53"/>
          <p:cNvSpPr txBox="1"/>
          <p:nvPr/>
        </p:nvSpPr>
        <p:spPr bwMode="auto">
          <a:xfrm>
            <a:off x="3809984" y="1857365"/>
            <a:ext cx="1428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in_force</a:t>
            </a:r>
            <a:endParaRPr lang="fr-FR" sz="1200">
              <a:latin typeface="Century Gothic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7024694" y="1071546"/>
            <a:ext cx="1285884" cy="250033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endParaRPr lang="en-US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5738810" y="1071546"/>
            <a:ext cx="1285884" cy="250033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endParaRPr lang="en-US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42" name="ZoneTexte 41"/>
          <p:cNvSpPr txBox="1"/>
          <p:nvPr/>
        </p:nvSpPr>
        <p:spPr bwMode="auto">
          <a:xfrm>
            <a:off x="5276431" y="235198"/>
            <a:ext cx="172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200">
                <a:latin typeface="Century Gothic"/>
              </a:rPr>
              <a:t>related_to</a:t>
            </a:r>
            <a:endParaRPr lang="fr-FR" sz="1200">
              <a:latin typeface="Century Gothic"/>
            </a:endParaRPr>
          </a:p>
          <a:p>
            <a:pPr algn="r">
              <a:defRPr/>
            </a:pPr>
            <a:r>
              <a:rPr lang="fr-FR" sz="1200">
                <a:latin typeface="Century Gothic"/>
              </a:rPr>
              <a:t>cites / </a:t>
            </a:r>
            <a:r>
              <a:rPr lang="fr-FR" sz="1200">
                <a:latin typeface="Century Gothic"/>
              </a:rPr>
              <a:t>cites_by</a:t>
            </a:r>
            <a:endParaRPr lang="fr-FR" sz="1200">
              <a:latin typeface="Century Gothic"/>
            </a:endParaRPr>
          </a:p>
          <a:p>
            <a:pPr algn="r">
              <a:defRPr/>
            </a:pPr>
            <a:r>
              <a:rPr lang="fr-FR" sz="1200">
                <a:latin typeface="Century Gothic"/>
              </a:rPr>
              <a:t>cited_by_case_law</a:t>
            </a:r>
            <a:endParaRPr lang="en-US" sz="1200">
              <a:latin typeface="Century Gothic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7868430" y="461641"/>
            <a:ext cx="1728000" cy="4286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owl:Thing</a:t>
            </a:r>
            <a:endParaRPr lang="fr-FR" sz="14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49" name="Forme 69"/>
          <p:cNvCxnSpPr>
            <a:cxnSpLocks/>
            <a:stCxn id="55" idx="0"/>
            <a:endCxn id="48" idx="1"/>
          </p:cNvCxnSpPr>
          <p:nvPr/>
        </p:nvCxnSpPr>
        <p:spPr bwMode="auto">
          <a:xfrm rot="5400000" flipH="1" flipV="1">
            <a:off x="7248776" y="451891"/>
            <a:ext cx="395591" cy="843720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 bwMode="auto">
          <a:xfrm>
            <a:off x="5774545" y="1071546"/>
            <a:ext cx="2500330" cy="2500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LegalResource</a:t>
            </a: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Or</a:t>
            </a:r>
            <a:endParaRPr/>
          </a:p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LegalExpression</a:t>
            </a: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 lvl="0">
              <a:buFont typeface="Arial"/>
              <a:buChar char="•"/>
              <a:defRPr/>
            </a:pPr>
            <a:r>
              <a:rPr lang="fr-FR" sz="1100">
                <a:solidFill>
                  <a:prstClr val="black"/>
                </a:solidFill>
                <a:latin typeface="Century Gothic"/>
              </a:rPr>
              <a:t> description</a:t>
            </a:r>
            <a:endParaRPr/>
          </a:p>
          <a:p>
            <a:pPr lvl="0">
              <a:buFont typeface="Arial"/>
              <a:buChar char="•"/>
              <a:defRPr/>
            </a:pPr>
            <a:r>
              <a:rPr lang="fr-FR" sz="1100">
                <a:solidFill>
                  <a:prstClr val="black"/>
                </a:solidFill>
                <a:latin typeface="Century Gothic"/>
              </a:rPr>
              <a:t> </a:t>
            </a:r>
            <a:r>
              <a:rPr lang="fr-FR" sz="1100">
                <a:solidFill>
                  <a:prstClr val="black"/>
                </a:solidFill>
                <a:latin typeface="Century Gothic"/>
              </a:rPr>
              <a:t>version_date</a:t>
            </a:r>
            <a:endParaRPr lang="fr-FR" sz="1100">
              <a:solidFill>
                <a:prstClr val="black"/>
              </a:solidFill>
              <a:latin typeface="Century Gothic"/>
            </a:endParaRPr>
          </a:p>
          <a:p>
            <a:pPr>
              <a:buFont typeface="Arial"/>
              <a:buChar char="•"/>
              <a:defRPr/>
            </a:pPr>
            <a:r>
              <a:rPr lang="en-US" sz="1100">
                <a:solidFill>
                  <a:schemeClr val="tx1"/>
                </a:solidFill>
                <a:latin typeface="Century Gothic"/>
              </a:rPr>
              <a:t> </a:t>
            </a:r>
            <a:r>
              <a:rPr lang="en-US" sz="1100">
                <a:solidFill>
                  <a:schemeClr val="tx1"/>
                </a:solidFill>
                <a:latin typeface="Century Gothic"/>
              </a:rPr>
              <a:t>first_date_entry_in_force</a:t>
            </a:r>
            <a:endParaRPr lang="en-US" sz="1100">
              <a:solidFill>
                <a:schemeClr val="tx1"/>
              </a:solidFill>
              <a:latin typeface="Century Gothic"/>
            </a:endParaRPr>
          </a:p>
          <a:p>
            <a:pPr>
              <a:buFont typeface="Arial"/>
              <a:buChar char="•"/>
              <a:defRPr/>
            </a:pPr>
            <a:r>
              <a:rPr lang="en-US" sz="1100">
                <a:solidFill>
                  <a:schemeClr val="tx1"/>
                </a:solidFill>
                <a:latin typeface="Century Gothic"/>
              </a:rPr>
              <a:t> </a:t>
            </a:r>
            <a:r>
              <a:rPr lang="en-US" sz="1100">
                <a:solidFill>
                  <a:schemeClr val="tx1"/>
                </a:solidFill>
                <a:latin typeface="Century Gothic"/>
              </a:rPr>
              <a:t>date_no_longer_in_force</a:t>
            </a:r>
            <a:endParaRPr lang="en-US" sz="1100">
              <a:solidFill>
                <a:schemeClr val="tx1"/>
              </a:solidFill>
              <a:latin typeface="Century Gothic"/>
            </a:endParaRPr>
          </a:p>
          <a:p>
            <a:pPr>
              <a:buFont typeface="Arial"/>
              <a:buChar char="•"/>
              <a:defRPr/>
            </a:pPr>
            <a:r>
              <a:rPr lang="fr-FR" sz="1100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100">
                <a:solidFill>
                  <a:schemeClr val="tx1"/>
                </a:solidFill>
                <a:latin typeface="Century Gothic"/>
              </a:rPr>
              <a:t>date_applicability</a:t>
            </a:r>
            <a:endParaRPr lang="fr-FR" sz="1100">
              <a:solidFill>
                <a:schemeClr val="tx1"/>
              </a:solidFill>
              <a:latin typeface="Century Gothic"/>
            </a:endParaRPr>
          </a:p>
          <a:p>
            <a:pPr>
              <a:buFont typeface="Arial"/>
              <a:buChar char="•"/>
              <a:defRPr/>
            </a:pPr>
            <a:r>
              <a:rPr lang="fr-FR" sz="1100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100">
                <a:solidFill>
                  <a:schemeClr val="tx1"/>
                </a:solidFill>
                <a:latin typeface="Century Gothic"/>
              </a:rPr>
              <a:t>cited_by_case_law_reference</a:t>
            </a:r>
            <a:endParaRPr lang="en-US" sz="1100">
              <a:solidFill>
                <a:schemeClr val="tx1"/>
              </a:solidFill>
              <a:latin typeface="Century Gothic"/>
            </a:endParaRPr>
          </a:p>
          <a:p>
            <a:pPr>
              <a:buFont typeface="Arial"/>
              <a:buChar char="•"/>
              <a:defRPr/>
            </a:pPr>
            <a:endParaRPr lang="en-US" sz="1100">
              <a:solidFill>
                <a:schemeClr val="tx1"/>
              </a:solidFill>
              <a:latin typeface="Century Gothic"/>
            </a:endParaRPr>
          </a:p>
          <a:p>
            <a:pPr lvl="0">
              <a:buFont typeface="Arial"/>
              <a:buChar char="•"/>
              <a:defRPr/>
            </a:pPr>
            <a:endParaRPr lang="en-US" sz="1100">
              <a:solidFill>
                <a:prstClr val="black"/>
              </a:solidFill>
              <a:latin typeface="Century Gothic"/>
            </a:endParaRPr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7631933" y="342900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7" name="Rectangle 56"/>
          <p:cNvSpPr/>
          <p:nvPr/>
        </p:nvSpPr>
        <p:spPr bwMode="auto">
          <a:xfrm>
            <a:off x="6274611" y="342900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8" name="Forme 57"/>
          <p:cNvCxnSpPr>
            <a:cxnSpLocks/>
            <a:stCxn id="64" idx="2"/>
            <a:endCxn id="55" idx="3"/>
          </p:cNvCxnSpPr>
          <p:nvPr/>
        </p:nvCxnSpPr>
        <p:spPr bwMode="auto">
          <a:xfrm rot="5400000" flipH="1" flipV="1">
            <a:off x="7530310" y="2812802"/>
            <a:ext cx="1235655" cy="253475"/>
          </a:xfrm>
          <a:prstGeom prst="bentConnector4">
            <a:avLst>
              <a:gd name="adj1" fmla="val -19675"/>
              <a:gd name="adj2" fmla="val 190186"/>
            </a:avLst>
          </a:prstGeom>
          <a:ln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ZoneTexte 58"/>
          <p:cNvSpPr txBox="1"/>
          <p:nvPr/>
        </p:nvSpPr>
        <p:spPr bwMode="auto">
          <a:xfrm>
            <a:off x="8524891" y="2214553"/>
            <a:ext cx="2145627" cy="1554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 b="0" i="0" u="none" strike="noStrike" cap="none" spc="0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changes</a:t>
            </a:r>
            <a:r>
              <a:rPr lang="fr-FR" sz="1200">
                <a:latin typeface="Century Gothic"/>
              </a:rPr>
              <a:t> / changed_by</a:t>
            </a:r>
            <a:r>
              <a:rPr lang="fr-FR" sz="1200">
                <a:latin typeface="Century Gothic"/>
              </a:rPr>
              <a:t> </a:t>
            </a:r>
            <a:endParaRPr/>
          </a:p>
          <a:p>
            <a:pPr>
              <a:defRPr/>
            </a:pPr>
            <a:r>
              <a:rPr lang="fr-FR" sz="1200">
                <a:latin typeface="Century Gothic"/>
              </a:rPr>
              <a:t>consolidates</a:t>
            </a:r>
            <a:r>
              <a:rPr lang="fr-FR" sz="1200">
                <a:latin typeface="Century Gothic"/>
              </a:rPr>
              <a:t> / </a:t>
            </a:r>
            <a:r>
              <a:rPr lang="fr-FR" sz="1200">
                <a:latin typeface="Century Gothic"/>
              </a:rPr>
              <a:t>consolidated_by</a:t>
            </a:r>
            <a:r>
              <a:rPr lang="fr-FR" sz="1200">
                <a:latin typeface="Century Gothic"/>
              </a:rPr>
              <a:t> </a:t>
            </a:r>
            <a:endParaRPr/>
          </a:p>
          <a:p>
            <a:pPr>
              <a:defRPr/>
            </a:pPr>
            <a:r>
              <a:rPr lang="fr-FR" sz="1200">
                <a:latin typeface="Century Gothic"/>
              </a:rPr>
              <a:t>commences / </a:t>
            </a:r>
            <a:r>
              <a:rPr lang="fr-FR" sz="1200">
                <a:latin typeface="Century Gothic"/>
              </a:rPr>
              <a:t>commenced_by</a:t>
            </a:r>
            <a:endParaRPr lang="fr-FR" sz="1200">
              <a:latin typeface="Century Gothic"/>
            </a:endParaRPr>
          </a:p>
          <a:p>
            <a:pPr>
              <a:defRPr/>
            </a:pPr>
            <a:r>
              <a:rPr lang="fr-FR" sz="1200">
                <a:latin typeface="Century Gothic"/>
              </a:rPr>
              <a:t>repeals</a:t>
            </a:r>
            <a:r>
              <a:rPr lang="fr-FR" sz="1200">
                <a:latin typeface="Century Gothic"/>
              </a:rPr>
              <a:t> / </a:t>
            </a:r>
            <a:r>
              <a:rPr lang="fr-FR" sz="1200">
                <a:latin typeface="Century Gothic"/>
              </a:rPr>
              <a:t>repealed_by</a:t>
            </a:r>
            <a:endParaRPr lang="fr-FR" sz="1200">
              <a:latin typeface="Century Gothic"/>
            </a:endParaRPr>
          </a:p>
          <a:p>
            <a:pPr>
              <a:defRPr/>
            </a:pPr>
            <a:r>
              <a:rPr lang="fr-FR" sz="1200">
                <a:latin typeface="Century Gothic"/>
              </a:rPr>
              <a:t>corrects / </a:t>
            </a:r>
            <a:r>
              <a:rPr lang="fr-FR" sz="1200">
                <a:latin typeface="Century Gothic"/>
              </a:rPr>
              <a:t>corrected_by</a:t>
            </a:r>
            <a:r>
              <a:rPr lang="fr-FR" sz="1200">
                <a:latin typeface="Century Gothic"/>
              </a:rPr>
              <a:t>*</a:t>
            </a:r>
            <a:endParaRPr/>
          </a:p>
          <a:p>
            <a:pPr>
              <a:defRPr/>
            </a:pPr>
            <a:r>
              <a:rPr lang="fr-FR" sz="1200">
                <a:latin typeface="Century Gothic"/>
              </a:rPr>
              <a:t>amends</a:t>
            </a:r>
            <a:r>
              <a:rPr lang="fr-FR" sz="1200">
                <a:latin typeface="Century Gothic"/>
              </a:rPr>
              <a:t> / </a:t>
            </a:r>
            <a:r>
              <a:rPr lang="fr-FR" sz="1200">
                <a:latin typeface="Century Gothic"/>
              </a:rPr>
              <a:t>amended_by</a:t>
            </a:r>
            <a:endParaRPr lang="fr-FR" sz="1200">
              <a:latin typeface="Century Gothic"/>
            </a:endParaRPr>
          </a:p>
        </p:txBody>
      </p:sp>
      <p:cxnSp>
        <p:nvCxnSpPr>
          <p:cNvPr id="60" name="Connecteur droit 59"/>
          <p:cNvCxnSpPr>
            <a:cxnSpLocks/>
          </p:cNvCxnSpPr>
          <p:nvPr/>
        </p:nvCxnSpPr>
        <p:spPr bwMode="auto">
          <a:xfrm>
            <a:off x="5774545" y="1928802"/>
            <a:ext cx="2500330" cy="1587"/>
          </a:xfrm>
          <a:prstGeom prst="lin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Forme 57"/>
          <p:cNvCxnSpPr>
            <a:cxnSpLocks/>
            <a:stCxn id="2" idx="2"/>
            <a:endCxn id="2" idx="3"/>
          </p:cNvCxnSpPr>
          <p:nvPr/>
        </p:nvCxnSpPr>
        <p:spPr bwMode="auto">
          <a:xfrm rot="5400000" flipH="1" flipV="1">
            <a:off x="4784660" y="5110836"/>
            <a:ext cx="370495" cy="1250165"/>
          </a:xfrm>
          <a:prstGeom prst="bentConnector4">
            <a:avLst>
              <a:gd name="adj1" fmla="val -61701"/>
              <a:gd name="adj2" fmla="val 118286"/>
            </a:avLst>
          </a:prstGeom>
          <a:ln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ZoneTexte 51"/>
          <p:cNvSpPr txBox="1"/>
          <p:nvPr/>
        </p:nvSpPr>
        <p:spPr bwMode="auto">
          <a:xfrm>
            <a:off x="4362692" y="6207079"/>
            <a:ext cx="2143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has_translation</a:t>
            </a:r>
            <a:r>
              <a:rPr lang="fr-FR" sz="1200">
                <a:latin typeface="Century Gothic"/>
              </a:rPr>
              <a:t> / </a:t>
            </a:r>
            <a:r>
              <a:rPr lang="fr-FR" sz="1200">
                <a:latin typeface="Century Gothic"/>
              </a:rPr>
              <a:t>is_translation_of</a:t>
            </a:r>
            <a:endParaRPr lang="fr-FR" sz="1200">
              <a:latin typeface="Century Gothic"/>
            </a:endParaRPr>
          </a:p>
        </p:txBody>
      </p:sp>
      <p:sp>
        <p:nvSpPr>
          <p:cNvPr id="53" name="Rectangle 52"/>
          <p:cNvSpPr/>
          <p:nvPr/>
        </p:nvSpPr>
        <p:spPr bwMode="auto">
          <a:xfrm flipH="0" flipV="0">
            <a:off x="3094659" y="3883980"/>
            <a:ext cx="2500329" cy="524832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Expression</a:t>
            </a:r>
            <a:endParaRPr/>
          </a:p>
        </p:txBody>
      </p:sp>
      <p:sp>
        <p:nvSpPr>
          <p:cNvPr id="61" name="Rectangle 60"/>
          <p:cNvSpPr/>
          <p:nvPr/>
        </p:nvSpPr>
        <p:spPr bwMode="auto">
          <a:xfrm>
            <a:off x="5469981" y="5167889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3" name="Connecteur droit 62"/>
          <p:cNvCxnSpPr>
            <a:cxnSpLocks/>
          </p:cNvCxnSpPr>
          <p:nvPr/>
        </p:nvCxnSpPr>
        <p:spPr bwMode="auto">
          <a:xfrm>
            <a:off x="3087541" y="5562955"/>
            <a:ext cx="2500330" cy="1587"/>
          </a:xfrm>
          <a:prstGeom prst="lin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4" name="Rectangle 63"/>
          <p:cNvSpPr/>
          <p:nvPr/>
        </p:nvSpPr>
        <p:spPr bwMode="auto">
          <a:xfrm>
            <a:off x="7949962" y="341449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5" name="ZoneTexte 64"/>
          <p:cNvSpPr txBox="1"/>
          <p:nvPr/>
        </p:nvSpPr>
        <p:spPr bwMode="auto">
          <a:xfrm>
            <a:off x="7810512" y="6581025"/>
            <a:ext cx="21431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050">
                <a:latin typeface="Century Gothic"/>
              </a:rPr>
              <a:t>* : </a:t>
            </a:r>
            <a:r>
              <a:rPr lang="fr-FR" sz="1050">
                <a:latin typeface="Century Gothic"/>
              </a:rPr>
              <a:t>also</a:t>
            </a:r>
            <a:r>
              <a:rPr lang="fr-FR" sz="1050">
                <a:latin typeface="Century Gothic"/>
              </a:rPr>
              <a:t> </a:t>
            </a:r>
            <a:r>
              <a:rPr lang="fr-FR" sz="1050">
                <a:latin typeface="Century Gothic"/>
              </a:rPr>
              <a:t>applies</a:t>
            </a:r>
            <a:r>
              <a:rPr lang="fr-FR" sz="1050">
                <a:latin typeface="Century Gothic"/>
              </a:rPr>
              <a:t> to Format</a:t>
            </a:r>
            <a:endParaRPr/>
          </a:p>
        </p:txBody>
      </p:sp>
      <p:sp>
        <p:nvSpPr>
          <p:cNvPr id="66" name="Google Shape;168;p26"/>
          <p:cNvSpPr/>
          <p:nvPr/>
        </p:nvSpPr>
        <p:spPr bwMode="auto">
          <a:xfrm rot="16199998">
            <a:off x="2636483" y="724052"/>
            <a:ext cx="346736" cy="250542"/>
          </a:xfrm>
          <a:prstGeom prst="rightArrow">
            <a:avLst>
              <a:gd name="adj1" fmla="val 50000"/>
              <a:gd name="adj2" fmla="val 81088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7" name="Google Shape;168;p26"/>
          <p:cNvSpPr/>
          <p:nvPr/>
        </p:nvSpPr>
        <p:spPr bwMode="auto">
          <a:xfrm rot="18032895">
            <a:off x="5220535" y="4274841"/>
            <a:ext cx="1731589" cy="250542"/>
          </a:xfrm>
          <a:prstGeom prst="rightArrow">
            <a:avLst>
              <a:gd name="adj1" fmla="val 50000"/>
              <a:gd name="adj2" fmla="val 81088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30452300" name="Google Shape;168;p26"/>
          <p:cNvSpPr/>
          <p:nvPr/>
        </p:nvSpPr>
        <p:spPr bwMode="auto">
          <a:xfrm rot="16199969" flipH="0" flipV="0">
            <a:off x="4002200" y="4658045"/>
            <a:ext cx="671011" cy="232590"/>
          </a:xfrm>
          <a:prstGeom prst="rightArrow">
            <a:avLst>
              <a:gd name="adj1" fmla="val 50000"/>
              <a:gd name="adj2" fmla="val 81088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103224002" name="Rectangle : avec coin rogné 166"/>
          <p:cNvSpPr/>
          <p:nvPr/>
        </p:nvSpPr>
        <p:spPr bwMode="auto">
          <a:xfrm rot="20851206" flipH="0" flipV="0">
            <a:off x="1839683" y="4644256"/>
            <a:ext cx="1849579" cy="472248"/>
          </a:xfrm>
          <a:prstGeom prst="snip1Rect">
            <a:avLst>
              <a:gd name="adj" fmla="val 11023"/>
            </a:avLst>
          </a:prstGeom>
          <a:solidFill>
            <a:srgbClr val="FEF0CB"/>
          </a:solidFill>
          <a:ln w="19049" cap="flat" cmpd="sng" algn="ctr">
            <a:solidFill>
              <a:srgbClr val="FFD56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r>
              <a:rPr lang="fr-FR" sz="1050" i="1">
                <a:solidFill>
                  <a:schemeClr val="tx1">
                    <a:lumMod val="65000"/>
                    <a:lumOff val="35000"/>
                  </a:schemeClr>
                </a:solidFill>
              </a:rPr>
              <a:t>LegalExpressions inherit all properties from Expressions</a:t>
            </a:r>
            <a:endParaRPr i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4952992" y="2515126"/>
            <a:ext cx="2500330" cy="150019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Format</a:t>
            </a:r>
            <a:endParaRPr/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>
              <a:buFont typeface="Arial"/>
              <a:buChar char="•"/>
              <a:defRPr/>
            </a:pPr>
            <a:r>
              <a:rPr lang="fr-FR" sz="1200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200">
                <a:solidFill>
                  <a:schemeClr val="tx1"/>
                </a:solidFill>
                <a:latin typeface="Century Gothic"/>
              </a:rPr>
              <a:t>rights</a:t>
            </a:r>
            <a:endParaRPr lang="fr-FR" sz="1200">
              <a:solidFill>
                <a:schemeClr val="tx1"/>
              </a:solidFill>
              <a:latin typeface="Century Gothic"/>
            </a:endParaRPr>
          </a:p>
          <a:p>
            <a:pPr>
              <a:buFont typeface="Arial"/>
              <a:buChar char="•"/>
              <a:defRPr/>
            </a:pPr>
            <a:r>
              <a:rPr lang="fr-FR" sz="1200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200">
                <a:solidFill>
                  <a:schemeClr val="tx1"/>
                </a:solidFill>
                <a:latin typeface="Century Gothic"/>
              </a:rPr>
              <a:t>rightsholder</a:t>
            </a:r>
            <a:endParaRPr lang="fr-FR" sz="1200">
              <a:solidFill>
                <a:schemeClr val="tx1"/>
              </a:solidFill>
              <a:latin typeface="Century Gothic"/>
            </a:endParaRPr>
          </a:p>
          <a:p>
            <a:pPr>
              <a:buFont typeface="Arial"/>
              <a:buChar char="•"/>
              <a:defRPr/>
            </a:pPr>
            <a:r>
              <a:rPr lang="en-US" sz="1200">
                <a:solidFill>
                  <a:schemeClr val="tx1"/>
                </a:solidFill>
                <a:latin typeface="Century Gothic"/>
              </a:rPr>
              <a:t> </a:t>
            </a:r>
            <a:r>
              <a:rPr lang="en-US" sz="1200">
                <a:solidFill>
                  <a:schemeClr val="tx1"/>
                </a:solidFill>
                <a:latin typeface="Century Gothic"/>
              </a:rPr>
              <a:t>published_in</a:t>
            </a:r>
            <a:endParaRPr lang="en-US" sz="1200">
              <a:solidFill>
                <a:schemeClr val="tx1"/>
              </a:solidFill>
              <a:latin typeface="Century Gothic"/>
            </a:endParaRPr>
          </a:p>
          <a:p>
            <a:pPr>
              <a:buFont typeface="Arial"/>
              <a:buChar char="•"/>
              <a:defRPr/>
            </a:pPr>
            <a:r>
              <a:rPr lang="fr-FR" sz="1200">
                <a:solidFill>
                  <a:schemeClr val="tx1"/>
                </a:solidFill>
                <a:latin typeface="Century Gothic"/>
              </a:rPr>
              <a:t> </a:t>
            </a:r>
            <a:r>
              <a:rPr lang="fr-FR" sz="1200">
                <a:solidFill>
                  <a:schemeClr val="tx1"/>
                </a:solidFill>
                <a:latin typeface="Century Gothic"/>
              </a:rPr>
              <a:t>publisher</a:t>
            </a:r>
            <a:endParaRPr lang="fr-FR" sz="12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3" name="Connecteur droit 2"/>
          <p:cNvCxnSpPr>
            <a:cxnSpLocks/>
          </p:cNvCxnSpPr>
          <p:nvPr/>
        </p:nvCxnSpPr>
        <p:spPr bwMode="auto">
          <a:xfrm>
            <a:off x="4952992" y="2943754"/>
            <a:ext cx="2500330" cy="1587"/>
          </a:xfrm>
          <a:prstGeom prst="lin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ZoneTexte 8"/>
          <p:cNvSpPr txBox="1"/>
          <p:nvPr/>
        </p:nvSpPr>
        <p:spPr bwMode="auto">
          <a:xfrm>
            <a:off x="8810643" y="6488691"/>
            <a:ext cx="1858075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b="1">
                <a:solidFill>
                  <a:srgbClr val="FF0000"/>
                </a:solidFill>
                <a:latin typeface="Century Gothic"/>
              </a:rPr>
              <a:t>V1.5</a:t>
            </a:r>
            <a:endParaRPr lang="en-US" b="1">
              <a:solidFill>
                <a:srgbClr val="FF0000"/>
              </a:solidFill>
              <a:latin typeface="Century Gothic"/>
            </a:endParaRPr>
          </a:p>
        </p:txBody>
      </p:sp>
      <p:sp>
        <p:nvSpPr>
          <p:cNvPr id="10" name="ZoneTexte 9"/>
          <p:cNvSpPr txBox="1"/>
          <p:nvPr/>
        </p:nvSpPr>
        <p:spPr bwMode="auto">
          <a:xfrm>
            <a:off x="1524000" y="6488668"/>
            <a:ext cx="5072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/>
              <a:t>ELI : Format </a:t>
            </a:r>
            <a:r>
              <a:rPr lang="fr-FR"/>
              <a:t>level</a:t>
            </a:r>
            <a:endParaRPr lang="en-US"/>
          </a:p>
        </p:txBody>
      </p:sp>
      <p:sp>
        <p:nvSpPr>
          <p:cNvPr id="52" name="ZoneTexte 51"/>
          <p:cNvSpPr txBox="1"/>
          <p:nvPr/>
        </p:nvSpPr>
        <p:spPr bwMode="auto">
          <a:xfrm>
            <a:off x="6238892" y="4765423"/>
            <a:ext cx="1428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licence</a:t>
            </a:r>
            <a:endParaRPr/>
          </a:p>
        </p:txBody>
      </p:sp>
      <p:sp>
        <p:nvSpPr>
          <p:cNvPr id="53" name="Rectangle 52"/>
          <p:cNvSpPr/>
          <p:nvPr/>
        </p:nvSpPr>
        <p:spPr bwMode="auto">
          <a:xfrm>
            <a:off x="8596330" y="4872580"/>
            <a:ext cx="1728000" cy="4286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owl:Thing</a:t>
            </a:r>
            <a:endParaRPr lang="fr-FR" sz="14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6810380" y="3872448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5" name="Forme 69"/>
          <p:cNvCxnSpPr>
            <a:cxnSpLocks/>
            <a:stCxn id="2" idx="2"/>
            <a:endCxn id="53" idx="1"/>
          </p:cNvCxnSpPr>
          <p:nvPr/>
        </p:nvCxnSpPr>
        <p:spPr bwMode="auto">
          <a:xfrm rot="16199998" flipH="1">
            <a:off x="6863958" y="3354523"/>
            <a:ext cx="1071570" cy="2393173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Forme 69"/>
          <p:cNvCxnSpPr>
            <a:cxnSpLocks/>
            <a:stCxn id="2" idx="1"/>
            <a:endCxn id="27" idx="3"/>
          </p:cNvCxnSpPr>
          <p:nvPr/>
        </p:nvCxnSpPr>
        <p:spPr bwMode="auto">
          <a:xfrm rot="10800000" flipV="1">
            <a:off x="3660758" y="3265225"/>
            <a:ext cx="1292234" cy="45272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Forme 69"/>
          <p:cNvCxnSpPr>
            <a:cxnSpLocks/>
            <a:stCxn id="63" idx="2"/>
            <a:endCxn id="2" idx="3"/>
          </p:cNvCxnSpPr>
          <p:nvPr/>
        </p:nvCxnSpPr>
        <p:spPr bwMode="auto">
          <a:xfrm rot="5400000" flipH="1" flipV="1">
            <a:off x="6792521" y="3354523"/>
            <a:ext cx="750099" cy="571504"/>
          </a:xfrm>
          <a:prstGeom prst="bentConnector4">
            <a:avLst>
              <a:gd name="adj1" fmla="val -30476"/>
              <a:gd name="adj2" fmla="val 14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 bwMode="auto">
          <a:xfrm>
            <a:off x="7667636" y="3515259"/>
            <a:ext cx="2071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publishes</a:t>
            </a:r>
            <a:r>
              <a:rPr lang="fr-FR" sz="1200">
                <a:latin typeface="Century Gothic"/>
              </a:rPr>
              <a:t> /</a:t>
            </a:r>
            <a:endParaRPr/>
          </a:p>
          <a:p>
            <a:pPr>
              <a:defRPr/>
            </a:pPr>
            <a:r>
              <a:rPr lang="fr-FR" sz="1200">
                <a:latin typeface="Century Gothic"/>
              </a:rPr>
              <a:t>published_in_format</a:t>
            </a:r>
            <a:endParaRPr lang="en-US" sz="1200">
              <a:latin typeface="Century Gothic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881158" y="764704"/>
            <a:ext cx="1785950" cy="4286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skos:Concept</a:t>
            </a:r>
            <a:endParaRPr lang="fr-FR" sz="14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3446034" y="4872580"/>
            <a:ext cx="1728000" cy="428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Agent</a:t>
            </a: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18" name="Forme 69"/>
          <p:cNvCxnSpPr>
            <a:cxnSpLocks/>
            <a:stCxn id="2" idx="1"/>
            <a:endCxn id="15" idx="0"/>
          </p:cNvCxnSpPr>
          <p:nvPr/>
        </p:nvCxnSpPr>
        <p:spPr bwMode="auto">
          <a:xfrm rot="10800000" flipV="1">
            <a:off x="4310034" y="3265225"/>
            <a:ext cx="642958" cy="1607355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 bwMode="auto">
          <a:xfrm>
            <a:off x="2238331" y="4122480"/>
            <a:ext cx="2071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200">
                <a:latin typeface="Century Gothic"/>
              </a:rPr>
              <a:t>publisher_agent</a:t>
            </a:r>
            <a:endParaRPr lang="fr-FR" sz="1200">
              <a:latin typeface="Century Gothic"/>
            </a:endParaRPr>
          </a:p>
          <a:p>
            <a:pPr algn="r">
              <a:defRPr/>
            </a:pPr>
            <a:r>
              <a:rPr lang="fr-FR" sz="1200">
                <a:latin typeface="Century Gothic"/>
              </a:rPr>
              <a:t>rightsholder_agent</a:t>
            </a:r>
            <a:endParaRPr lang="en-US" sz="1200">
              <a:latin typeface="Century Gothic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881158" y="1456847"/>
            <a:ext cx="1785950" cy="428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FormatType</a:t>
            </a: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25" name="Forme 69"/>
          <p:cNvCxnSpPr>
            <a:cxnSpLocks/>
            <a:stCxn id="28" idx="1"/>
            <a:endCxn id="20" idx="3"/>
          </p:cNvCxnSpPr>
          <p:nvPr/>
        </p:nvCxnSpPr>
        <p:spPr bwMode="auto">
          <a:xfrm rot="10800000" flipV="1">
            <a:off x="3667110" y="1660175"/>
            <a:ext cx="1273967" cy="1098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 bwMode="auto">
          <a:xfrm>
            <a:off x="3745306" y="1332981"/>
            <a:ext cx="1428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format [1..1]</a:t>
            </a:r>
            <a:endParaRPr lang="en-US" sz="1200">
              <a:latin typeface="Century Gothic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1874808" y="3503635"/>
            <a:ext cx="1785950" cy="428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LegalValue</a:t>
            </a: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4941075" y="1233853"/>
            <a:ext cx="2500330" cy="85264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Manifestation</a:t>
            </a:r>
            <a:endParaRPr/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30" name="Connecteur droit 29"/>
          <p:cNvCxnSpPr>
            <a:cxnSpLocks/>
          </p:cNvCxnSpPr>
          <p:nvPr/>
        </p:nvCxnSpPr>
        <p:spPr bwMode="auto">
          <a:xfrm>
            <a:off x="4941075" y="1650800"/>
            <a:ext cx="2500330" cy="1587"/>
          </a:xfrm>
          <a:prstGeom prst="lin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Rectangle 30"/>
          <p:cNvSpPr/>
          <p:nvPr/>
        </p:nvSpPr>
        <p:spPr bwMode="auto">
          <a:xfrm>
            <a:off x="1900763" y="2240177"/>
            <a:ext cx="1785950" cy="4286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owl:Thing</a:t>
            </a:r>
            <a:endParaRPr lang="fr-FR" sz="14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32" name="Forme 69"/>
          <p:cNvCxnSpPr>
            <a:cxnSpLocks/>
            <a:stCxn id="28" idx="1"/>
            <a:endCxn id="31" idx="3"/>
          </p:cNvCxnSpPr>
          <p:nvPr/>
        </p:nvCxnSpPr>
        <p:spPr bwMode="auto">
          <a:xfrm rot="10800000" flipV="1">
            <a:off x="3686713" y="1660175"/>
            <a:ext cx="1254362" cy="79431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/>
          <p:cNvSpPr txBox="1"/>
          <p:nvPr/>
        </p:nvSpPr>
        <p:spPr bwMode="auto">
          <a:xfrm>
            <a:off x="3745306" y="2097935"/>
            <a:ext cx="1428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media_type</a:t>
            </a:r>
            <a:endParaRPr lang="en-US" sz="1200">
              <a:latin typeface="Century Gothic"/>
            </a:endParaRPr>
          </a:p>
        </p:txBody>
      </p:sp>
      <p:sp>
        <p:nvSpPr>
          <p:cNvPr id="33" name="Google Shape;168;p26"/>
          <p:cNvSpPr/>
          <p:nvPr/>
        </p:nvSpPr>
        <p:spPr bwMode="auto">
          <a:xfrm rot="16199998">
            <a:off x="2629284" y="1154265"/>
            <a:ext cx="276999" cy="250542"/>
          </a:xfrm>
          <a:prstGeom prst="rightArrow">
            <a:avLst>
              <a:gd name="adj1" fmla="val 50000"/>
              <a:gd name="adj2" fmla="val 81088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363750601" name="Google Shape;168;p26"/>
          <p:cNvSpPr/>
          <p:nvPr/>
        </p:nvSpPr>
        <p:spPr bwMode="auto">
          <a:xfrm rot="16199969" flipH="0" flipV="0">
            <a:off x="5999138" y="2165244"/>
            <a:ext cx="408035" cy="250542"/>
          </a:xfrm>
          <a:prstGeom prst="rightArrow">
            <a:avLst>
              <a:gd name="adj1" fmla="val 50000"/>
              <a:gd name="adj2" fmla="val 81088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2" name="ZoneTexte 21"/>
          <p:cNvSpPr txBox="1"/>
          <p:nvPr/>
        </p:nvSpPr>
        <p:spPr bwMode="auto">
          <a:xfrm>
            <a:off x="3694260" y="3365618"/>
            <a:ext cx="114297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200">
                <a:latin typeface="Century Gothic"/>
              </a:rPr>
              <a:t>legal_value</a:t>
            </a:r>
            <a:endParaRPr lang="en-US" sz="1200">
              <a:latin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5735960" y="2334350"/>
            <a:ext cx="2500330" cy="497216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WorkSubdivision</a:t>
            </a: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9" name="ZoneTexte 8"/>
          <p:cNvSpPr txBox="1"/>
          <p:nvPr/>
        </p:nvSpPr>
        <p:spPr bwMode="auto">
          <a:xfrm>
            <a:off x="8810643" y="6488691"/>
            <a:ext cx="1858075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b="1">
                <a:solidFill>
                  <a:srgbClr val="FF0000"/>
                </a:solidFill>
                <a:latin typeface="Century Gothic"/>
              </a:rPr>
              <a:t>V1.5</a:t>
            </a:r>
            <a:endParaRPr lang="en-US" b="1">
              <a:solidFill>
                <a:srgbClr val="FF0000"/>
              </a:solidFill>
              <a:latin typeface="Century Gothic"/>
            </a:endParaRPr>
          </a:p>
        </p:txBody>
      </p:sp>
      <p:sp>
        <p:nvSpPr>
          <p:cNvPr id="10" name="ZoneTexte 9"/>
          <p:cNvSpPr txBox="1"/>
          <p:nvPr/>
        </p:nvSpPr>
        <p:spPr bwMode="auto">
          <a:xfrm>
            <a:off x="1524000" y="6488668"/>
            <a:ext cx="5072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/>
              <a:t>ELI : subdivisions</a:t>
            </a:r>
            <a:endParaRPr lang="en-US"/>
          </a:p>
        </p:txBody>
      </p:sp>
      <p:sp>
        <p:nvSpPr>
          <p:cNvPr id="41" name="Rectangle 40"/>
          <p:cNvSpPr/>
          <p:nvPr/>
        </p:nvSpPr>
        <p:spPr bwMode="auto">
          <a:xfrm>
            <a:off x="4367014" y="4810096"/>
            <a:ext cx="2500330" cy="41910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LegalResourceSubdivision</a:t>
            </a:r>
            <a:endParaRPr lang="fr-FR" sz="14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8251461" y="3424650"/>
            <a:ext cx="1714512" cy="4972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SubdivisionType</a:t>
            </a: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cxnSp>
        <p:nvCxnSpPr>
          <p:cNvPr id="52" name="Forme 69"/>
          <p:cNvCxnSpPr>
            <a:cxnSpLocks/>
            <a:stCxn id="2" idx="3"/>
            <a:endCxn id="50" idx="0"/>
          </p:cNvCxnSpPr>
          <p:nvPr/>
        </p:nvCxnSpPr>
        <p:spPr bwMode="auto">
          <a:xfrm>
            <a:off x="8236291" y="2582958"/>
            <a:ext cx="872427" cy="841692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oogle Shape;168;p26"/>
          <p:cNvSpPr/>
          <p:nvPr/>
        </p:nvSpPr>
        <p:spPr bwMode="auto">
          <a:xfrm rot="16199998">
            <a:off x="5304844" y="3695560"/>
            <a:ext cx="1901725" cy="250542"/>
          </a:xfrm>
          <a:prstGeom prst="rightArrow">
            <a:avLst>
              <a:gd name="adj1" fmla="val 50000"/>
              <a:gd name="adj2" fmla="val 81088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3071664" y="2334350"/>
            <a:ext cx="2500330" cy="497216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LegalResource</a:t>
            </a:r>
            <a:endParaRPr lang="fr-FR" sz="1600">
              <a:solidFill>
                <a:schemeClr val="tx1"/>
              </a:solidFill>
              <a:latin typeface="Century Gothic"/>
            </a:endParaRPr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4367014" y="1180148"/>
            <a:ext cx="2500330" cy="497216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Work</a:t>
            </a:r>
            <a:endParaRPr/>
          </a:p>
          <a:p>
            <a:pPr algn="ctr">
              <a:defRPr/>
            </a:pP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49" name="ZoneTexte 48"/>
          <p:cNvSpPr txBox="1"/>
          <p:nvPr/>
        </p:nvSpPr>
        <p:spPr bwMode="auto">
          <a:xfrm>
            <a:off x="8450604" y="2777339"/>
            <a:ext cx="138981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>
                <a:latin typeface="Century Gothic"/>
              </a:rPr>
              <a:t>type_subdivision</a:t>
            </a:r>
            <a:endParaRPr lang="fr-FR" sz="1200">
              <a:latin typeface="Century Gothic"/>
            </a:endParaRPr>
          </a:p>
        </p:txBody>
      </p:sp>
      <p:sp>
        <p:nvSpPr>
          <p:cNvPr id="19" name="Google Shape;168;p26"/>
          <p:cNvSpPr/>
          <p:nvPr/>
        </p:nvSpPr>
        <p:spPr bwMode="auto">
          <a:xfrm rot="16199998">
            <a:off x="3929409" y="3671306"/>
            <a:ext cx="1901725" cy="250542"/>
          </a:xfrm>
          <a:prstGeom prst="rightArrow">
            <a:avLst>
              <a:gd name="adj1" fmla="val 50000"/>
              <a:gd name="adj2" fmla="val 81088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" name="Google Shape;168;p26"/>
          <p:cNvSpPr/>
          <p:nvPr/>
        </p:nvSpPr>
        <p:spPr bwMode="auto">
          <a:xfrm rot="16199998">
            <a:off x="4573814" y="1858551"/>
            <a:ext cx="612917" cy="250542"/>
          </a:xfrm>
          <a:prstGeom prst="rightArrow">
            <a:avLst>
              <a:gd name="adj1" fmla="val 50000"/>
              <a:gd name="adj2" fmla="val 81088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1" name="Google Shape;168;p26"/>
          <p:cNvSpPr/>
          <p:nvPr/>
        </p:nvSpPr>
        <p:spPr bwMode="auto">
          <a:xfrm rot="16199998">
            <a:off x="5929569" y="1871291"/>
            <a:ext cx="612917" cy="250542"/>
          </a:xfrm>
          <a:prstGeom prst="rightArrow">
            <a:avLst>
              <a:gd name="adj1" fmla="val 50000"/>
              <a:gd name="adj2" fmla="val 81088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ZoneTexte 8"/>
          <p:cNvSpPr txBox="1"/>
          <p:nvPr/>
        </p:nvSpPr>
        <p:spPr bwMode="auto">
          <a:xfrm>
            <a:off x="8810643" y="6488691"/>
            <a:ext cx="1858075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b="1">
                <a:solidFill>
                  <a:srgbClr val="FF0000"/>
                </a:solidFill>
                <a:latin typeface="Century Gothic"/>
              </a:rPr>
              <a:t>V1.5</a:t>
            </a:r>
            <a:endParaRPr lang="en-US" b="1">
              <a:solidFill>
                <a:srgbClr val="FF0000"/>
              </a:solidFill>
              <a:latin typeface="Century Gothic"/>
            </a:endParaRPr>
          </a:p>
        </p:txBody>
      </p:sp>
      <p:sp>
        <p:nvSpPr>
          <p:cNvPr id="10" name="ZoneTexte 9"/>
          <p:cNvSpPr txBox="1"/>
          <p:nvPr/>
        </p:nvSpPr>
        <p:spPr bwMode="auto">
          <a:xfrm>
            <a:off x="1524000" y="6488668"/>
            <a:ext cx="5072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/>
              <a:t>ELI : agents</a:t>
            </a:r>
            <a:endParaRPr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5152843" y="1716449"/>
            <a:ext cx="1728000" cy="428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Agent</a:t>
            </a: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3733766" y="3257454"/>
            <a:ext cx="1728000" cy="428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600">
                <a:solidFill>
                  <a:schemeClr val="tx1"/>
                </a:solidFill>
                <a:latin typeface="Century Gothic"/>
              </a:rPr>
              <a:t>Person</a:t>
            </a:r>
            <a:endParaRPr/>
          </a:p>
        </p:txBody>
      </p:sp>
      <p:sp>
        <p:nvSpPr>
          <p:cNvPr id="13" name="Rectangle 12"/>
          <p:cNvSpPr/>
          <p:nvPr/>
        </p:nvSpPr>
        <p:spPr bwMode="auto">
          <a:xfrm>
            <a:off x="6462921" y="3257454"/>
            <a:ext cx="1728000" cy="428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defRPr/>
            </a:pPr>
            <a:r>
              <a:rPr lang="fr-FR" sz="1400">
                <a:solidFill>
                  <a:schemeClr val="tx1"/>
                </a:solidFill>
                <a:latin typeface="Century Gothic"/>
              </a:rPr>
              <a:t>Organization</a:t>
            </a:r>
            <a:endParaRPr lang="fr-FR" sz="16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2077667751" name="Google Shape;168;p26"/>
          <p:cNvSpPr/>
          <p:nvPr/>
        </p:nvSpPr>
        <p:spPr bwMode="auto">
          <a:xfrm rot="16199969" flipH="0" flipV="0">
            <a:off x="4911986" y="2556451"/>
            <a:ext cx="828728" cy="250542"/>
          </a:xfrm>
          <a:prstGeom prst="rightArrow">
            <a:avLst>
              <a:gd name="adj1" fmla="val 50000"/>
              <a:gd name="adj2" fmla="val 81088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47730164" name="Google Shape;168;p26"/>
          <p:cNvSpPr/>
          <p:nvPr/>
        </p:nvSpPr>
        <p:spPr bwMode="auto">
          <a:xfrm rot="16199969" flipH="0" flipV="0">
            <a:off x="6252985" y="2556452"/>
            <a:ext cx="828727" cy="250542"/>
          </a:xfrm>
          <a:prstGeom prst="rightArrow">
            <a:avLst>
              <a:gd name="adj1" fmla="val 50000"/>
              <a:gd name="adj2" fmla="val 81088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>
              <a:buClr>
                <a:srgbClr val="000000"/>
              </a:buClr>
              <a:defRPr/>
            </a:pPr>
            <a:endParaRPr sz="140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/>
          <p:cNvGraphicFramePr>
            <a:graphicFrameLocks xmlns:a="http://schemas.openxmlformats.org/drawingml/2006/main" noGrp="1"/>
          </p:cNvGraphicFramePr>
          <p:nvPr/>
        </p:nvGraphicFramePr>
        <p:xfrm>
          <a:off x="1595422" y="44624"/>
          <a:ext cx="9001156" cy="63017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196338"/>
                <a:gridCol w="1728192"/>
                <a:gridCol w="2160240"/>
                <a:gridCol w="2916386"/>
              </a:tblGrid>
              <a:tr h="50405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600"/>
                        <a:t>Property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600"/>
                        <a:t>Range (class)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600"/>
                        <a:t>Corresponding</a:t>
                      </a:r>
                      <a:r>
                        <a:rPr lang="fr-FR" sz="1600"/>
                        <a:t> ELI </a:t>
                      </a:r>
                      <a:r>
                        <a:rPr lang="fr-FR" sz="1600"/>
                        <a:t>scheme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600"/>
                        <a:t>Existing</a:t>
                      </a:r>
                      <a:r>
                        <a:rPr lang="fr-FR" sz="1600"/>
                        <a:t> OPEU </a:t>
                      </a:r>
                      <a:r>
                        <a:rPr lang="fr-FR" sz="1600"/>
                        <a:t>table ?</a:t>
                      </a:r>
                      <a:endParaRPr lang="en-US" sz="160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1"/>
                        <a:t>work_type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200"/>
                        <a:t>eli:WorkType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200"/>
                        <a:t>eli:WorkTypeTable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050"/>
                        <a:t>-</a:t>
                      </a:r>
                      <a:endParaRPr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1"/>
                        <a:t>type_document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eli:ResourceType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eli:ResourceTypeTable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50"/>
                        <a:t>-</a:t>
                      </a:r>
                      <a:endParaRPr lang="en-US" sz="105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1"/>
                        <a:t>type_subdivision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200"/>
                        <a:t>eli:SubdivisionType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/>
                        <a:t>eli:SubdivisionTypeTable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50"/>
                        <a:t>-</a:t>
                      </a:r>
                      <a:endParaRPr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400" b="1"/>
                        <a:t>relevant_for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eli:AdministrativeArea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/>
                        <a:t>Eli:AdministrativeAreaTable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50"/>
                        <a:t>Administrative Territorial Units </a:t>
                      </a:r>
                      <a:r>
                        <a:rPr lang="fr-FR" sz="1050"/>
                        <a:t>(+ local extensions)</a:t>
                      </a:r>
                      <a:endParaRPr lang="en-US" sz="105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400" b="1"/>
                        <a:t>jurisdiction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eli:AdministrativeArea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/>
                        <a:t>Eli:AdministrativeAreaTable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50"/>
                        <a:t>Administrative Territorial Units </a:t>
                      </a:r>
                      <a:r>
                        <a:rPr lang="fr-FR" sz="1050"/>
                        <a:t>(+ local extensions)</a:t>
                      </a:r>
                      <a:endParaRPr lang="en-US" sz="105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400" b="1"/>
                        <a:t>passed_by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/>
                        <a:t>eli:Agent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n/a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50"/>
                        <a:t>-</a:t>
                      </a:r>
                      <a:endParaRPr lang="en-US" sz="105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1"/>
                        <a:t>countersigned_by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/>
                        <a:t>eli:Agent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/>
                        <a:t>n/a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050"/>
                        <a:t>-</a:t>
                      </a:r>
                      <a:endParaRPr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400" b="1"/>
                        <a:t>responsibility_of_agent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/>
                        <a:t>eli:Agent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n/a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50"/>
                        <a:t>-</a:t>
                      </a:r>
                      <a:endParaRPr lang="en-US" sz="105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400" b="1"/>
                        <a:t>publisher_agent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/>
                        <a:t>eli:Agent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n/a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50"/>
                        <a:t>-</a:t>
                      </a:r>
                      <a:endParaRPr lang="en-US" sz="105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400" b="1"/>
                        <a:t>rightsholder_agent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/>
                        <a:t>eli:Agent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n/a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50"/>
                        <a:t>-</a:t>
                      </a:r>
                      <a:endParaRPr lang="en-US" sz="105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400" b="1"/>
                        <a:t>is_about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skos:Concept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 i="0"/>
                        <a:t>n/a</a:t>
                      </a:r>
                      <a:endParaRPr lang="en-US" sz="1200" i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50" i="0"/>
                        <a:t>Eurovoc</a:t>
                      </a:r>
                      <a:r>
                        <a:rPr lang="fr-FR" sz="1050" i="0"/>
                        <a:t> + values</a:t>
                      </a:r>
                      <a:r>
                        <a:rPr lang="fr-FR" sz="1050" i="0"/>
                        <a:t> to </a:t>
                      </a:r>
                      <a:r>
                        <a:rPr lang="fr-FR" sz="1050" i="0"/>
                        <a:t>be</a:t>
                      </a:r>
                      <a:r>
                        <a:rPr lang="fr-FR" sz="1050" i="0"/>
                        <a:t> </a:t>
                      </a:r>
                      <a:r>
                        <a:rPr lang="fr-FR" sz="1050" i="0"/>
                        <a:t>locally</a:t>
                      </a:r>
                      <a:r>
                        <a:rPr lang="fr-FR" sz="1050" i="0"/>
                        <a:t> </a:t>
                      </a:r>
                      <a:r>
                        <a:rPr lang="fr-FR" sz="1050" i="0"/>
                        <a:t>defined</a:t>
                      </a:r>
                      <a:endParaRPr lang="en-US" sz="1050" i="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400" b="1"/>
                        <a:t>in_force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eli:InForce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eli:InForceTable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50"/>
                        <a:t>ELI </a:t>
                      </a:r>
                      <a:r>
                        <a:rPr lang="fr-FR" sz="1050"/>
                        <a:t>includes</a:t>
                      </a:r>
                      <a:r>
                        <a:rPr lang="fr-FR" sz="1050"/>
                        <a:t> a value set (in force, not in force, </a:t>
                      </a:r>
                      <a:r>
                        <a:rPr lang="fr-FR" sz="1050"/>
                        <a:t>partially</a:t>
                      </a:r>
                      <a:r>
                        <a:rPr lang="fr-FR" sz="1050"/>
                        <a:t> in force).</a:t>
                      </a:r>
                      <a:r>
                        <a:rPr lang="fr-FR" sz="1050"/>
                        <a:t> No local extensions </a:t>
                      </a:r>
                      <a:r>
                        <a:rPr lang="fr-FR" sz="1050"/>
                        <a:t>needed</a:t>
                      </a:r>
                      <a:r>
                        <a:rPr lang="fr-FR" sz="1050"/>
                        <a:t>.</a:t>
                      </a:r>
                      <a:endParaRPr lang="en-US" sz="105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400" b="1"/>
                        <a:t>language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eli:Language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No ELI </a:t>
                      </a:r>
                      <a:r>
                        <a:rPr lang="fr-FR" sz="1200"/>
                        <a:t>scheme</a:t>
                      </a:r>
                      <a:r>
                        <a:rPr lang="fr-FR" sz="1200"/>
                        <a:t> : </a:t>
                      </a:r>
                      <a:r>
                        <a:rPr lang="fr-FR" sz="1200"/>
                        <a:t>referring</a:t>
                      </a:r>
                      <a:r>
                        <a:rPr lang="fr-FR" sz="1200"/>
                        <a:t> to OPEU </a:t>
                      </a:r>
                      <a:r>
                        <a:rPr lang="fr-FR" sz="1200"/>
                        <a:t>language</a:t>
                      </a:r>
                      <a:r>
                        <a:rPr lang="fr-FR" sz="1200"/>
                        <a:t> </a:t>
                      </a:r>
                      <a:r>
                        <a:rPr lang="fr-FR" sz="1200"/>
                        <a:t>scheme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50"/>
                        <a:t>language</a:t>
                      </a:r>
                      <a:r>
                        <a:rPr lang="fr-FR" sz="1050"/>
                        <a:t> (no local extensions</a:t>
                      </a:r>
                      <a:r>
                        <a:rPr lang="fr-FR" sz="1050"/>
                        <a:t> </a:t>
                      </a:r>
                      <a:r>
                        <a:rPr lang="fr-FR" sz="1050"/>
                        <a:t>needed</a:t>
                      </a:r>
                      <a:r>
                        <a:rPr lang="fr-FR" sz="1050"/>
                        <a:t>)</a:t>
                      </a:r>
                      <a:endParaRPr lang="en-US" sz="105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400" b="1"/>
                        <a:t>version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eli:Version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eli:VersionTable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50"/>
                        <a:t>None</a:t>
                      </a:r>
                      <a:endParaRPr lang="en-US" sz="105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1"/>
                        <a:t>format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200"/>
                        <a:t>eli:FormatType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200"/>
                        <a:t>Eli:FormatTypeTable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050"/>
                        <a:t>ELI includes a value set. Local extensions are possible</a:t>
                      </a:r>
                      <a:endParaRPr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400" b="1"/>
                        <a:t>legal_value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eli:LegalValue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eli:LegalValueTable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50"/>
                        <a:t>ELI </a:t>
                      </a:r>
                      <a:r>
                        <a:rPr lang="fr-FR" sz="1050"/>
                        <a:t>includes</a:t>
                      </a:r>
                      <a:r>
                        <a:rPr lang="fr-FR" sz="1050"/>
                        <a:t> a value set (</a:t>
                      </a:r>
                      <a:r>
                        <a:rPr lang="fr-FR" sz="1050"/>
                        <a:t>unofficial</a:t>
                      </a:r>
                      <a:r>
                        <a:rPr lang="fr-FR" sz="1050"/>
                        <a:t>, official &gt;</a:t>
                      </a:r>
                      <a:r>
                        <a:rPr lang="fr-FR" sz="1050"/>
                        <a:t> </a:t>
                      </a:r>
                      <a:r>
                        <a:rPr lang="fr-FR" sz="1050"/>
                        <a:t>authoritative</a:t>
                      </a:r>
                      <a:r>
                        <a:rPr lang="fr-FR" sz="1050"/>
                        <a:t> &gt; </a:t>
                      </a:r>
                      <a:r>
                        <a:rPr lang="fr-FR" sz="1050"/>
                        <a:t>definitive</a:t>
                      </a:r>
                      <a:r>
                        <a:rPr lang="fr-FR" sz="1050"/>
                        <a:t>). No local extensions </a:t>
                      </a:r>
                      <a:r>
                        <a:rPr lang="fr-FR" sz="1050"/>
                        <a:t>needed</a:t>
                      </a:r>
                      <a:r>
                        <a:rPr lang="fr-FR" sz="1050"/>
                        <a:t>.</a:t>
                      </a:r>
                      <a:endParaRPr lang="en-US" sz="105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ZoneTexte 5"/>
          <p:cNvSpPr txBox="1"/>
          <p:nvPr/>
        </p:nvSpPr>
        <p:spPr bwMode="auto">
          <a:xfrm>
            <a:off x="8810643" y="6488691"/>
            <a:ext cx="1858075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b="1">
                <a:solidFill>
                  <a:srgbClr val="FF0000"/>
                </a:solidFill>
                <a:latin typeface="Century Gothic"/>
              </a:rPr>
              <a:t>V1.5</a:t>
            </a:r>
            <a:endParaRPr lang="en-US" b="1">
              <a:solidFill>
                <a:srgbClr val="FF0000"/>
              </a:solidFill>
              <a:latin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ONLYOFFICE/7.4.1.36</Application>
  <DocSecurity>0</DocSecurity>
  <PresentationFormat>Grand écran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>Sparna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subject/>
  <dc:creator>Thomas Francart</dc:creator>
  <cp:keywords/>
  <dc:description/>
  <dc:identifier/>
  <dc:language/>
  <cp:lastModifiedBy/>
  <cp:revision>1431</cp:revision>
  <dcterms:created xsi:type="dcterms:W3CDTF">2014-02-21T13:26:27Z</dcterms:created>
  <dcterms:modified xsi:type="dcterms:W3CDTF">2023-09-15T10:54:06Z</dcterms:modified>
  <cp:category/>
  <cp:contentStatus/>
  <cp:version/>
</cp:coreProperties>
</file>